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y="6858000" cx="12192000"/>
  <p:notesSz cx="6858000" cy="9144000"/>
  <p:embeddedFontLst>
    <p:embeddedFont>
      <p:font typeface="Noto Sans Symbols"/>
      <p:regular r:id="rId59"/>
      <p:bold r:id="rId60"/>
    </p:embeddedFont>
    <p:embeddedFont>
      <p:font typeface="Century Gothic"/>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igoSdD/djC6HNaWoH2MsNv0WHC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8F50DE-9F34-42CF-AE87-9CA27A57FAC5}">
  <a:tblStyle styleId="{238F50DE-9F34-42CF-AE87-9CA27A57FAC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enturyGothic-bold.fntdata"/><Relationship Id="rId61" Type="http://schemas.openxmlformats.org/officeDocument/2006/relationships/font" Target="fonts/CenturyGothic-regular.fntdata"/><Relationship Id="rId20" Type="http://schemas.openxmlformats.org/officeDocument/2006/relationships/slide" Target="slides/slide14.xml"/><Relationship Id="rId64" Type="http://schemas.openxmlformats.org/officeDocument/2006/relationships/font" Target="fonts/CenturyGothic-boldItalic.fntdata"/><Relationship Id="rId63" Type="http://schemas.openxmlformats.org/officeDocument/2006/relationships/font" Target="fonts/CenturyGothic-italic.fntdata"/><Relationship Id="rId22" Type="http://schemas.openxmlformats.org/officeDocument/2006/relationships/slide" Target="slides/slide16.xml"/><Relationship Id="rId21" Type="http://schemas.openxmlformats.org/officeDocument/2006/relationships/slide" Target="slides/slide15.xml"/><Relationship Id="rId65"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NotoSansSymbols-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NotoSansSymbols-regular.fntdata"/><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fa7491790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2fa7491790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fa7491790d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2fa7491790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a7491790d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a7491790d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2fa7491790d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fa7491790d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fa7491790d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2fa7491790d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fa7491790d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fa7491790d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2fa7491790d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fa7491790d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fa7491790d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2fa7491790d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a7491790d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fa7491790d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fa7491790d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fa7491790d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fa7491790d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2fa7491790d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fa7491790d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fa7491790d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2fa7491790d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fa7491790d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fa7491790d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2fa7491790d_0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fc88d37b9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fc88d37b9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2fc88d37b9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fc88d37b93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fc88d37b93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g2fc88d37b93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fc88d37b93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g2fc88d37b93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B1DDFF"/>
            </a:gs>
            <a:gs pos="100000">
              <a:srgbClr val="CBE8FE"/>
            </a:gs>
          </a:gsLst>
          <a:path path="circle">
            <a:fillToRect b="50%" l="50%" r="50%" t="50%"/>
          </a:path>
          <a:tileRect/>
        </a:gradFill>
      </p:bgPr>
    </p:bg>
    <p:spTree>
      <p:nvGrpSpPr>
        <p:cNvPr id="17" name="Shape 17"/>
        <p:cNvGrpSpPr/>
        <p:nvPr/>
      </p:nvGrpSpPr>
      <p:grpSpPr>
        <a:xfrm>
          <a:off x="0" y="0"/>
          <a:ext cx="0" cy="0"/>
          <a:chOff x="0" y="0"/>
          <a:chExt cx="0" cy="0"/>
        </a:xfrm>
      </p:grpSpPr>
      <p:sp>
        <p:nvSpPr>
          <p:cNvPr id="18" name="Google Shape;18;p43"/>
          <p:cNvSpPr/>
          <p:nvPr/>
        </p:nvSpPr>
        <p:spPr>
          <a:xfrm>
            <a:off x="0" y="0"/>
            <a:ext cx="12192000" cy="6858000"/>
          </a:xfrm>
          <a:prstGeom prst="rect">
            <a:avLst/>
          </a:prstGeom>
          <a:blipFill rotWithShape="1">
            <a:blip r:embed="rId2">
              <a:alphaModFix amt="12000"/>
            </a:blip>
            <a:tile algn="tl" flip="none" tx="-368300" sx="64000" ty="203200" sy="64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entury Gothic"/>
                <a:ea typeface="Century Gothic"/>
                <a:cs typeface="Century Gothic"/>
                <a:sym typeface="Century Gothic"/>
              </a:rPr>
              <a:t>C</a:t>
            </a:r>
            <a:endParaRPr/>
          </a:p>
        </p:txBody>
      </p:sp>
      <p:sp>
        <p:nvSpPr>
          <p:cNvPr id="19" name="Google Shape;19;p43"/>
          <p:cNvSpPr/>
          <p:nvPr/>
        </p:nvSpPr>
        <p:spPr>
          <a:xfrm>
            <a:off x="1307870" y="1267730"/>
            <a:ext cx="9576262" cy="4307950"/>
          </a:xfrm>
          <a:prstGeom prst="rect">
            <a:avLst/>
          </a:prstGeom>
          <a:solidFill>
            <a:schemeClr val="dk2"/>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3"/>
          <p:cNvSpPr/>
          <p:nvPr/>
        </p:nvSpPr>
        <p:spPr>
          <a:xfrm>
            <a:off x="1447801" y="1411615"/>
            <a:ext cx="9296400" cy="4034770"/>
          </a:xfrm>
          <a:prstGeom prst="rect">
            <a:avLst/>
          </a:prstGeom>
          <a:noFill/>
          <a:ln cap="sq" cmpd="sng" w="9525">
            <a:solidFill>
              <a:schemeClr val="l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3"/>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 name="Google Shape;22;p43"/>
          <p:cNvGrpSpPr/>
          <p:nvPr/>
        </p:nvGrpSpPr>
        <p:grpSpPr>
          <a:xfrm>
            <a:off x="5250180" y="1267730"/>
            <a:ext cx="1691640" cy="645295"/>
            <a:chOff x="5318306" y="1386268"/>
            <a:chExt cx="1567331" cy="645295"/>
          </a:xfrm>
        </p:grpSpPr>
        <p:cxnSp>
          <p:nvCxnSpPr>
            <p:cNvPr id="23" name="Google Shape;23;p43"/>
            <p:cNvCxnSpPr/>
            <p:nvPr/>
          </p:nvCxnSpPr>
          <p:spPr>
            <a:xfrm>
              <a:off x="5318306" y="1386268"/>
              <a:ext cx="0" cy="640080"/>
            </a:xfrm>
            <a:prstGeom prst="straightConnector1">
              <a:avLst/>
            </a:prstGeom>
            <a:solidFill>
              <a:srgbClr val="262626"/>
            </a:solidFill>
            <a:ln cap="flat" cmpd="sng" w="9525">
              <a:solidFill>
                <a:srgbClr val="D3E9F3"/>
              </a:solidFill>
              <a:prstDash val="solid"/>
              <a:miter lim="800000"/>
              <a:headEnd len="sm" w="sm" type="none"/>
              <a:tailEnd len="sm" w="sm" type="none"/>
            </a:ln>
          </p:spPr>
        </p:cxnSp>
        <p:cxnSp>
          <p:nvCxnSpPr>
            <p:cNvPr id="24" name="Google Shape;24;p43"/>
            <p:cNvCxnSpPr/>
            <p:nvPr/>
          </p:nvCxnSpPr>
          <p:spPr>
            <a:xfrm>
              <a:off x="6885637" y="1386268"/>
              <a:ext cx="0" cy="640080"/>
            </a:xfrm>
            <a:prstGeom prst="straightConnector1">
              <a:avLst/>
            </a:prstGeom>
            <a:solidFill>
              <a:srgbClr val="262626"/>
            </a:solidFill>
            <a:ln cap="flat" cmpd="sng" w="9525">
              <a:solidFill>
                <a:srgbClr val="D3E9F3"/>
              </a:solidFill>
              <a:prstDash val="solid"/>
              <a:miter lim="800000"/>
              <a:headEnd len="sm" w="sm" type="none"/>
              <a:tailEnd len="sm" w="sm" type="none"/>
            </a:ln>
          </p:spPr>
        </p:cxnSp>
        <p:cxnSp>
          <p:nvCxnSpPr>
            <p:cNvPr id="25" name="Google Shape;25;p43"/>
            <p:cNvCxnSpPr/>
            <p:nvPr/>
          </p:nvCxnSpPr>
          <p:spPr>
            <a:xfrm>
              <a:off x="5318306" y="2031563"/>
              <a:ext cx="1567331" cy="0"/>
            </a:xfrm>
            <a:prstGeom prst="straightConnector1">
              <a:avLst/>
            </a:prstGeom>
            <a:solidFill>
              <a:srgbClr val="262626"/>
            </a:solidFill>
            <a:ln cap="flat" cmpd="sng" w="9525">
              <a:solidFill>
                <a:srgbClr val="D3E9F3"/>
              </a:solidFill>
              <a:prstDash val="solid"/>
              <a:miter lim="800000"/>
              <a:headEnd len="sm" w="sm" type="none"/>
              <a:tailEnd len="sm" w="sm" type="none"/>
            </a:ln>
          </p:spPr>
        </p:cxnSp>
      </p:grpSp>
      <p:sp>
        <p:nvSpPr>
          <p:cNvPr id="26" name="Google Shape;26;p43"/>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chemeClr val="lt1"/>
              </a:buClr>
              <a:buSzPts val="7200"/>
              <a:buFont typeface="Century Gothic"/>
              <a:buNone/>
              <a:defRPr b="0" sz="7200" cap="none">
                <a:solidFill>
                  <a:schemeClr val="lt1"/>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3"/>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600"/>
              <a:buNone/>
              <a:defRPr sz="1600">
                <a:solidFill>
                  <a:schemeClr val="lt2"/>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8" name="Google Shape;28;p43"/>
          <p:cNvSpPr txBox="1"/>
          <p:nvPr>
            <p:ph idx="10" type="dt"/>
          </p:nvPr>
        </p:nvSpPr>
        <p:spPr>
          <a:xfrm>
            <a:off x="5318760" y="1341255"/>
            <a:ext cx="1554480" cy="52721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3"/>
          <p:cNvSpPr txBox="1"/>
          <p:nvPr>
            <p:ph idx="11" type="ftr"/>
          </p:nvPr>
        </p:nvSpPr>
        <p:spPr>
          <a:xfrm>
            <a:off x="1453896" y="5212080"/>
            <a:ext cx="5905500"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3"/>
          <p:cNvSpPr txBox="1"/>
          <p:nvPr>
            <p:ph idx="12" type="sldNum"/>
          </p:nvPr>
        </p:nvSpPr>
        <p:spPr>
          <a:xfrm>
            <a:off x="8606919" y="5212080"/>
            <a:ext cx="2111881"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00" u="none" cap="none" strike="noStrike">
                <a:solidFill>
                  <a:schemeClr val="lt2"/>
                </a:solidFill>
                <a:latin typeface="Century Gothic"/>
                <a:ea typeface="Century Gothic"/>
                <a:cs typeface="Century Gothic"/>
                <a:sym typeface="Century Gothic"/>
              </a:defRPr>
            </a:lvl1pPr>
            <a:lvl2pPr indent="0" lvl="1" marL="0" algn="r">
              <a:spcBef>
                <a:spcPts val="0"/>
              </a:spcBef>
              <a:buNone/>
              <a:defRPr b="0" i="0" sz="1000" u="none" cap="none" strike="noStrike">
                <a:solidFill>
                  <a:schemeClr val="lt2"/>
                </a:solidFill>
                <a:latin typeface="Century Gothic"/>
                <a:ea typeface="Century Gothic"/>
                <a:cs typeface="Century Gothic"/>
                <a:sym typeface="Century Gothic"/>
              </a:defRPr>
            </a:lvl2pPr>
            <a:lvl3pPr indent="0" lvl="2" marL="0" algn="r">
              <a:spcBef>
                <a:spcPts val="0"/>
              </a:spcBef>
              <a:buNone/>
              <a:defRPr b="0" i="0" sz="1000" u="none" cap="none" strike="noStrike">
                <a:solidFill>
                  <a:schemeClr val="lt2"/>
                </a:solidFill>
                <a:latin typeface="Century Gothic"/>
                <a:ea typeface="Century Gothic"/>
                <a:cs typeface="Century Gothic"/>
                <a:sym typeface="Century Gothic"/>
              </a:defRPr>
            </a:lvl3pPr>
            <a:lvl4pPr indent="0" lvl="3" marL="0" algn="r">
              <a:spcBef>
                <a:spcPts val="0"/>
              </a:spcBef>
              <a:buNone/>
              <a:defRPr b="0" i="0" sz="1000" u="none" cap="none" strike="noStrike">
                <a:solidFill>
                  <a:schemeClr val="lt2"/>
                </a:solidFill>
                <a:latin typeface="Century Gothic"/>
                <a:ea typeface="Century Gothic"/>
                <a:cs typeface="Century Gothic"/>
                <a:sym typeface="Century Gothic"/>
              </a:defRPr>
            </a:lvl4pPr>
            <a:lvl5pPr indent="0" lvl="4" marL="0" algn="r">
              <a:spcBef>
                <a:spcPts val="0"/>
              </a:spcBef>
              <a:buNone/>
              <a:defRPr b="0" i="0" sz="1000" u="none" cap="none" strike="noStrike">
                <a:solidFill>
                  <a:schemeClr val="lt2"/>
                </a:solidFill>
                <a:latin typeface="Century Gothic"/>
                <a:ea typeface="Century Gothic"/>
                <a:cs typeface="Century Gothic"/>
                <a:sym typeface="Century Gothic"/>
              </a:defRPr>
            </a:lvl5pPr>
            <a:lvl6pPr indent="0" lvl="5" marL="0" algn="r">
              <a:spcBef>
                <a:spcPts val="0"/>
              </a:spcBef>
              <a:buNone/>
              <a:defRPr b="0" i="0" sz="1000" u="none" cap="none" strike="noStrike">
                <a:solidFill>
                  <a:schemeClr val="lt2"/>
                </a:solidFill>
                <a:latin typeface="Century Gothic"/>
                <a:ea typeface="Century Gothic"/>
                <a:cs typeface="Century Gothic"/>
                <a:sym typeface="Century Gothic"/>
              </a:defRPr>
            </a:lvl6pPr>
            <a:lvl7pPr indent="0" lvl="6" marL="0" algn="r">
              <a:spcBef>
                <a:spcPts val="0"/>
              </a:spcBef>
              <a:buNone/>
              <a:defRPr b="0" i="0" sz="1000" u="none" cap="none" strike="noStrike">
                <a:solidFill>
                  <a:schemeClr val="lt2"/>
                </a:solidFill>
                <a:latin typeface="Century Gothic"/>
                <a:ea typeface="Century Gothic"/>
                <a:cs typeface="Century Gothic"/>
                <a:sym typeface="Century Gothic"/>
              </a:defRPr>
            </a:lvl7pPr>
            <a:lvl8pPr indent="0" lvl="7" marL="0" algn="r">
              <a:spcBef>
                <a:spcPts val="0"/>
              </a:spcBef>
              <a:buNone/>
              <a:defRPr b="0" i="0" sz="1000" u="none" cap="none" strike="noStrike">
                <a:solidFill>
                  <a:schemeClr val="lt2"/>
                </a:solidFill>
                <a:latin typeface="Century Gothic"/>
                <a:ea typeface="Century Gothic"/>
                <a:cs typeface="Century Gothic"/>
                <a:sym typeface="Century Gothic"/>
              </a:defRPr>
            </a:lvl8pPr>
            <a:lvl9pPr indent="0" lvl="8" marL="0" algn="r">
              <a:spcBef>
                <a:spcPts val="0"/>
              </a:spcBef>
              <a:buNone/>
              <a:defRPr b="0" i="0" sz="1000" u="none" cap="none" strike="noStrike">
                <a:solidFill>
                  <a:schemeClr val="lt2"/>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
        <p:nvSpPr>
          <p:cNvPr id="38" name="Google Shape;3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7" name="Shape 47"/>
        <p:cNvGrpSpPr/>
        <p:nvPr/>
      </p:nvGrpSpPr>
      <p:grpSpPr>
        <a:xfrm>
          <a:off x="0" y="0"/>
          <a:ext cx="0" cy="0"/>
          <a:chOff x="0" y="0"/>
          <a:chExt cx="0" cy="0"/>
        </a:xfrm>
      </p:grpSpPr>
      <p:sp>
        <p:nvSpPr>
          <p:cNvPr id="48" name="Google Shape;48;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0" name="Google Shape;50;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6" name="Google Shape;56;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9" name="Google Shape;69;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 name="Google Shape;71;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5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3" name="Google Shape;83;p5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4" name="Google Shape;8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53"/>
          <p:cNvSpPr/>
          <p:nvPr>
            <p:ph idx="2" type="pic"/>
          </p:nvPr>
        </p:nvSpPr>
        <p:spPr>
          <a:xfrm>
            <a:off x="5183188" y="987425"/>
            <a:ext cx="6172200" cy="4873625"/>
          </a:xfrm>
          <a:prstGeom prst="rect">
            <a:avLst/>
          </a:prstGeom>
          <a:noFill/>
          <a:ln>
            <a:noFill/>
          </a:ln>
        </p:spPr>
      </p:sp>
      <p:sp>
        <p:nvSpPr>
          <p:cNvPr id="90" name="Google Shape;90;p5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 name="Google Shape;9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 name="Shape 94"/>
        <p:cNvGrpSpPr/>
        <p:nvPr/>
      </p:nvGrpSpPr>
      <p:grpSpPr>
        <a:xfrm>
          <a:off x="0" y="0"/>
          <a:ext cx="0" cy="0"/>
          <a:chOff x="0" y="0"/>
          <a:chExt cx="0" cy="0"/>
        </a:xfrm>
      </p:grpSpPr>
      <p:sp>
        <p:nvSpPr>
          <p:cNvPr id="95" name="Google Shape;95;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0" name="Shape 100"/>
        <p:cNvGrpSpPr/>
        <p:nvPr/>
      </p:nvGrpSpPr>
      <p:grpSpPr>
        <a:xfrm>
          <a:off x="0" y="0"/>
          <a:ext cx="0" cy="0"/>
          <a:chOff x="0" y="0"/>
          <a:chExt cx="0" cy="0"/>
        </a:xfrm>
      </p:grpSpPr>
      <p:sp>
        <p:nvSpPr>
          <p:cNvPr id="101" name="Google Shape;101;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1"/>
          <p:cNvSpPr/>
          <p:nvPr/>
        </p:nvSpPr>
        <p:spPr>
          <a:xfrm>
            <a:off x="234696" y="237744"/>
            <a:ext cx="11722608"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Century Gothic"/>
              <a:buNone/>
              <a:defRPr b="0" i="0" sz="4800" u="none" cap="none" strike="noStrike">
                <a:solidFill>
                  <a:srgbClr val="262626"/>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41"/>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chemeClr val="dk2"/>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100000"/>
              </a:lnSpc>
              <a:spcBef>
                <a:spcPts val="500"/>
              </a:spcBef>
              <a:spcAft>
                <a:spcPts val="0"/>
              </a:spcAft>
              <a:buClr>
                <a:schemeClr val="dk2"/>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17500" lvl="3" marL="18288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4pPr>
            <a:lvl5pPr indent="-317500" lvl="4" marL="22860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5pPr>
            <a:lvl6pPr indent="-317500" lvl="5" marL="27432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3" name="Google Shape;13;p41"/>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41"/>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41"/>
          <p:cNvSpPr txBox="1"/>
          <p:nvPr>
            <p:ph idx="12" type="sldNum"/>
          </p:nvPr>
        </p:nvSpPr>
        <p:spPr>
          <a:xfrm>
            <a:off x="10314667" y="6214535"/>
            <a:ext cx="1463040" cy="256032"/>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Century Gothic"/>
                <a:ea typeface="Century Gothic"/>
                <a:cs typeface="Century Gothic"/>
                <a:sym typeface="Century Gothic"/>
              </a:defRPr>
            </a:lvl1pPr>
            <a:lvl2pPr indent="0" lvl="1" marL="0" marR="0" rtl="0" algn="r">
              <a:spcBef>
                <a:spcPts val="0"/>
              </a:spcBef>
              <a:buNone/>
              <a:defRPr b="0" i="0" sz="1000" u="none" cap="none" strike="noStrike">
                <a:solidFill>
                  <a:srgbClr val="3F3F3F"/>
                </a:solidFill>
                <a:latin typeface="Century Gothic"/>
                <a:ea typeface="Century Gothic"/>
                <a:cs typeface="Century Gothic"/>
                <a:sym typeface="Century Gothic"/>
              </a:defRPr>
            </a:lvl2pPr>
            <a:lvl3pPr indent="0" lvl="2" marL="0" marR="0" rtl="0" algn="r">
              <a:spcBef>
                <a:spcPts val="0"/>
              </a:spcBef>
              <a:buNone/>
              <a:defRPr b="0" i="0" sz="1000" u="none" cap="none" strike="noStrike">
                <a:solidFill>
                  <a:srgbClr val="3F3F3F"/>
                </a:solidFill>
                <a:latin typeface="Century Gothic"/>
                <a:ea typeface="Century Gothic"/>
                <a:cs typeface="Century Gothic"/>
                <a:sym typeface="Century Gothic"/>
              </a:defRPr>
            </a:lvl3pPr>
            <a:lvl4pPr indent="0" lvl="3" marL="0" marR="0" rtl="0" algn="r">
              <a:spcBef>
                <a:spcPts val="0"/>
              </a:spcBef>
              <a:buNone/>
              <a:defRPr b="0" i="0" sz="1000" u="none" cap="none" strike="noStrike">
                <a:solidFill>
                  <a:srgbClr val="3F3F3F"/>
                </a:solidFill>
                <a:latin typeface="Century Gothic"/>
                <a:ea typeface="Century Gothic"/>
                <a:cs typeface="Century Gothic"/>
                <a:sym typeface="Century Gothic"/>
              </a:defRPr>
            </a:lvl4pPr>
            <a:lvl5pPr indent="0" lvl="4" marL="0" marR="0" rtl="0" algn="r">
              <a:spcBef>
                <a:spcPts val="0"/>
              </a:spcBef>
              <a:buNone/>
              <a:defRPr b="0" i="0" sz="1000" u="none" cap="none" strike="noStrike">
                <a:solidFill>
                  <a:srgbClr val="3F3F3F"/>
                </a:solidFill>
                <a:latin typeface="Century Gothic"/>
                <a:ea typeface="Century Gothic"/>
                <a:cs typeface="Century Gothic"/>
                <a:sym typeface="Century Gothic"/>
              </a:defRPr>
            </a:lvl5pPr>
            <a:lvl6pPr indent="0" lvl="5" marL="0" marR="0" rtl="0" algn="r">
              <a:spcBef>
                <a:spcPts val="0"/>
              </a:spcBef>
              <a:buNone/>
              <a:defRPr b="0" i="0" sz="1000" u="none" cap="none" strike="noStrike">
                <a:solidFill>
                  <a:srgbClr val="3F3F3F"/>
                </a:solidFill>
                <a:latin typeface="Century Gothic"/>
                <a:ea typeface="Century Gothic"/>
                <a:cs typeface="Century Gothic"/>
                <a:sym typeface="Century Gothic"/>
              </a:defRPr>
            </a:lvl6pPr>
            <a:lvl7pPr indent="0" lvl="6" marL="0" marR="0" rtl="0" algn="r">
              <a:spcBef>
                <a:spcPts val="0"/>
              </a:spcBef>
              <a:buNone/>
              <a:defRPr b="0" i="0" sz="1000" u="none" cap="none" strike="noStrike">
                <a:solidFill>
                  <a:srgbClr val="3F3F3F"/>
                </a:solidFill>
                <a:latin typeface="Century Gothic"/>
                <a:ea typeface="Century Gothic"/>
                <a:cs typeface="Century Gothic"/>
                <a:sym typeface="Century Gothic"/>
              </a:defRPr>
            </a:lvl7pPr>
            <a:lvl8pPr indent="0" lvl="7" marL="0" marR="0" rtl="0" algn="r">
              <a:spcBef>
                <a:spcPts val="0"/>
              </a:spcBef>
              <a:buNone/>
              <a:defRPr b="0" i="0" sz="1000" u="none" cap="none" strike="noStrike">
                <a:solidFill>
                  <a:srgbClr val="3F3F3F"/>
                </a:solidFill>
                <a:latin typeface="Century Gothic"/>
                <a:ea typeface="Century Gothic"/>
                <a:cs typeface="Century Gothic"/>
                <a:sym typeface="Century Gothic"/>
              </a:defRPr>
            </a:lvl8pPr>
            <a:lvl9pPr indent="0" lvl="8" marL="0" marR="0" rtl="0" algn="r">
              <a:spcBef>
                <a:spcPts val="0"/>
              </a:spcBef>
              <a:buNone/>
              <a:defRPr b="0" i="0" sz="10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41"/>
          <p:cNvSpPr/>
          <p:nvPr/>
        </p:nvSpPr>
        <p:spPr>
          <a:xfrm>
            <a:off x="371856" y="374904"/>
            <a:ext cx="11448288"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 name="Shape 31"/>
        <p:cNvGrpSpPr/>
        <p:nvPr/>
      </p:nvGrpSpPr>
      <p:grpSpPr>
        <a:xfrm>
          <a:off x="0" y="0"/>
          <a:ext cx="0" cy="0"/>
          <a:chOff x="0" y="0"/>
          <a:chExt cx="0" cy="0"/>
        </a:xfrm>
      </p:grpSpPr>
      <p:sp>
        <p:nvSpPr>
          <p:cNvPr id="32" name="Google Shape;3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1.pn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chemeClr val="lt1"/>
              </a:buClr>
              <a:buSzPts val="7200"/>
              <a:buFont typeface="Century Gothic"/>
              <a:buNone/>
            </a:pPr>
            <a:r>
              <a:rPr b="1" lang="en-US"/>
              <a:t>DISTRIBUTED DATABASE</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nvSpPr>
        <p:spPr>
          <a:xfrm>
            <a:off x="467032" y="243512"/>
            <a:ext cx="11081100" cy="66495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33333"/>
              </a:buClr>
              <a:buSzPts val="2400"/>
              <a:buFont typeface="Noto Sans Symbols"/>
              <a:buChar char="❑"/>
            </a:pPr>
            <a:r>
              <a:rPr b="1" i="0" lang="en-US" sz="2400" u="none" cap="none" strike="noStrike">
                <a:solidFill>
                  <a:srgbClr val="333333"/>
                </a:solidFill>
                <a:latin typeface="Arial Rounded"/>
                <a:ea typeface="Arial Rounded"/>
                <a:cs typeface="Arial Rounded"/>
                <a:sym typeface="Arial Rounded"/>
              </a:rPr>
              <a:t>A distributed database is essentially a database that is dispersed across numerous sites, i.e., on various computers or over a network of computers, and is not restricted to a single system. </a:t>
            </a:r>
            <a:endParaRPr/>
          </a:p>
          <a:p>
            <a:pPr indent="-342900" lvl="0" marL="342900" marR="0" rtl="0" algn="l">
              <a:spcBef>
                <a:spcPts val="0"/>
              </a:spcBef>
              <a:spcAft>
                <a:spcPts val="0"/>
              </a:spcAft>
              <a:buClr>
                <a:srgbClr val="333333"/>
              </a:buClr>
              <a:buSzPts val="2400"/>
              <a:buFont typeface="Noto Sans Symbols"/>
              <a:buChar char="❑"/>
            </a:pPr>
            <a:r>
              <a:rPr b="1" i="0" lang="en-US" sz="2400" u="none" cap="none" strike="noStrike">
                <a:solidFill>
                  <a:srgbClr val="333333"/>
                </a:solidFill>
                <a:latin typeface="Arial Rounded"/>
                <a:ea typeface="Arial Rounded"/>
                <a:cs typeface="Arial Rounded"/>
                <a:sym typeface="Arial Rounded"/>
              </a:rPr>
              <a:t>A distributed database system is spread across several locations with distinct physical components.</a:t>
            </a:r>
            <a:endParaRPr/>
          </a:p>
          <a:p>
            <a:pPr indent="0" lvl="0" marL="0" marR="0" rtl="0" algn="l">
              <a:spcBef>
                <a:spcPts val="0"/>
              </a:spcBef>
              <a:spcAft>
                <a:spcPts val="0"/>
              </a:spcAft>
              <a:buClr>
                <a:schemeClr val="dk1"/>
              </a:buClr>
              <a:buSzPts val="2400"/>
              <a:buFont typeface="Noto Sans Symbols"/>
              <a:buNone/>
            </a:pPr>
            <a:r>
              <a:t/>
            </a:r>
            <a:endParaRPr b="1" i="0" sz="2400" u="none" cap="none" strike="noStrike">
              <a:solidFill>
                <a:srgbClr val="333333"/>
              </a:solidFill>
              <a:latin typeface="Arial Rounded"/>
              <a:ea typeface="Arial Rounded"/>
              <a:cs typeface="Arial Rounded"/>
              <a:sym typeface="Arial Rounded"/>
            </a:endParaRPr>
          </a:p>
          <a:p>
            <a:pPr indent="-342900" lvl="0" marL="342900" marR="0" rtl="0" algn="l">
              <a:spcBef>
                <a:spcPts val="0"/>
              </a:spcBef>
              <a:spcAft>
                <a:spcPts val="0"/>
              </a:spcAft>
              <a:buClr>
                <a:srgbClr val="333333"/>
              </a:buClr>
              <a:buSzPts val="2400"/>
              <a:buFont typeface="Noto Sans Symbols"/>
              <a:buChar char="❑"/>
            </a:pPr>
            <a:r>
              <a:rPr b="1" i="0" lang="en-US" sz="2400" u="none" cap="none" strike="noStrike">
                <a:solidFill>
                  <a:srgbClr val="333333"/>
                </a:solidFill>
                <a:latin typeface="Arial Rounded"/>
                <a:ea typeface="Arial Rounded"/>
                <a:cs typeface="Arial Rounded"/>
                <a:sym typeface="Arial Rounded"/>
              </a:rPr>
              <a:t>A distributed database system consists of loosely coupled sites that share  no physical component</a:t>
            </a:r>
            <a:endParaRPr/>
          </a:p>
          <a:p>
            <a:pPr indent="-190500" lvl="0" marL="342900" marR="0" rtl="0" algn="l">
              <a:spcBef>
                <a:spcPts val="0"/>
              </a:spcBef>
              <a:spcAft>
                <a:spcPts val="0"/>
              </a:spcAft>
              <a:buClr>
                <a:schemeClr val="dk1"/>
              </a:buClr>
              <a:buSzPts val="2400"/>
              <a:buFont typeface="Noto Sans Symbols"/>
              <a:buNone/>
            </a:pPr>
            <a:r>
              <a:t/>
            </a:r>
            <a:endParaRPr b="1" i="0" sz="2400" u="none" cap="none" strike="noStrike">
              <a:solidFill>
                <a:srgbClr val="333333"/>
              </a:solidFill>
              <a:latin typeface="Arial Rounded"/>
              <a:ea typeface="Arial Rounded"/>
              <a:cs typeface="Arial Rounded"/>
              <a:sym typeface="Arial Rounded"/>
            </a:endParaRPr>
          </a:p>
          <a:p>
            <a:pPr indent="-342900" lvl="0" marL="342900" marR="0" rtl="0" algn="l">
              <a:spcBef>
                <a:spcPts val="0"/>
              </a:spcBef>
              <a:spcAft>
                <a:spcPts val="0"/>
              </a:spcAft>
              <a:buClr>
                <a:srgbClr val="333333"/>
              </a:buClr>
              <a:buSzPts val="2400"/>
              <a:buFont typeface="Noto Sans Symbols"/>
              <a:buChar char="❑"/>
            </a:pPr>
            <a:r>
              <a:rPr b="1" i="0" lang="en-US" sz="2400" u="none" cap="none" strike="noStrike">
                <a:solidFill>
                  <a:srgbClr val="333333"/>
                </a:solidFill>
                <a:latin typeface="Arial Rounded"/>
                <a:ea typeface="Arial Rounded"/>
                <a:cs typeface="Arial Rounded"/>
                <a:sym typeface="Arial Rounded"/>
              </a:rPr>
              <a:t>Database systems that run on each site are independent of each other</a:t>
            </a:r>
            <a:endParaRPr/>
          </a:p>
          <a:p>
            <a:pPr indent="-190500" lvl="0" marL="342900" marR="0" rtl="0" algn="l">
              <a:spcBef>
                <a:spcPts val="0"/>
              </a:spcBef>
              <a:spcAft>
                <a:spcPts val="0"/>
              </a:spcAft>
              <a:buClr>
                <a:schemeClr val="dk1"/>
              </a:buClr>
              <a:buSzPts val="2400"/>
              <a:buFont typeface="Noto Sans Symbols"/>
              <a:buNone/>
            </a:pPr>
            <a:r>
              <a:t/>
            </a:r>
            <a:endParaRPr b="1" i="0" sz="2400" u="none" cap="none" strike="noStrike">
              <a:solidFill>
                <a:srgbClr val="333333"/>
              </a:solidFill>
              <a:latin typeface="Arial Rounded"/>
              <a:ea typeface="Arial Rounded"/>
              <a:cs typeface="Arial Rounded"/>
              <a:sym typeface="Arial Rounded"/>
            </a:endParaRPr>
          </a:p>
          <a:p>
            <a:pPr indent="-342900" lvl="0" marL="342900" marR="0" rtl="0" algn="l">
              <a:spcBef>
                <a:spcPts val="0"/>
              </a:spcBef>
              <a:spcAft>
                <a:spcPts val="0"/>
              </a:spcAft>
              <a:buClr>
                <a:srgbClr val="333333"/>
              </a:buClr>
              <a:buSzPts val="2400"/>
              <a:buFont typeface="Noto Sans Symbols"/>
              <a:buChar char="❑"/>
            </a:pPr>
            <a:r>
              <a:rPr b="1" i="0" lang="en-US" sz="2400" u="none" cap="none" strike="noStrike">
                <a:solidFill>
                  <a:srgbClr val="333333"/>
                </a:solidFill>
                <a:latin typeface="Arial Rounded"/>
                <a:ea typeface="Arial Rounded"/>
                <a:cs typeface="Arial Rounded"/>
                <a:sym typeface="Arial Rounded"/>
              </a:rPr>
              <a:t>Transactions may access data at one or more sites</a:t>
            </a:r>
            <a:endParaRPr b="1" i="0" sz="2400" u="none" cap="none" strike="noStrike">
              <a:solidFill>
                <a:srgbClr val="333333"/>
              </a:solidFill>
              <a:latin typeface="Arial Rounded"/>
              <a:ea typeface="Arial Rounded"/>
              <a:cs typeface="Arial Rounded"/>
              <a:sym typeface="Arial Rounded"/>
            </a:endParaRPr>
          </a:p>
          <a:p>
            <a:pPr indent="0" lvl="0" marL="457200" marR="0" rtl="0" algn="l">
              <a:spcBef>
                <a:spcPts val="0"/>
              </a:spcBef>
              <a:spcAft>
                <a:spcPts val="0"/>
              </a:spcAft>
              <a:buNone/>
            </a:pPr>
            <a:r>
              <a:t/>
            </a:r>
            <a:endParaRPr b="1" sz="2400">
              <a:solidFill>
                <a:srgbClr val="333333"/>
              </a:solidFill>
              <a:latin typeface="Arial Rounded"/>
              <a:ea typeface="Arial Rounded"/>
              <a:cs typeface="Arial Rounded"/>
              <a:sym typeface="Arial Rounded"/>
            </a:endParaRPr>
          </a:p>
          <a:p>
            <a:pPr indent="-342900" lvl="0" marL="342900" marR="0" rtl="0" algn="l">
              <a:spcBef>
                <a:spcPts val="0"/>
              </a:spcBef>
              <a:spcAft>
                <a:spcPts val="0"/>
              </a:spcAft>
              <a:buClr>
                <a:srgbClr val="FF0000"/>
              </a:buClr>
              <a:buSzPts val="2400"/>
              <a:buFont typeface="Arial Rounded"/>
              <a:buChar char="❑"/>
            </a:pPr>
            <a:r>
              <a:rPr b="1" lang="en-US" sz="2400">
                <a:solidFill>
                  <a:srgbClr val="FF0000"/>
                </a:solidFill>
                <a:latin typeface="Arial Rounded"/>
                <a:ea typeface="Arial Rounded"/>
                <a:cs typeface="Arial Rounded"/>
                <a:sym typeface="Arial Rounded"/>
              </a:rPr>
              <a:t>A database which is distributed over some form of network to bring down the cost or the difficulty in accessing data and to increase the efficiency of the whole system.</a:t>
            </a:r>
            <a:endParaRPr b="1" sz="2400">
              <a:solidFill>
                <a:srgbClr val="FF0000"/>
              </a:solidFill>
              <a:latin typeface="Arial Rounded"/>
              <a:ea typeface="Arial Rounded"/>
              <a:cs typeface="Arial Rounded"/>
              <a:sym typeface="Arial Rounded"/>
            </a:endParaRPr>
          </a:p>
          <a:p>
            <a:pPr indent="-190500" lvl="0" marL="342900" marR="0" rtl="0" algn="l">
              <a:spcBef>
                <a:spcPts val="0"/>
              </a:spcBef>
              <a:spcAft>
                <a:spcPts val="0"/>
              </a:spcAft>
              <a:buClr>
                <a:schemeClr val="dk1"/>
              </a:buClr>
              <a:buSzPts val="2400"/>
              <a:buFont typeface="Noto Sans Symbols"/>
              <a:buNone/>
            </a:pPr>
            <a:r>
              <a:t/>
            </a:r>
            <a:endParaRPr b="1" i="0" sz="2400" u="none" cap="none" strike="noStrike">
              <a:solidFill>
                <a:srgbClr val="333333"/>
              </a:solidFill>
              <a:latin typeface="Arial Rounded"/>
              <a:ea typeface="Arial Rounded"/>
              <a:cs typeface="Arial Rounded"/>
              <a:sym typeface="Arial Rounded"/>
            </a:endParaRPr>
          </a:p>
          <a:p>
            <a:pPr indent="0" lvl="0" marL="0" marR="0" rtl="0" algn="l">
              <a:spcBef>
                <a:spcPts val="0"/>
              </a:spcBef>
              <a:spcAft>
                <a:spcPts val="0"/>
              </a:spcAft>
              <a:buNone/>
            </a:pPr>
            <a:r>
              <a:t/>
            </a:r>
            <a:endParaRPr b="1" sz="1800">
              <a:solidFill>
                <a:srgbClr val="FF0000"/>
              </a:solidFill>
              <a:latin typeface="Arial Rounded"/>
              <a:ea typeface="Arial Rounded"/>
              <a:cs typeface="Arial Rounded"/>
              <a:sym typeface="Arial Round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2fa7491790d_0_0"/>
          <p:cNvSpPr txBox="1"/>
          <p:nvPr/>
        </p:nvSpPr>
        <p:spPr>
          <a:xfrm>
            <a:off x="467032" y="243512"/>
            <a:ext cx="11081100" cy="12006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33333"/>
              </a:buClr>
              <a:buSzPts val="2400"/>
              <a:buFont typeface="Noto Sans Symbols"/>
              <a:buChar char="❑"/>
            </a:pPr>
            <a:r>
              <a:rPr b="1" lang="en-US" sz="2400">
                <a:solidFill>
                  <a:srgbClr val="333333"/>
                </a:solidFill>
                <a:latin typeface="Arial Rounded"/>
                <a:ea typeface="Arial Rounded"/>
                <a:cs typeface="Arial Rounded"/>
                <a:sym typeface="Arial Rounded"/>
              </a:rPr>
              <a:t>Types of Distributed Databases</a:t>
            </a:r>
            <a:r>
              <a:rPr b="1" i="0" lang="en-US" sz="2400" u="none" cap="none" strike="noStrike">
                <a:solidFill>
                  <a:srgbClr val="333333"/>
                </a:solidFill>
                <a:latin typeface="Arial Rounded"/>
                <a:ea typeface="Arial Rounded"/>
                <a:cs typeface="Arial Rounded"/>
                <a:sym typeface="Arial Rounded"/>
              </a:rPr>
              <a:t>:</a:t>
            </a:r>
            <a:endParaRPr/>
          </a:p>
          <a:p>
            <a:pPr indent="0" lvl="0" marL="0" marR="0" rtl="0" algn="l">
              <a:spcBef>
                <a:spcPts val="0"/>
              </a:spcBef>
              <a:spcAft>
                <a:spcPts val="0"/>
              </a:spcAft>
              <a:buNone/>
            </a:pPr>
            <a:r>
              <a:rPr b="1" i="0" lang="en-US" sz="2400" u="none" cap="none" strike="noStrike">
                <a:solidFill>
                  <a:srgbClr val="FF0000"/>
                </a:solidFill>
                <a:latin typeface="Arial Rounded"/>
                <a:ea typeface="Arial Rounded"/>
                <a:cs typeface="Arial Rounded"/>
                <a:sym typeface="Arial Rounded"/>
              </a:rPr>
              <a:t>1. Homogeneous Distributed  Database</a:t>
            </a:r>
            <a:endParaRPr/>
          </a:p>
          <a:p>
            <a:pPr indent="0" lvl="0" marL="0" marR="0" rtl="0" algn="l">
              <a:spcBef>
                <a:spcPts val="0"/>
              </a:spcBef>
              <a:spcAft>
                <a:spcPts val="0"/>
              </a:spcAft>
              <a:buNone/>
            </a:pPr>
            <a:r>
              <a:rPr b="1" lang="en-US" sz="2400">
                <a:solidFill>
                  <a:srgbClr val="FF0000"/>
                </a:solidFill>
                <a:latin typeface="Arial Rounded"/>
                <a:ea typeface="Arial Rounded"/>
                <a:cs typeface="Arial Rounded"/>
                <a:sym typeface="Arial Rounded"/>
              </a:rPr>
              <a:t>2. Heterogeneous </a:t>
            </a:r>
            <a:r>
              <a:rPr b="1" lang="en-US" sz="2400">
                <a:solidFill>
                  <a:srgbClr val="FF0000"/>
                </a:solidFill>
                <a:latin typeface="Arial Rounded"/>
                <a:ea typeface="Arial Rounded"/>
                <a:cs typeface="Arial Rounded"/>
                <a:sym typeface="Arial Rounded"/>
              </a:rPr>
              <a:t>Distributed </a:t>
            </a:r>
            <a:r>
              <a:rPr b="1" lang="en-US" sz="2400">
                <a:solidFill>
                  <a:srgbClr val="FF0000"/>
                </a:solidFill>
                <a:latin typeface="Arial Rounded"/>
                <a:ea typeface="Arial Rounded"/>
                <a:cs typeface="Arial Rounded"/>
                <a:sym typeface="Arial Rounded"/>
              </a:rPr>
              <a:t>Database</a:t>
            </a:r>
            <a:endParaRPr b="1" sz="1800">
              <a:solidFill>
                <a:srgbClr val="FF0000"/>
              </a:solidFill>
              <a:latin typeface="Arial Rounded"/>
              <a:ea typeface="Arial Rounded"/>
              <a:cs typeface="Arial Rounded"/>
              <a:sym typeface="Arial Rounded"/>
            </a:endParaRPr>
          </a:p>
        </p:txBody>
      </p:sp>
      <p:sp>
        <p:nvSpPr>
          <p:cNvPr id="121" name="Google Shape;121;g2fa7491790d_0_0"/>
          <p:cNvSpPr txBox="1"/>
          <p:nvPr/>
        </p:nvSpPr>
        <p:spPr>
          <a:xfrm>
            <a:off x="761375" y="5705500"/>
            <a:ext cx="4514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rgbClr val="FF0000"/>
                </a:solidFill>
                <a:latin typeface="Arial Rounded"/>
                <a:ea typeface="Arial Rounded"/>
                <a:cs typeface="Arial Rounded"/>
                <a:sym typeface="Arial Rounded"/>
              </a:rPr>
              <a:t>Homogeneous Distributed  Database</a:t>
            </a:r>
            <a:endParaRPr/>
          </a:p>
        </p:txBody>
      </p:sp>
      <p:pic>
        <p:nvPicPr>
          <p:cNvPr id="122" name="Google Shape;122;g2fa7491790d_0_0"/>
          <p:cNvPicPr preferRelativeResize="0"/>
          <p:nvPr/>
        </p:nvPicPr>
        <p:blipFill>
          <a:blip r:embed="rId3">
            <a:alphaModFix/>
          </a:blip>
          <a:stretch>
            <a:fillRect/>
          </a:stretch>
        </p:blipFill>
        <p:spPr>
          <a:xfrm>
            <a:off x="152400" y="1596500"/>
            <a:ext cx="6008050" cy="4168300"/>
          </a:xfrm>
          <a:prstGeom prst="rect">
            <a:avLst/>
          </a:prstGeom>
          <a:noFill/>
          <a:ln>
            <a:noFill/>
          </a:ln>
        </p:spPr>
      </p:pic>
      <p:sp>
        <p:nvSpPr>
          <p:cNvPr id="123" name="Google Shape;123;g2fa7491790d_0_0"/>
          <p:cNvSpPr txBox="1"/>
          <p:nvPr/>
        </p:nvSpPr>
        <p:spPr>
          <a:xfrm>
            <a:off x="7111900" y="5705500"/>
            <a:ext cx="4514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rgbClr val="FF0000"/>
                </a:solidFill>
                <a:latin typeface="Arial Rounded"/>
                <a:ea typeface="Arial Rounded"/>
                <a:cs typeface="Arial Rounded"/>
                <a:sym typeface="Arial Rounded"/>
              </a:rPr>
              <a:t>Heterogeneous Distributed Database</a:t>
            </a:r>
            <a:endParaRPr/>
          </a:p>
        </p:txBody>
      </p:sp>
      <p:pic>
        <p:nvPicPr>
          <p:cNvPr id="124" name="Google Shape;124;g2fa7491790d_0_0"/>
          <p:cNvPicPr preferRelativeResize="0"/>
          <p:nvPr/>
        </p:nvPicPr>
        <p:blipFill>
          <a:blip r:embed="rId4">
            <a:alphaModFix/>
          </a:blip>
          <a:stretch>
            <a:fillRect/>
          </a:stretch>
        </p:blipFill>
        <p:spPr>
          <a:xfrm>
            <a:off x="6312850" y="1596497"/>
            <a:ext cx="5543550" cy="4168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nvSpPr>
        <p:spPr>
          <a:xfrm>
            <a:off x="216307" y="65107"/>
            <a:ext cx="11759400" cy="6279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000"/>
              <a:buFont typeface="Calibri"/>
              <a:buNone/>
            </a:pPr>
            <a:r>
              <a:rPr b="1" lang="en-US" sz="4000">
                <a:solidFill>
                  <a:schemeClr val="accent2"/>
                </a:solidFill>
                <a:latin typeface="Calibri"/>
                <a:ea typeface="Calibri"/>
                <a:cs typeface="Calibri"/>
                <a:sym typeface="Calibri"/>
              </a:rPr>
              <a:t>Homogeneous &amp; Heterogeneous Distributed Databases</a:t>
            </a:r>
            <a:endParaRPr/>
          </a:p>
        </p:txBody>
      </p:sp>
      <p:sp>
        <p:nvSpPr>
          <p:cNvPr id="130" name="Google Shape;130;p3"/>
          <p:cNvSpPr txBox="1"/>
          <p:nvPr/>
        </p:nvSpPr>
        <p:spPr>
          <a:xfrm>
            <a:off x="216300" y="616800"/>
            <a:ext cx="11836500" cy="6129300"/>
          </a:xfrm>
          <a:prstGeom prst="rect">
            <a:avLst/>
          </a:prstGeom>
          <a:noFill/>
          <a:ln>
            <a:noFill/>
          </a:ln>
        </p:spPr>
        <p:txBody>
          <a:bodyPr anchorCtr="0" anchor="t" bIns="0" lIns="0" spcFirstLastPara="1" rIns="0" wrap="square" tIns="109850">
            <a:spAutoFit/>
          </a:bodyPr>
          <a:lstStyle/>
          <a:p>
            <a:pPr indent="-381000" lvl="0" marL="457200" marR="854075" rtl="0" algn="l">
              <a:lnSpc>
                <a:spcPct val="100000"/>
              </a:lnSpc>
              <a:spcBef>
                <a:spcPts val="0"/>
              </a:spcBef>
              <a:spcAft>
                <a:spcPts val="0"/>
              </a:spcAft>
              <a:buClr>
                <a:srgbClr val="FF0000"/>
              </a:buClr>
              <a:buSzPts val="2400"/>
              <a:buFont typeface="Arial Rounded"/>
              <a:buChar char="❖"/>
            </a:pPr>
            <a:r>
              <a:rPr b="1" lang="en-US" sz="2400" u="sng">
                <a:solidFill>
                  <a:srgbClr val="FF0000"/>
                </a:solidFill>
                <a:highlight>
                  <a:srgbClr val="FFFFFF"/>
                </a:highlight>
                <a:latin typeface="Arial Rounded"/>
                <a:ea typeface="Arial Rounded"/>
                <a:cs typeface="Arial Rounded"/>
                <a:sym typeface="Arial Rounded"/>
              </a:rPr>
              <a:t>Homogeneous Distributed Database</a:t>
            </a:r>
            <a:endParaRPr b="1" sz="2400" u="sng">
              <a:solidFill>
                <a:srgbClr val="FF0000"/>
              </a:solidFill>
              <a:highlight>
                <a:srgbClr val="FFFFFF"/>
              </a:highlight>
              <a:latin typeface="Arial Rounded"/>
              <a:ea typeface="Arial Rounded"/>
              <a:cs typeface="Arial Rounded"/>
              <a:sym typeface="Arial Rounded"/>
            </a:endParaRPr>
          </a:p>
          <a:p>
            <a:pPr indent="0" lvl="0" marL="563737" marR="854075" rtl="0" algn="l">
              <a:lnSpc>
                <a:spcPct val="100000"/>
              </a:lnSpc>
              <a:spcBef>
                <a:spcPts val="0"/>
              </a:spcBef>
              <a:spcAft>
                <a:spcPts val="0"/>
              </a:spcAft>
              <a:buClr>
                <a:schemeClr val="dk1"/>
              </a:buClr>
              <a:buSzPts val="1100"/>
              <a:buFont typeface="Arial"/>
              <a:buNone/>
            </a:pPr>
            <a:r>
              <a:t/>
            </a:r>
            <a:endParaRPr sz="1500">
              <a:solidFill>
                <a:schemeClr val="dk1"/>
              </a:solidFill>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0000FF"/>
              </a:buClr>
              <a:buSzPts val="2100"/>
              <a:buFont typeface="Arial Rounded"/>
              <a:buChar char="●"/>
            </a:pPr>
            <a:r>
              <a:rPr lang="en-US" sz="2100">
                <a:solidFill>
                  <a:srgbClr val="0000FF"/>
                </a:solidFill>
                <a:highlight>
                  <a:srgbClr val="FFFFFF"/>
                </a:highlight>
                <a:latin typeface="Arial Rounded"/>
                <a:ea typeface="Arial Rounded"/>
                <a:cs typeface="Arial Rounded"/>
                <a:sym typeface="Arial Rounded"/>
              </a:rPr>
              <a:t>Identical software are used in all the sites</a:t>
            </a:r>
            <a:endParaRPr sz="2100">
              <a:solidFill>
                <a:srgbClr val="0000FF"/>
              </a:solidFill>
              <a:highlight>
                <a:srgbClr val="FFFFFF"/>
              </a:highlight>
              <a:latin typeface="Arial Rounded"/>
              <a:ea typeface="Arial Rounded"/>
              <a:cs typeface="Arial Rounded"/>
              <a:sym typeface="Arial Rounded"/>
            </a:endParaRPr>
          </a:p>
          <a:p>
            <a:pPr indent="-361950" lvl="1" marL="914400" marR="673100" rtl="0" algn="l">
              <a:lnSpc>
                <a:spcPct val="10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Here, a site refers to a server which is part of the distributed database system </a:t>
            </a:r>
            <a:endParaRPr sz="2100">
              <a:solidFill>
                <a:srgbClr val="222222"/>
              </a:solidFill>
              <a:highlight>
                <a:srgbClr val="FFFFFF"/>
              </a:highlight>
              <a:latin typeface="Arial Rounded"/>
              <a:ea typeface="Arial Rounded"/>
              <a:cs typeface="Arial Rounded"/>
              <a:sym typeface="Arial Rounded"/>
            </a:endParaRPr>
          </a:p>
          <a:p>
            <a:pPr indent="-361950" lvl="1" marL="914400" marR="673100" rtl="0" algn="l">
              <a:lnSpc>
                <a:spcPct val="10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Software would mean OS, DBMS software, and even the structure of the database used</a:t>
            </a:r>
            <a:endParaRPr sz="2100">
              <a:solidFill>
                <a:srgbClr val="222222"/>
              </a:solidFill>
              <a:highlight>
                <a:srgbClr val="FFFFFF"/>
              </a:highlight>
              <a:latin typeface="Arial Rounded"/>
              <a:ea typeface="Arial Rounded"/>
              <a:cs typeface="Arial Rounded"/>
              <a:sym typeface="Arial Rounded"/>
            </a:endParaRPr>
          </a:p>
          <a:p>
            <a:pPr indent="-361950" lvl="1" marL="914400" marR="673100" rtl="0" algn="l">
              <a:lnSpc>
                <a:spcPct val="10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In some cases, identical hardware are also used</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0000FF"/>
              </a:buClr>
              <a:buSzPts val="2100"/>
              <a:buChar char="●"/>
            </a:pPr>
            <a:r>
              <a:rPr lang="en-US" sz="2100">
                <a:solidFill>
                  <a:srgbClr val="0000FF"/>
                </a:solidFill>
                <a:highlight>
                  <a:srgbClr val="FFFFFF"/>
                </a:highlight>
                <a:latin typeface="Arial Rounded"/>
                <a:ea typeface="Arial Rounded"/>
                <a:cs typeface="Arial Rounded"/>
                <a:sym typeface="Arial Rounded"/>
              </a:rPr>
              <a:t>All sites are well known. </a:t>
            </a:r>
            <a:endParaRPr sz="2100">
              <a:solidFill>
                <a:srgbClr val="0000FF"/>
              </a:solidFill>
              <a:highlight>
                <a:srgbClr val="FFFFFF"/>
              </a:highlight>
              <a:latin typeface="Arial Rounded"/>
              <a:ea typeface="Arial Rounded"/>
              <a:cs typeface="Arial Rounded"/>
              <a:sym typeface="Arial Rounded"/>
            </a:endParaRPr>
          </a:p>
          <a:p>
            <a:pPr indent="-361950" lvl="1" marL="914400" marR="673100" rtl="0" algn="l">
              <a:lnSpc>
                <a:spcPct val="100000"/>
              </a:lnSpc>
              <a:spcBef>
                <a:spcPts val="0"/>
              </a:spcBef>
              <a:spcAft>
                <a:spcPts val="0"/>
              </a:spcAft>
              <a:buClr>
                <a:srgbClr val="222222"/>
              </a:buClr>
              <a:buSzPts val="2100"/>
              <a:buChar char="○"/>
            </a:pPr>
            <a:r>
              <a:rPr lang="en-US" sz="2100">
                <a:solidFill>
                  <a:srgbClr val="222222"/>
                </a:solidFill>
                <a:highlight>
                  <a:srgbClr val="FFFFFF"/>
                </a:highlight>
                <a:latin typeface="Arial Rounded"/>
                <a:ea typeface="Arial Rounded"/>
                <a:cs typeface="Arial Rounded"/>
                <a:sym typeface="Arial Rounded"/>
              </a:rPr>
              <a:t> As they are similar in terms of DBMS software and hardware used, </a:t>
            </a:r>
            <a:r>
              <a:rPr b="1" lang="en-US" sz="1900">
                <a:solidFill>
                  <a:schemeClr val="dk1"/>
                </a:solidFill>
                <a:latin typeface="Arial Rounded"/>
                <a:ea typeface="Arial Rounded"/>
                <a:cs typeface="Arial Rounded"/>
                <a:sym typeface="Arial Rounded"/>
              </a:rPr>
              <a:t>a</a:t>
            </a:r>
            <a:r>
              <a:rPr b="1" lang="en-US" sz="1900">
                <a:solidFill>
                  <a:schemeClr val="dk1"/>
                </a:solidFill>
                <a:latin typeface="Arial Rounded"/>
                <a:ea typeface="Arial Rounded"/>
                <a:cs typeface="Arial Rounded"/>
                <a:sym typeface="Arial Rounded"/>
              </a:rPr>
              <a:t>re aware of each other and agree to cooperate in processing user  requests.</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0000FF"/>
              </a:buClr>
              <a:buSzPts val="2100"/>
              <a:buFont typeface="Arial Rounded"/>
              <a:buChar char="●"/>
            </a:pPr>
            <a:r>
              <a:rPr lang="en-US" sz="2100">
                <a:solidFill>
                  <a:srgbClr val="0000FF"/>
                </a:solidFill>
                <a:highlight>
                  <a:srgbClr val="FFFFFF"/>
                </a:highlight>
                <a:latin typeface="Arial Rounded"/>
                <a:ea typeface="Arial Rounded"/>
                <a:cs typeface="Arial Rounded"/>
                <a:sym typeface="Arial Rounded"/>
              </a:rPr>
              <a:t>Partial control over the data of other sites </a:t>
            </a:r>
            <a:endParaRPr sz="2100">
              <a:solidFill>
                <a:srgbClr val="0000FF"/>
              </a:solidFill>
              <a:highlight>
                <a:srgbClr val="FFFFFF"/>
              </a:highlight>
              <a:latin typeface="Arial Rounded"/>
              <a:ea typeface="Arial Rounded"/>
              <a:cs typeface="Arial Rounded"/>
              <a:sym typeface="Arial Rounded"/>
            </a:endParaRPr>
          </a:p>
          <a:p>
            <a:pPr indent="-361950" lvl="1" marL="914400" marR="673100" rtl="0" algn="l">
              <a:lnSpc>
                <a:spcPct val="10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As</a:t>
            </a:r>
            <a:r>
              <a:rPr lang="en-US" sz="2100">
                <a:solidFill>
                  <a:srgbClr val="222222"/>
                </a:solidFill>
                <a:highlight>
                  <a:srgbClr val="FFFFFF"/>
                </a:highlight>
                <a:latin typeface="Arial Rounded"/>
                <a:ea typeface="Arial Rounded"/>
                <a:cs typeface="Arial Rounded"/>
                <a:sym typeface="Arial Rounded"/>
              </a:rPr>
              <a:t> we know the structure of databases, software and hardware used in other sites, each site surrenders part of its autonomy in terms of right to change  schemas or software. Hence the partial control over the data is possible. </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222222"/>
              </a:buClr>
              <a:buSzPts val="2100"/>
              <a:buFont typeface="Arial Rounded"/>
              <a:buChar char="●"/>
            </a:pPr>
            <a:r>
              <a:rPr lang="en-US" sz="2100">
                <a:solidFill>
                  <a:srgbClr val="0000FF"/>
                </a:solidFill>
                <a:highlight>
                  <a:srgbClr val="FFFFFF"/>
                </a:highlight>
                <a:latin typeface="Arial Rounded"/>
                <a:ea typeface="Arial Rounded"/>
                <a:cs typeface="Arial Rounded"/>
                <a:sym typeface="Arial Rounded"/>
              </a:rPr>
              <a:t>Looks like a single central database system </a:t>
            </a:r>
            <a:endParaRPr sz="2100">
              <a:solidFill>
                <a:srgbClr val="0000FF"/>
              </a:solidFill>
              <a:highlight>
                <a:srgbClr val="FFFFFF"/>
              </a:highlight>
              <a:latin typeface="Arial Rounded"/>
              <a:ea typeface="Arial Rounded"/>
              <a:cs typeface="Arial Rounded"/>
              <a:sym typeface="Arial Rounded"/>
            </a:endParaRPr>
          </a:p>
          <a:p>
            <a:pPr indent="0" lvl="0" marL="0" marR="355600" rtl="0" algn="l">
              <a:lnSpc>
                <a:spcPct val="100000"/>
              </a:lnSpc>
              <a:spcBef>
                <a:spcPts val="0"/>
              </a:spcBef>
              <a:spcAft>
                <a:spcPts val="0"/>
              </a:spcAft>
              <a:buNone/>
            </a:pPr>
            <a:r>
              <a:t/>
            </a:r>
            <a:endParaRPr sz="1800">
              <a:solidFill>
                <a:srgbClr val="FF0000"/>
              </a:solidFill>
              <a:highlight>
                <a:srgbClr val="FFFFFF"/>
              </a:highlight>
              <a:latin typeface="Arial Rounded"/>
              <a:ea typeface="Arial Rounded"/>
              <a:cs typeface="Arial Rounded"/>
              <a:sym typeface="Arial Rounded"/>
            </a:endParaRPr>
          </a:p>
          <a:p>
            <a:pPr indent="0" lvl="0" marL="0" marR="355600" rtl="0" algn="l">
              <a:lnSpc>
                <a:spcPct val="100000"/>
              </a:lnSpc>
              <a:spcBef>
                <a:spcPts val="0"/>
              </a:spcBef>
              <a:spcAft>
                <a:spcPts val="0"/>
              </a:spcAft>
              <a:buNone/>
            </a:pPr>
            <a:r>
              <a:rPr lang="en-US" sz="2100">
                <a:solidFill>
                  <a:srgbClr val="FF0000"/>
                </a:solidFill>
                <a:highlight>
                  <a:srgbClr val="FFFFFF"/>
                </a:highlight>
                <a:latin typeface="Arial Rounded"/>
                <a:ea typeface="Arial Rounded"/>
                <a:cs typeface="Arial Rounded"/>
                <a:sym typeface="Arial Rounded"/>
              </a:rPr>
              <a:t>A homogeneous database stores data uniformly across all locations. All sites utilize the same operating system, database management system, and data structures. They are therefore simple to handle.</a:t>
            </a:r>
            <a:endParaRPr b="1" sz="2100">
              <a:solidFill>
                <a:srgbClr val="FF0000"/>
              </a:solidFill>
              <a:latin typeface="Arial Rounded"/>
              <a:ea typeface="Arial Rounded"/>
              <a:cs typeface="Arial Rounded"/>
              <a:sym typeface="Arial Round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2fa7491790d_0_18"/>
          <p:cNvSpPr txBox="1"/>
          <p:nvPr/>
        </p:nvSpPr>
        <p:spPr>
          <a:xfrm>
            <a:off x="216307" y="65107"/>
            <a:ext cx="11759400" cy="6279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000"/>
              <a:buFont typeface="Calibri"/>
              <a:buNone/>
            </a:pPr>
            <a:r>
              <a:rPr b="1" lang="en-US" sz="4000">
                <a:solidFill>
                  <a:schemeClr val="accent2"/>
                </a:solidFill>
                <a:latin typeface="Calibri"/>
                <a:ea typeface="Calibri"/>
                <a:cs typeface="Calibri"/>
                <a:sym typeface="Calibri"/>
              </a:rPr>
              <a:t>Homogeneous &amp; Heterogeneous Distributed Databases</a:t>
            </a:r>
            <a:endParaRPr/>
          </a:p>
        </p:txBody>
      </p:sp>
      <p:sp>
        <p:nvSpPr>
          <p:cNvPr id="136" name="Google Shape;136;g2fa7491790d_0_18"/>
          <p:cNvSpPr txBox="1"/>
          <p:nvPr/>
        </p:nvSpPr>
        <p:spPr>
          <a:xfrm>
            <a:off x="177750" y="834275"/>
            <a:ext cx="11836500" cy="5513700"/>
          </a:xfrm>
          <a:prstGeom prst="rect">
            <a:avLst/>
          </a:prstGeom>
          <a:noFill/>
          <a:ln>
            <a:noFill/>
          </a:ln>
        </p:spPr>
        <p:txBody>
          <a:bodyPr anchorCtr="0" anchor="t" bIns="0" lIns="0" spcFirstLastPara="1" rIns="0" wrap="square" tIns="109850">
            <a:spAutoFit/>
          </a:bodyPr>
          <a:lstStyle/>
          <a:p>
            <a:pPr indent="-381000" lvl="0" marL="457200" marR="854075" rtl="0" algn="l">
              <a:lnSpc>
                <a:spcPct val="100000"/>
              </a:lnSpc>
              <a:spcBef>
                <a:spcPts val="0"/>
              </a:spcBef>
              <a:spcAft>
                <a:spcPts val="0"/>
              </a:spcAft>
              <a:buClr>
                <a:srgbClr val="FF0000"/>
              </a:buClr>
              <a:buSzPts val="2400"/>
              <a:buFont typeface="Arial Rounded"/>
              <a:buChar char="❖"/>
            </a:pPr>
            <a:r>
              <a:rPr b="1" lang="en-US" sz="2400" u="sng">
                <a:solidFill>
                  <a:srgbClr val="FF0000"/>
                </a:solidFill>
                <a:highlight>
                  <a:srgbClr val="FFFFFF"/>
                </a:highlight>
                <a:latin typeface="Arial Rounded"/>
                <a:ea typeface="Arial Rounded"/>
                <a:cs typeface="Arial Rounded"/>
                <a:sym typeface="Arial Rounded"/>
              </a:rPr>
              <a:t>Heterogeneous Distributed Database</a:t>
            </a:r>
            <a:endParaRPr b="1" sz="2400" u="sng">
              <a:solidFill>
                <a:srgbClr val="FF0000"/>
              </a:solidFill>
              <a:highlight>
                <a:srgbClr val="FFFFFF"/>
              </a:highlight>
              <a:latin typeface="Arial Rounded"/>
              <a:ea typeface="Arial Rounded"/>
              <a:cs typeface="Arial Rounded"/>
              <a:sym typeface="Arial Rounded"/>
            </a:endParaRPr>
          </a:p>
          <a:p>
            <a:pPr indent="0" lvl="0" marL="563737" marR="854075" rtl="0" algn="l">
              <a:lnSpc>
                <a:spcPct val="100000"/>
              </a:lnSpc>
              <a:spcBef>
                <a:spcPts val="0"/>
              </a:spcBef>
              <a:spcAft>
                <a:spcPts val="0"/>
              </a:spcAft>
              <a:buClr>
                <a:schemeClr val="dk1"/>
              </a:buClr>
              <a:buSzPts val="1100"/>
              <a:buFont typeface="Arial"/>
              <a:buNone/>
            </a:pPr>
            <a:r>
              <a:t/>
            </a:r>
            <a:endParaRPr sz="1500">
              <a:solidFill>
                <a:schemeClr val="dk1"/>
              </a:solidFill>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222222"/>
              </a:buClr>
              <a:buSzPts val="2100"/>
              <a:buFont typeface="Arial Rounded"/>
              <a:buChar char="●"/>
            </a:pPr>
            <a:r>
              <a:rPr lang="en-US" sz="2100">
                <a:solidFill>
                  <a:srgbClr val="0000FF"/>
                </a:solidFill>
                <a:highlight>
                  <a:srgbClr val="FFFFFF"/>
                </a:highlight>
                <a:latin typeface="Arial Rounded"/>
                <a:ea typeface="Arial Rounded"/>
                <a:cs typeface="Arial Rounded"/>
                <a:sym typeface="Arial Rounded"/>
              </a:rPr>
              <a:t>Different sites uses different database schemas and software</a:t>
            </a:r>
            <a:endParaRPr sz="2100">
              <a:solidFill>
                <a:srgbClr val="0000FF"/>
              </a:solidFill>
              <a:highlight>
                <a:srgbClr val="FFFFFF"/>
              </a:highlight>
              <a:latin typeface="Arial Rounded"/>
              <a:ea typeface="Arial Rounded"/>
              <a:cs typeface="Arial Rounded"/>
              <a:sym typeface="Arial Rounded"/>
            </a:endParaRPr>
          </a:p>
          <a:p>
            <a:pPr indent="-361950" lvl="1" marL="914400" marR="355600" rtl="0" algn="l">
              <a:lnSpc>
                <a:spcPct val="100000"/>
              </a:lnSpc>
              <a:spcBef>
                <a:spcPts val="0"/>
              </a:spcBef>
              <a:spcAft>
                <a:spcPts val="0"/>
              </a:spcAft>
              <a:buClr>
                <a:schemeClr val="dk1"/>
              </a:buClr>
              <a:buSzPts val="2100"/>
              <a:buFont typeface="Arial Rounded"/>
              <a:buChar char="○"/>
            </a:pPr>
            <a:r>
              <a:rPr lang="en-US" sz="2100">
                <a:solidFill>
                  <a:schemeClr val="dk1"/>
                </a:solidFill>
                <a:highlight>
                  <a:srgbClr val="FFFFFF"/>
                </a:highlight>
                <a:latin typeface="Arial Rounded"/>
                <a:ea typeface="Arial Rounded"/>
                <a:cs typeface="Arial Rounded"/>
                <a:sym typeface="Arial Rounded"/>
              </a:rPr>
              <a:t>Difference in schema is a major problem for query processing</a:t>
            </a:r>
            <a:endParaRPr sz="2100">
              <a:solidFill>
                <a:schemeClr val="dk1"/>
              </a:solidFill>
              <a:highlight>
                <a:srgbClr val="FFFFFF"/>
              </a:highlight>
              <a:latin typeface="Arial Rounded"/>
              <a:ea typeface="Arial Rounded"/>
              <a:cs typeface="Arial Rounded"/>
              <a:sym typeface="Arial Rounded"/>
            </a:endParaRPr>
          </a:p>
          <a:p>
            <a:pPr indent="-361950" lvl="1" marL="914400" marR="355600" rtl="0" algn="l">
              <a:lnSpc>
                <a:spcPct val="100000"/>
              </a:lnSpc>
              <a:spcBef>
                <a:spcPts val="0"/>
              </a:spcBef>
              <a:spcAft>
                <a:spcPts val="0"/>
              </a:spcAft>
              <a:buClr>
                <a:schemeClr val="dk1"/>
              </a:buClr>
              <a:buSzPts val="2100"/>
              <a:buFont typeface="Arial Rounded"/>
              <a:buChar char="○"/>
            </a:pPr>
            <a:r>
              <a:rPr lang="en-US" sz="2100">
                <a:solidFill>
                  <a:schemeClr val="dk1"/>
                </a:solidFill>
                <a:highlight>
                  <a:srgbClr val="FFFFFF"/>
                </a:highlight>
                <a:latin typeface="Arial Rounded"/>
                <a:ea typeface="Arial Rounded"/>
                <a:cs typeface="Arial Rounded"/>
                <a:sym typeface="Arial Rounded"/>
              </a:rPr>
              <a:t>Difference in software is a major problem for transaction  processing</a:t>
            </a:r>
            <a:endParaRPr sz="2100">
              <a:solidFill>
                <a:schemeClr val="dk1"/>
              </a:solidFill>
              <a:highlight>
                <a:srgbClr val="FFFFFF"/>
              </a:highlight>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222222"/>
              </a:buClr>
              <a:buSzPts val="2100"/>
              <a:buFont typeface="Arial Rounded"/>
              <a:buChar char="●"/>
            </a:pPr>
            <a:r>
              <a:rPr lang="en-US" sz="2100">
                <a:solidFill>
                  <a:srgbClr val="0000FF"/>
                </a:solidFill>
                <a:highlight>
                  <a:srgbClr val="FFFFFF"/>
                </a:highlight>
                <a:latin typeface="Arial Rounded"/>
                <a:ea typeface="Arial Rounded"/>
                <a:cs typeface="Arial Rounded"/>
                <a:sym typeface="Arial Rounded"/>
              </a:rPr>
              <a:t>The structure of databases reside in different sites may be different (because of data partitions)</a:t>
            </a:r>
            <a:endParaRPr sz="2100">
              <a:solidFill>
                <a:srgbClr val="0000FF"/>
              </a:solidFill>
              <a:highlight>
                <a:srgbClr val="FFFFFF"/>
              </a:highlight>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rgbClr val="222222"/>
              </a:buClr>
              <a:buSzPts val="2100"/>
              <a:buFont typeface="Arial Rounded"/>
              <a:buChar char="●"/>
            </a:pPr>
            <a:r>
              <a:rPr lang="en-US" sz="2100">
                <a:solidFill>
                  <a:srgbClr val="0000FF"/>
                </a:solidFill>
                <a:highlight>
                  <a:srgbClr val="FFFFFF"/>
                </a:highlight>
                <a:latin typeface="Arial Rounded"/>
                <a:ea typeface="Arial Rounded"/>
                <a:cs typeface="Arial Rounded"/>
                <a:sym typeface="Arial Rounded"/>
              </a:rPr>
              <a:t>Co-operation between sites are limited. That is, it is not easy to alter the structure of the database or any other software used. </a:t>
            </a:r>
            <a:endParaRPr sz="2100">
              <a:solidFill>
                <a:srgbClr val="0000FF"/>
              </a:solidFill>
              <a:highlight>
                <a:srgbClr val="FFFFFF"/>
              </a:highlight>
              <a:latin typeface="Arial Rounded"/>
              <a:ea typeface="Arial Rounded"/>
              <a:cs typeface="Arial Rounded"/>
              <a:sym typeface="Arial Rounded"/>
            </a:endParaRPr>
          </a:p>
          <a:p>
            <a:pPr indent="-361950" lvl="1" marL="914400" marR="355600" rtl="0" algn="l">
              <a:lnSpc>
                <a:spcPct val="100000"/>
              </a:lnSpc>
              <a:spcBef>
                <a:spcPts val="0"/>
              </a:spcBef>
              <a:spcAft>
                <a:spcPts val="0"/>
              </a:spcAft>
              <a:buClr>
                <a:schemeClr val="dk1"/>
              </a:buClr>
              <a:buSzPts val="2100"/>
              <a:buFont typeface="Arial Rounded"/>
              <a:buChar char="○"/>
            </a:pPr>
            <a:r>
              <a:rPr lang="en-US" sz="2100">
                <a:solidFill>
                  <a:schemeClr val="dk1"/>
                </a:solidFill>
                <a:highlight>
                  <a:srgbClr val="FFFFFF"/>
                </a:highlight>
                <a:latin typeface="Arial Rounded"/>
                <a:ea typeface="Arial Rounded"/>
                <a:cs typeface="Arial Rounded"/>
                <a:sym typeface="Arial Rounded"/>
              </a:rPr>
              <a:t>Sites may not be aware of each other and may provide only  limited facilities for cooperation in transaction processing</a:t>
            </a:r>
            <a:endParaRPr sz="2100">
              <a:solidFill>
                <a:schemeClr val="dk1"/>
              </a:solidFill>
              <a:highlight>
                <a:srgbClr val="FFFFFF"/>
              </a:highlight>
              <a:latin typeface="Arial Rounded"/>
              <a:ea typeface="Arial Rounded"/>
              <a:cs typeface="Arial Rounded"/>
              <a:sym typeface="Arial Rounded"/>
            </a:endParaRPr>
          </a:p>
          <a:p>
            <a:pPr indent="-361950" lvl="0" marL="457200" marR="355600" rtl="0" algn="l">
              <a:lnSpc>
                <a:spcPct val="100000"/>
              </a:lnSpc>
              <a:spcBef>
                <a:spcPts val="0"/>
              </a:spcBef>
              <a:spcAft>
                <a:spcPts val="0"/>
              </a:spcAft>
              <a:buClr>
                <a:schemeClr val="dk1"/>
              </a:buClr>
              <a:buSzPts val="2100"/>
              <a:buFont typeface="Arial Rounded"/>
              <a:buChar char="●"/>
            </a:pPr>
            <a:r>
              <a:rPr lang="en-US" sz="2100">
                <a:solidFill>
                  <a:schemeClr val="dk1"/>
                </a:solidFill>
                <a:highlight>
                  <a:srgbClr val="FFFFFF"/>
                </a:highlight>
                <a:latin typeface="Arial Rounded"/>
                <a:ea typeface="Arial Rounded"/>
                <a:cs typeface="Arial Rounded"/>
                <a:sym typeface="Arial Rounded"/>
              </a:rPr>
              <a:t>Various operating systems and database applications may be used by various machines. They could even employ separate database data models. </a:t>
            </a:r>
            <a:r>
              <a:rPr lang="en-US" sz="2100">
                <a:solidFill>
                  <a:srgbClr val="0000FF"/>
                </a:solidFill>
                <a:highlight>
                  <a:srgbClr val="FFFFFF"/>
                </a:highlight>
                <a:latin typeface="Arial Rounded"/>
                <a:ea typeface="Arial Rounded"/>
                <a:cs typeface="Arial Rounded"/>
                <a:sym typeface="Arial Rounded"/>
              </a:rPr>
              <a:t>Translations are therefore necessary for communication across various sites.</a:t>
            </a:r>
            <a:endParaRPr sz="2100">
              <a:solidFill>
                <a:srgbClr val="0000FF"/>
              </a:solidFill>
              <a:highlight>
                <a:srgbClr val="FFFFFF"/>
              </a:highlight>
              <a:latin typeface="Arial Rounded"/>
              <a:ea typeface="Arial Rounded"/>
              <a:cs typeface="Arial Rounded"/>
              <a:sym typeface="Arial Rounded"/>
            </a:endParaRPr>
          </a:p>
          <a:p>
            <a:pPr indent="0" lvl="0" marL="0" marR="355600" rtl="0" algn="l">
              <a:lnSpc>
                <a:spcPct val="100000"/>
              </a:lnSpc>
              <a:spcBef>
                <a:spcPts val="0"/>
              </a:spcBef>
              <a:spcAft>
                <a:spcPts val="0"/>
              </a:spcAft>
              <a:buNone/>
            </a:pPr>
            <a:r>
              <a:t/>
            </a:r>
            <a:endParaRPr sz="2100">
              <a:solidFill>
                <a:schemeClr val="dk1"/>
              </a:solidFill>
              <a:highlight>
                <a:srgbClr val="FFFFFF"/>
              </a:highlight>
              <a:latin typeface="Arial Rounded"/>
              <a:ea typeface="Arial Rounded"/>
              <a:cs typeface="Arial Rounded"/>
              <a:sym typeface="Arial Rounded"/>
            </a:endParaRPr>
          </a:p>
          <a:p>
            <a:pPr indent="0" lvl="0" marL="0" marR="355600" rtl="0" algn="l">
              <a:lnSpc>
                <a:spcPct val="100000"/>
              </a:lnSpc>
              <a:spcBef>
                <a:spcPts val="0"/>
              </a:spcBef>
              <a:spcAft>
                <a:spcPts val="0"/>
              </a:spcAft>
              <a:buNone/>
            </a:pPr>
            <a:r>
              <a:t/>
            </a:r>
            <a:endParaRPr sz="1800">
              <a:solidFill>
                <a:schemeClr val="dk1"/>
              </a:solidFill>
              <a:highlight>
                <a:srgbClr val="FFFFFF"/>
              </a:highlight>
              <a:latin typeface="Arial Rounded"/>
              <a:ea typeface="Arial Rounded"/>
              <a:cs typeface="Arial Rounded"/>
              <a:sym typeface="Arial Rounded"/>
            </a:endParaRPr>
          </a:p>
          <a:p>
            <a:pPr indent="0" lvl="0" marL="0" marR="355600" rtl="0" algn="l">
              <a:lnSpc>
                <a:spcPct val="100000"/>
              </a:lnSpc>
              <a:spcBef>
                <a:spcPts val="0"/>
              </a:spcBef>
              <a:spcAft>
                <a:spcPts val="0"/>
              </a:spcAft>
              <a:buNone/>
            </a:pPr>
            <a:r>
              <a:t/>
            </a:r>
            <a:endParaRPr b="1" sz="2100">
              <a:solidFill>
                <a:srgbClr val="FF0000"/>
              </a:solidFill>
              <a:latin typeface="Arial Rounded"/>
              <a:ea typeface="Arial Rounded"/>
              <a:cs typeface="Arial Rounded"/>
              <a:sym typeface="Arial Round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fa7491790d_0_23"/>
          <p:cNvSpPr txBox="1"/>
          <p:nvPr/>
        </p:nvSpPr>
        <p:spPr>
          <a:xfrm>
            <a:off x="224700" y="362475"/>
            <a:ext cx="11742600" cy="542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100">
                <a:solidFill>
                  <a:srgbClr val="FF0000"/>
                </a:solidFill>
                <a:highlight>
                  <a:srgbClr val="FFFFFF"/>
                </a:highlight>
                <a:latin typeface="Arial Rounded"/>
                <a:ea typeface="Arial Rounded"/>
                <a:cs typeface="Arial Rounded"/>
                <a:sym typeface="Arial Rounded"/>
              </a:rPr>
              <a:t>Why Distributed Database?</a:t>
            </a:r>
            <a:endParaRPr b="1" sz="2100">
              <a:solidFill>
                <a:srgbClr val="FF0000"/>
              </a:solidFill>
              <a:highlight>
                <a:srgbClr val="FFFFFF"/>
              </a:highlight>
              <a:latin typeface="Arial Rounded"/>
              <a:ea typeface="Arial Rounded"/>
              <a:cs typeface="Arial Rounded"/>
              <a:sym typeface="Arial Rounded"/>
            </a:endParaRPr>
          </a:p>
          <a:p>
            <a:pPr indent="0" lvl="0" marL="0" rtl="0" algn="l">
              <a:lnSpc>
                <a:spcPct val="115000"/>
              </a:lnSpc>
              <a:spcBef>
                <a:spcPts val="0"/>
              </a:spcBef>
              <a:spcAft>
                <a:spcPts val="0"/>
              </a:spcAft>
              <a:buNone/>
            </a:pPr>
            <a:r>
              <a:t/>
            </a:r>
            <a:endParaRPr sz="2100">
              <a:solidFill>
                <a:srgbClr val="222222"/>
              </a:solidFill>
              <a:highlight>
                <a:srgbClr val="FFFFFF"/>
              </a:highlight>
              <a:latin typeface="Arial Rounded"/>
              <a:ea typeface="Arial Rounded"/>
              <a:cs typeface="Arial Rounded"/>
              <a:sym typeface="Arial Rounded"/>
            </a:endParaRPr>
          </a:p>
          <a:p>
            <a:pPr indent="0" lvl="0" marL="0" rtl="0" algn="l">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We are interested in Distributed database for various reasons. Some of them are;</a:t>
            </a:r>
            <a:endParaRPr sz="2100">
              <a:solidFill>
                <a:srgbClr val="222222"/>
              </a:solidFill>
              <a:highlight>
                <a:srgbClr val="FFFFFF"/>
              </a:highlight>
              <a:latin typeface="Arial Rounded"/>
              <a:ea typeface="Arial Rounded"/>
              <a:cs typeface="Arial Rounded"/>
              <a:sym typeface="Arial Rounded"/>
            </a:endParaRPr>
          </a:p>
          <a:p>
            <a:pPr indent="-361950" lvl="0" marL="457200" rtl="0" algn="just">
              <a:lnSpc>
                <a:spcPct val="115000"/>
              </a:lnSpc>
              <a:spcBef>
                <a:spcPts val="100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Data are always available to end users, i.e., they are easily accessible. The availability makes the total system reliable.</a:t>
            </a:r>
            <a:endParaRPr sz="2100">
              <a:solidFill>
                <a:srgbClr val="222222"/>
              </a:solidFill>
              <a:highlight>
                <a:srgbClr val="FFFFFF"/>
              </a:highlight>
              <a:latin typeface="Arial Rounded"/>
              <a:ea typeface="Arial Rounded"/>
              <a:cs typeface="Arial Rounded"/>
              <a:sym typeface="Arial Rounded"/>
            </a:endParaRPr>
          </a:p>
          <a:p>
            <a:pPr indent="-361950" lvl="0" marL="457200" rtl="0" algn="just">
              <a:lnSpc>
                <a:spcPct val="115000"/>
              </a:lnSpc>
              <a:spcBef>
                <a:spcPts val="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Distributed database increases the performance of the overall system. Because, the servers are available near the place where it is very much needed.</a:t>
            </a:r>
            <a:endParaRPr sz="2100">
              <a:solidFill>
                <a:srgbClr val="222222"/>
              </a:solidFill>
              <a:highlight>
                <a:srgbClr val="FFFFFF"/>
              </a:highlight>
              <a:latin typeface="Arial Rounded"/>
              <a:ea typeface="Arial Rounded"/>
              <a:cs typeface="Arial Rounded"/>
              <a:sym typeface="Arial Rounded"/>
            </a:endParaRPr>
          </a:p>
          <a:p>
            <a:pPr indent="-361950" lvl="0" marL="457200" rtl="0" algn="just">
              <a:lnSpc>
                <a:spcPct val="115000"/>
              </a:lnSpc>
              <a:spcBef>
                <a:spcPts val="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Support organizational growth. Because, the distributed database structure would not cause stopping of all ongoing services. Only new distributed server may need to be established to handle the new details. </a:t>
            </a:r>
            <a:endParaRPr sz="2100">
              <a:solidFill>
                <a:srgbClr val="222222"/>
              </a:solidFill>
              <a:highlight>
                <a:srgbClr val="FFFFFF"/>
              </a:highlight>
              <a:latin typeface="Arial Rounded"/>
              <a:ea typeface="Arial Rounded"/>
              <a:cs typeface="Arial Rounded"/>
              <a:sym typeface="Arial Rounded"/>
            </a:endParaRPr>
          </a:p>
          <a:p>
            <a:pPr indent="-361950" lvl="0" marL="457200" rtl="0" algn="just">
              <a:lnSpc>
                <a:spcPct val="115000"/>
              </a:lnSpc>
              <a:spcBef>
                <a:spcPts val="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Handling addition of any server, modification of existing modules etc. are easy.</a:t>
            </a:r>
            <a:endParaRPr sz="2100">
              <a:solidFill>
                <a:srgbClr val="222222"/>
              </a:solidFill>
              <a:highlight>
                <a:srgbClr val="FFFFFF"/>
              </a:highlight>
              <a:latin typeface="Arial Rounded"/>
              <a:ea typeface="Arial Rounded"/>
              <a:cs typeface="Arial Rounded"/>
              <a:sym typeface="Arial Rounded"/>
            </a:endParaRPr>
          </a:p>
          <a:p>
            <a:pPr indent="-361950" lvl="0" marL="457200" rtl="0" algn="just">
              <a:lnSpc>
                <a:spcPct val="115000"/>
              </a:lnSpc>
              <a:spcBef>
                <a:spcPts val="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Distributed data handling increases the parallelism. That is, a number of queries can be handled simultaneously over multiple distributed server when compared to the central server approach.</a:t>
            </a:r>
            <a:endParaRPr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fa7491790d_0_30"/>
          <p:cNvSpPr txBox="1"/>
          <p:nvPr/>
        </p:nvSpPr>
        <p:spPr>
          <a:xfrm>
            <a:off x="195750" y="174000"/>
            <a:ext cx="11800500" cy="1304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400" u="sng">
                <a:solidFill>
                  <a:srgbClr val="FF9900"/>
                </a:solidFill>
                <a:highlight>
                  <a:srgbClr val="FFFFFF"/>
                </a:highlight>
                <a:latin typeface="Arial Rounded"/>
                <a:ea typeface="Arial Rounded"/>
                <a:cs typeface="Arial Rounded"/>
                <a:sym typeface="Arial Rounded"/>
              </a:rPr>
              <a:t>Components of Distributed DBMS Architecture</a:t>
            </a:r>
            <a:endParaRPr b="1" sz="2400" u="sng">
              <a:solidFill>
                <a:srgbClr val="FF9900"/>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t/>
            </a:r>
            <a:endParaRPr sz="2100">
              <a:solidFill>
                <a:srgbClr val="222222"/>
              </a:solidFill>
              <a:highlight>
                <a:srgbClr val="FFFFFF"/>
              </a:highlight>
              <a:latin typeface="Arial Rounded"/>
              <a:ea typeface="Arial Rounded"/>
              <a:cs typeface="Arial Rounded"/>
              <a:sym typeface="Arial Rounded"/>
            </a:endParaRPr>
          </a:p>
        </p:txBody>
      </p:sp>
      <p:pic>
        <p:nvPicPr>
          <p:cNvPr id="149" name="Google Shape;149;g2fa7491790d_0_30"/>
          <p:cNvPicPr preferRelativeResize="0"/>
          <p:nvPr/>
        </p:nvPicPr>
        <p:blipFill>
          <a:blip r:embed="rId3">
            <a:alphaModFix/>
          </a:blip>
          <a:stretch>
            <a:fillRect/>
          </a:stretch>
        </p:blipFill>
        <p:spPr>
          <a:xfrm>
            <a:off x="6082475" y="698225"/>
            <a:ext cx="5384575" cy="6023500"/>
          </a:xfrm>
          <a:prstGeom prst="rect">
            <a:avLst/>
          </a:prstGeom>
          <a:noFill/>
          <a:ln>
            <a:noFill/>
          </a:ln>
        </p:spPr>
      </p:pic>
      <p:sp>
        <p:nvSpPr>
          <p:cNvPr id="150" name="Google Shape;150;g2fa7491790d_0_30"/>
          <p:cNvSpPr txBox="1"/>
          <p:nvPr/>
        </p:nvSpPr>
        <p:spPr>
          <a:xfrm>
            <a:off x="0" y="927950"/>
            <a:ext cx="5508000" cy="3110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2100">
                <a:solidFill>
                  <a:srgbClr val="FF0000"/>
                </a:solidFill>
                <a:highlight>
                  <a:srgbClr val="FFFFFF"/>
                </a:highlight>
                <a:latin typeface="Arial Rounded"/>
                <a:ea typeface="Arial Rounded"/>
                <a:cs typeface="Arial Rounded"/>
                <a:sym typeface="Arial Rounded"/>
              </a:rPr>
              <a:t>User processor </a:t>
            </a:r>
            <a:r>
              <a:rPr lang="en-US" sz="2100">
                <a:solidFill>
                  <a:srgbClr val="222222"/>
                </a:solidFill>
                <a:highlight>
                  <a:srgbClr val="FFFFFF"/>
                </a:highlight>
                <a:latin typeface="Arial Rounded"/>
                <a:ea typeface="Arial Rounded"/>
                <a:cs typeface="Arial Rounded"/>
                <a:sym typeface="Arial Rounded"/>
              </a:rPr>
              <a:t>and </a:t>
            </a:r>
            <a:r>
              <a:rPr lang="en-US" sz="2100">
                <a:solidFill>
                  <a:srgbClr val="FF0000"/>
                </a:solidFill>
                <a:highlight>
                  <a:srgbClr val="FFFFFF"/>
                </a:highlight>
                <a:latin typeface="Arial Rounded"/>
                <a:ea typeface="Arial Rounded"/>
                <a:cs typeface="Arial Rounded"/>
                <a:sym typeface="Arial Rounded"/>
              </a:rPr>
              <a:t>Data processor </a:t>
            </a:r>
            <a:r>
              <a:rPr lang="en-US" sz="2100">
                <a:solidFill>
                  <a:srgbClr val="222222"/>
                </a:solidFill>
                <a:highlight>
                  <a:srgbClr val="FFFFFF"/>
                </a:highlight>
                <a:latin typeface="Arial Rounded"/>
                <a:ea typeface="Arial Rounded"/>
                <a:cs typeface="Arial Rounded"/>
                <a:sym typeface="Arial Rounded"/>
              </a:rPr>
              <a:t>are the two major components of Distributed DBMS architecture.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These major components handle different user requests using several sub-components in a </a:t>
            </a:r>
            <a:r>
              <a:rPr b="1" i="1" lang="en-US" sz="2100">
                <a:solidFill>
                  <a:srgbClr val="222222"/>
                </a:solidFill>
                <a:highlight>
                  <a:srgbClr val="FFFFFF"/>
                </a:highlight>
                <a:latin typeface="Arial Rounded"/>
                <a:ea typeface="Arial Rounded"/>
                <a:cs typeface="Arial Rounded"/>
                <a:sym typeface="Arial Rounded"/>
              </a:rPr>
              <a:t>Peer-to-Peer Distributed DBMS</a:t>
            </a:r>
            <a:r>
              <a:rPr lang="en-US" sz="2100">
                <a:solidFill>
                  <a:srgbClr val="222222"/>
                </a:solidFill>
                <a:highlight>
                  <a:srgbClr val="FFFFFF"/>
                </a:highlight>
                <a:latin typeface="Arial Rounded"/>
                <a:ea typeface="Arial Rounded"/>
                <a:cs typeface="Arial Rounded"/>
                <a:sym typeface="Arial Rounded"/>
              </a:rPr>
              <a:t>. Those are;</a:t>
            </a:r>
            <a:endParaRPr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fa7491790d_0_34"/>
          <p:cNvSpPr txBox="1"/>
          <p:nvPr/>
        </p:nvSpPr>
        <p:spPr>
          <a:xfrm>
            <a:off x="463950" y="241950"/>
            <a:ext cx="11539500" cy="6240300"/>
          </a:xfrm>
          <a:prstGeom prst="rect">
            <a:avLst/>
          </a:prstGeom>
          <a:noFill/>
          <a:ln>
            <a:noFill/>
          </a:ln>
        </p:spPr>
        <p:txBody>
          <a:bodyPr anchorCtr="0" anchor="t" bIns="91425" lIns="91425" spcFirstLastPara="1" rIns="91425" wrap="square" tIns="91425">
            <a:spAutoFit/>
          </a:bodyPr>
          <a:lstStyle/>
          <a:p>
            <a:pPr indent="-381000" lvl="0" marL="457200" rtl="0" algn="just">
              <a:lnSpc>
                <a:spcPct val="115000"/>
              </a:lnSpc>
              <a:spcBef>
                <a:spcPts val="0"/>
              </a:spcBef>
              <a:spcAft>
                <a:spcPts val="0"/>
              </a:spcAft>
              <a:buClr>
                <a:srgbClr val="FF0000"/>
              </a:buClr>
              <a:buSzPts val="2400"/>
              <a:buFont typeface="Arial Rounded"/>
              <a:buChar char="❖"/>
            </a:pPr>
            <a:r>
              <a:rPr b="1" lang="en-US" sz="2400">
                <a:solidFill>
                  <a:srgbClr val="FF0000"/>
                </a:solidFill>
                <a:highlight>
                  <a:srgbClr val="FFFFFF"/>
                </a:highlight>
                <a:latin typeface="Arial Rounded"/>
                <a:ea typeface="Arial Rounded"/>
                <a:cs typeface="Arial Rounded"/>
                <a:sym typeface="Arial Rounded"/>
              </a:rPr>
              <a:t>User Processor:</a:t>
            </a:r>
            <a:endParaRPr b="1" sz="2400">
              <a:solidFill>
                <a:srgbClr val="FF0000"/>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t/>
            </a:r>
            <a:endParaRPr b="1" sz="1500">
              <a:solidFill>
                <a:srgbClr val="FF0000"/>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500"/>
              </a:spcBef>
              <a:spcAft>
                <a:spcPts val="0"/>
              </a:spcAft>
              <a:buClr>
                <a:srgbClr val="222222"/>
              </a:buClr>
              <a:buSzPts val="2100"/>
              <a:buFont typeface="Arial Rounded"/>
              <a:buChar char="●"/>
            </a:pPr>
            <a:r>
              <a:rPr b="1" i="1" lang="en-US" sz="2100">
                <a:solidFill>
                  <a:srgbClr val="0000FF"/>
                </a:solidFill>
                <a:highlight>
                  <a:srgbClr val="FFFFFF"/>
                </a:highlight>
                <a:latin typeface="Arial Rounded"/>
                <a:ea typeface="Arial Rounded"/>
                <a:cs typeface="Arial Rounded"/>
                <a:sym typeface="Arial Rounded"/>
              </a:rPr>
              <a:t>User interface handler</a:t>
            </a:r>
            <a:r>
              <a:rPr lang="en-US" sz="2100">
                <a:solidFill>
                  <a:srgbClr val="0000FF"/>
                </a:solidFill>
                <a:highlight>
                  <a:srgbClr val="FFFFFF"/>
                </a:highlight>
                <a:latin typeface="Arial Rounded"/>
                <a:ea typeface="Arial Rounded"/>
                <a:cs typeface="Arial Rounded"/>
                <a:sym typeface="Arial Rounded"/>
              </a:rPr>
              <a:t> – </a:t>
            </a:r>
            <a:r>
              <a:rPr lang="en-US" sz="2100">
                <a:solidFill>
                  <a:srgbClr val="222222"/>
                </a:solidFill>
                <a:highlight>
                  <a:srgbClr val="FFFFFF"/>
                </a:highlight>
                <a:latin typeface="Arial Rounded"/>
                <a:ea typeface="Arial Rounded"/>
                <a:cs typeface="Arial Rounded"/>
                <a:sym typeface="Arial Rounded"/>
              </a:rPr>
              <a:t>interpreting user commands when they are given in, and formatting the result sets when the request is answered.</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Char char="●"/>
            </a:pPr>
            <a:r>
              <a:rPr b="1" i="1" lang="en-US" sz="2100">
                <a:solidFill>
                  <a:srgbClr val="0000FF"/>
                </a:solidFill>
                <a:highlight>
                  <a:srgbClr val="FFFFFF"/>
                </a:highlight>
                <a:latin typeface="Arial Rounded"/>
                <a:ea typeface="Arial Rounded"/>
                <a:cs typeface="Arial Rounded"/>
                <a:sym typeface="Arial Rounded"/>
              </a:rPr>
              <a:t>Semantic data controller</a:t>
            </a:r>
            <a:r>
              <a:rPr lang="en-US" sz="2100">
                <a:solidFill>
                  <a:srgbClr val="0000FF"/>
                </a:solidFill>
                <a:highlight>
                  <a:srgbClr val="FFFFFF"/>
                </a:highlight>
                <a:latin typeface="Arial Rounded"/>
                <a:ea typeface="Arial Rounded"/>
                <a:cs typeface="Arial Rounded"/>
                <a:sym typeface="Arial Rounded"/>
              </a:rPr>
              <a:t> –</a:t>
            </a:r>
            <a:r>
              <a:rPr lang="en-US" sz="2100">
                <a:solidFill>
                  <a:srgbClr val="222222"/>
                </a:solidFill>
                <a:highlight>
                  <a:srgbClr val="FFFFFF"/>
                </a:highlight>
                <a:latin typeface="Arial Rounded"/>
                <a:ea typeface="Arial Rounded"/>
                <a:cs typeface="Arial Rounded"/>
                <a:sym typeface="Arial Rounded"/>
              </a:rPr>
              <a:t> uses the Global Conceptual Schema to check the integrity constraints defined on database elements and also to check the authorizations on accessing the requested database.</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Char char="●"/>
            </a:pPr>
            <a:r>
              <a:rPr b="1" i="1" lang="en-US" sz="2100">
                <a:solidFill>
                  <a:srgbClr val="0000FF"/>
                </a:solidFill>
                <a:highlight>
                  <a:srgbClr val="FFFFFF"/>
                </a:highlight>
                <a:latin typeface="Arial Rounded"/>
                <a:ea typeface="Arial Rounded"/>
                <a:cs typeface="Arial Rounded"/>
                <a:sym typeface="Arial Rounded"/>
              </a:rPr>
              <a:t>Global query optimizer and decomposer </a:t>
            </a:r>
            <a:r>
              <a:rPr lang="en-US" sz="2100">
                <a:solidFill>
                  <a:srgbClr val="0000FF"/>
                </a:solidFill>
                <a:highlight>
                  <a:srgbClr val="FFFFFF"/>
                </a:highlight>
                <a:latin typeface="Arial Rounded"/>
                <a:ea typeface="Arial Rounded"/>
                <a:cs typeface="Arial Rounded"/>
                <a:sym typeface="Arial Rounded"/>
              </a:rPr>
              <a:t>– </a:t>
            </a:r>
            <a:r>
              <a:rPr lang="en-US" sz="2100">
                <a:solidFill>
                  <a:srgbClr val="222222"/>
                </a:solidFill>
                <a:highlight>
                  <a:srgbClr val="FFFFFF"/>
                </a:highlight>
                <a:latin typeface="Arial Rounded"/>
                <a:ea typeface="Arial Rounded"/>
                <a:cs typeface="Arial Rounded"/>
                <a:sym typeface="Arial Rounded"/>
              </a:rPr>
              <a:t>devises a best execution strategy to execute the given user requests in minimal cost (in terms of time, processor, memory). It is like Query Optimizer in Centralized database systems. Only exception is it has to devise a strategy which is globally optimal.</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Char char="●"/>
            </a:pPr>
            <a:r>
              <a:rPr b="1" i="1" lang="en-US" sz="2100">
                <a:solidFill>
                  <a:srgbClr val="0000FF"/>
                </a:solidFill>
                <a:highlight>
                  <a:srgbClr val="FFFFFF"/>
                </a:highlight>
                <a:latin typeface="Arial Rounded"/>
                <a:ea typeface="Arial Rounded"/>
                <a:cs typeface="Arial Rounded"/>
                <a:sym typeface="Arial Rounded"/>
              </a:rPr>
              <a:t>Distributed execution monitor</a:t>
            </a:r>
            <a:r>
              <a:rPr lang="en-US" sz="2100">
                <a:solidFill>
                  <a:srgbClr val="0000FF"/>
                </a:solidFill>
                <a:highlight>
                  <a:srgbClr val="FFFFFF"/>
                </a:highlight>
                <a:latin typeface="Arial Rounded"/>
                <a:ea typeface="Arial Rounded"/>
                <a:cs typeface="Arial Rounded"/>
                <a:sym typeface="Arial Rounded"/>
              </a:rPr>
              <a:t> – </a:t>
            </a:r>
            <a:r>
              <a:rPr lang="en-US" sz="2100">
                <a:solidFill>
                  <a:srgbClr val="222222"/>
                </a:solidFill>
                <a:highlight>
                  <a:srgbClr val="FFFFFF"/>
                </a:highlight>
                <a:latin typeface="Arial Rounded"/>
                <a:ea typeface="Arial Rounded"/>
                <a:cs typeface="Arial Rounded"/>
                <a:sym typeface="Arial Rounded"/>
              </a:rPr>
              <a:t>it is the Transaction manager. The Transaction managers of various sites that are participated in a query execution communicate with each other as part of execution monitoring.</a:t>
            </a:r>
            <a:endParaRPr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fa7491790d_0_47"/>
          <p:cNvSpPr txBox="1"/>
          <p:nvPr/>
        </p:nvSpPr>
        <p:spPr>
          <a:xfrm>
            <a:off x="456750" y="724950"/>
            <a:ext cx="11278500" cy="5787900"/>
          </a:xfrm>
          <a:prstGeom prst="rect">
            <a:avLst/>
          </a:prstGeom>
          <a:noFill/>
          <a:ln>
            <a:noFill/>
          </a:ln>
        </p:spPr>
        <p:txBody>
          <a:bodyPr anchorCtr="0" anchor="t" bIns="91425" lIns="91425" spcFirstLastPara="1" rIns="91425" wrap="square" tIns="91425">
            <a:spAutoFit/>
          </a:bodyPr>
          <a:lstStyle/>
          <a:p>
            <a:pPr indent="-381000" lvl="0" marL="457200" rtl="0" algn="just">
              <a:lnSpc>
                <a:spcPct val="115000"/>
              </a:lnSpc>
              <a:spcBef>
                <a:spcPts val="0"/>
              </a:spcBef>
              <a:spcAft>
                <a:spcPts val="0"/>
              </a:spcAft>
              <a:buClr>
                <a:srgbClr val="FF0000"/>
              </a:buClr>
              <a:buSzPts val="2400"/>
              <a:buFont typeface="Arial Rounded"/>
              <a:buChar char="❖"/>
            </a:pPr>
            <a:r>
              <a:rPr b="1" lang="en-US" sz="2400">
                <a:solidFill>
                  <a:srgbClr val="FF0000"/>
                </a:solidFill>
                <a:highlight>
                  <a:srgbClr val="FFFFFF"/>
                </a:highlight>
                <a:latin typeface="Arial Rounded"/>
                <a:ea typeface="Arial Rounded"/>
                <a:cs typeface="Arial Rounded"/>
                <a:sym typeface="Arial Rounded"/>
              </a:rPr>
              <a:t>Data Processor:</a:t>
            </a:r>
            <a:endParaRPr b="1" sz="2400">
              <a:solidFill>
                <a:srgbClr val="FF0000"/>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t/>
            </a:r>
            <a:endParaRPr b="1" sz="1500">
              <a:solidFill>
                <a:srgbClr val="FF0000"/>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500"/>
              </a:spcBef>
              <a:spcAft>
                <a:spcPts val="0"/>
              </a:spcAft>
              <a:buClr>
                <a:srgbClr val="222222"/>
              </a:buClr>
              <a:buSzPts val="2100"/>
              <a:buChar char="●"/>
            </a:pPr>
            <a:r>
              <a:rPr b="1" i="1" lang="en-US" sz="2100">
                <a:solidFill>
                  <a:srgbClr val="0000FF"/>
                </a:solidFill>
                <a:highlight>
                  <a:srgbClr val="FFFFFF"/>
                </a:highlight>
                <a:latin typeface="Arial Rounded"/>
                <a:ea typeface="Arial Rounded"/>
                <a:cs typeface="Arial Rounded"/>
                <a:sym typeface="Arial Rounded"/>
              </a:rPr>
              <a:t>Local query optimizer</a:t>
            </a:r>
            <a:r>
              <a:rPr lang="en-US" sz="2100">
                <a:solidFill>
                  <a:srgbClr val="0000FF"/>
                </a:solidFill>
                <a:highlight>
                  <a:srgbClr val="FFFFFF"/>
                </a:highlight>
                <a:latin typeface="Arial Rounded"/>
                <a:ea typeface="Arial Rounded"/>
                <a:cs typeface="Arial Rounded"/>
                <a:sym typeface="Arial Rounded"/>
              </a:rPr>
              <a:t> – </a:t>
            </a:r>
            <a:r>
              <a:rPr lang="en-US" sz="2100">
                <a:solidFill>
                  <a:srgbClr val="222222"/>
                </a:solidFill>
                <a:highlight>
                  <a:srgbClr val="FFFFFF"/>
                </a:highlight>
                <a:latin typeface="Arial Rounded"/>
                <a:ea typeface="Arial Rounded"/>
                <a:cs typeface="Arial Rounded"/>
                <a:sym typeface="Arial Rounded"/>
              </a:rPr>
              <a:t>it optimizes data access by choosing the best access path. For example, Local query optimizer decides which index to be used for optimally executing the given query.</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Char char="●"/>
            </a:pPr>
            <a:r>
              <a:rPr b="1" i="1" lang="en-US" sz="2100">
                <a:solidFill>
                  <a:srgbClr val="0000FF"/>
                </a:solidFill>
                <a:highlight>
                  <a:srgbClr val="FFFFFF"/>
                </a:highlight>
                <a:latin typeface="Arial Rounded"/>
                <a:ea typeface="Arial Rounded"/>
                <a:cs typeface="Arial Rounded"/>
                <a:sym typeface="Arial Rounded"/>
              </a:rPr>
              <a:t>Local recovery manager</a:t>
            </a:r>
            <a:r>
              <a:rPr lang="en-US" sz="2100">
                <a:solidFill>
                  <a:srgbClr val="0000FF"/>
                </a:solidFill>
                <a:highlight>
                  <a:srgbClr val="FFFFFF"/>
                </a:highlight>
                <a:latin typeface="Arial Rounded"/>
                <a:ea typeface="Arial Rounded"/>
                <a:cs typeface="Arial Rounded"/>
                <a:sym typeface="Arial Rounded"/>
              </a:rPr>
              <a:t> – </a:t>
            </a:r>
            <a:r>
              <a:rPr lang="en-US" sz="2100">
                <a:solidFill>
                  <a:srgbClr val="222222"/>
                </a:solidFill>
                <a:highlight>
                  <a:srgbClr val="FFFFFF"/>
                </a:highlight>
                <a:latin typeface="Arial Rounded"/>
                <a:ea typeface="Arial Rounded"/>
                <a:cs typeface="Arial Rounded"/>
                <a:sym typeface="Arial Rounded"/>
              </a:rPr>
              <a:t>deals with the consistency of the local database. In case of failure, local recovery manager is responsible for maintaining a consistent database.</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Char char="●"/>
            </a:pPr>
            <a:r>
              <a:rPr b="1" i="1" lang="en-US" sz="2100">
                <a:solidFill>
                  <a:srgbClr val="0000FF"/>
                </a:solidFill>
                <a:highlight>
                  <a:srgbClr val="FFFFFF"/>
                </a:highlight>
                <a:latin typeface="Arial Rounded"/>
                <a:ea typeface="Arial Rounded"/>
                <a:cs typeface="Arial Rounded"/>
                <a:sym typeface="Arial Rounded"/>
              </a:rPr>
              <a:t>Run-time support processor</a:t>
            </a:r>
            <a:r>
              <a:rPr lang="en-US" sz="2100">
                <a:solidFill>
                  <a:srgbClr val="0000FF"/>
                </a:solidFill>
                <a:highlight>
                  <a:srgbClr val="FFFFFF"/>
                </a:highlight>
                <a:latin typeface="Arial Rounded"/>
                <a:ea typeface="Arial Rounded"/>
                <a:cs typeface="Arial Rounded"/>
                <a:sym typeface="Arial Rounded"/>
              </a:rPr>
              <a:t> –</a:t>
            </a:r>
            <a:r>
              <a:rPr lang="en-US" sz="2100">
                <a:solidFill>
                  <a:srgbClr val="222222"/>
                </a:solidFill>
                <a:highlight>
                  <a:srgbClr val="FFFFFF"/>
                </a:highlight>
                <a:latin typeface="Arial Rounded"/>
                <a:ea typeface="Arial Rounded"/>
                <a:cs typeface="Arial Rounded"/>
                <a:sym typeface="Arial Rounded"/>
              </a:rPr>
              <a:t> it accesses the database physically according to the strategy suggested by the local query optimizer. The run-time support processor is the interface to the operating system and contains the database buffer (or cache) manager, which is responsible for maintaining the main memory buffers and managing the data accesses.</a:t>
            </a:r>
            <a:endParaRPr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fa7491790d_0_54"/>
          <p:cNvSpPr txBox="1"/>
          <p:nvPr/>
        </p:nvSpPr>
        <p:spPr>
          <a:xfrm>
            <a:off x="116000" y="159500"/>
            <a:ext cx="11844000" cy="5983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400" u="sng">
                <a:solidFill>
                  <a:srgbClr val="FF9900"/>
                </a:solidFill>
                <a:highlight>
                  <a:srgbClr val="FFFFFF"/>
                </a:highlight>
                <a:latin typeface="Arial Rounded"/>
                <a:ea typeface="Arial Rounded"/>
                <a:cs typeface="Arial Rounded"/>
                <a:sym typeface="Arial Rounded"/>
              </a:rPr>
              <a:t>Important considerations in distributed database over Centralized database</a:t>
            </a:r>
            <a:endParaRPr b="1" sz="2400" u="sng">
              <a:solidFill>
                <a:srgbClr val="FF9900"/>
              </a:solidFill>
              <a:highlight>
                <a:srgbClr val="FFFFFF"/>
              </a:highlight>
              <a:latin typeface="Arial Rounded"/>
              <a:ea typeface="Arial Rounded"/>
              <a:cs typeface="Arial Rounded"/>
              <a:sym typeface="Arial Rounded"/>
            </a:endParaRPr>
          </a:p>
          <a:p>
            <a:pPr indent="0" lvl="0" marL="0" rtl="0" algn="l">
              <a:lnSpc>
                <a:spcPct val="115000"/>
              </a:lnSpc>
              <a:spcBef>
                <a:spcPts val="0"/>
              </a:spcBef>
              <a:spcAft>
                <a:spcPts val="0"/>
              </a:spcAft>
              <a:buNone/>
            </a:pPr>
            <a:r>
              <a:t/>
            </a:r>
            <a:endParaRPr b="1"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When compared to the centralized database system, the distributed database system should be capable of or should have the following things.</a:t>
            </a:r>
            <a:endParaRPr sz="2100">
              <a:solidFill>
                <a:srgbClr val="222222"/>
              </a:solidFill>
              <a:highlight>
                <a:srgbClr val="FFFFFF"/>
              </a:highlight>
              <a:latin typeface="Arial Rounded"/>
              <a:ea typeface="Arial Rounded"/>
              <a:cs typeface="Arial Rounded"/>
              <a:sym typeface="Arial Rounded"/>
            </a:endParaRPr>
          </a:p>
          <a:p>
            <a:pPr indent="-361950" lvl="0" marL="457200" rtl="0" algn="just">
              <a:lnSpc>
                <a:spcPct val="115000"/>
              </a:lnSpc>
              <a:spcBef>
                <a:spcPts val="1000"/>
              </a:spcBef>
              <a:spcAft>
                <a:spcPts val="0"/>
              </a:spcAft>
              <a:buClr>
                <a:srgbClr val="222222"/>
              </a:buClr>
              <a:buSzPts val="2100"/>
              <a:buFont typeface="Arial Rounded"/>
              <a:buAutoNum type="arabicPeriod"/>
            </a:pPr>
            <a:r>
              <a:rPr lang="en-US" sz="2100">
                <a:solidFill>
                  <a:srgbClr val="FF0000"/>
                </a:solidFill>
                <a:highlight>
                  <a:srgbClr val="FFFFFF"/>
                </a:highlight>
                <a:latin typeface="Arial Rounded"/>
                <a:ea typeface="Arial Rounded"/>
                <a:cs typeface="Arial Rounded"/>
                <a:sym typeface="Arial Rounded"/>
              </a:rPr>
              <a:t>Data allocation - </a:t>
            </a:r>
            <a:r>
              <a:rPr lang="en-US" sz="2100">
                <a:solidFill>
                  <a:srgbClr val="222222"/>
                </a:solidFill>
                <a:highlight>
                  <a:srgbClr val="FFFFFF"/>
                </a:highlight>
                <a:latin typeface="Arial Rounded"/>
                <a:ea typeface="Arial Rounded"/>
                <a:cs typeface="Arial Rounded"/>
                <a:sym typeface="Arial Rounded"/>
              </a:rPr>
              <a:t>We need to know the answers for the following questions; What to store? Where to store? and How to store?</a:t>
            </a:r>
            <a:endParaRPr sz="2100">
              <a:solidFill>
                <a:srgbClr val="222222"/>
              </a:solidFill>
              <a:highlight>
                <a:srgbClr val="FFFFFF"/>
              </a:highlight>
              <a:latin typeface="Arial Rounded"/>
              <a:ea typeface="Arial Rounded"/>
              <a:cs typeface="Arial Rounded"/>
              <a:sym typeface="Arial Rounded"/>
            </a:endParaRPr>
          </a:p>
          <a:p>
            <a:pPr indent="0" lvl="0" marL="0" rtl="0" algn="l">
              <a:lnSpc>
                <a:spcPct val="115000"/>
              </a:lnSpc>
              <a:spcBef>
                <a:spcPts val="1300"/>
              </a:spcBef>
              <a:spcAft>
                <a:spcPts val="0"/>
              </a:spcAft>
              <a:buNone/>
            </a:pPr>
            <a:r>
              <a:t/>
            </a:r>
            <a:endParaRPr sz="2100">
              <a:solidFill>
                <a:srgbClr val="FF0000"/>
              </a:solidFill>
              <a:highlight>
                <a:srgbClr val="FFFFFF"/>
              </a:highlight>
              <a:latin typeface="Arial Rounded"/>
              <a:ea typeface="Arial Rounded"/>
              <a:cs typeface="Arial Rounded"/>
              <a:sym typeface="Arial Rounded"/>
            </a:endParaRPr>
          </a:p>
          <a:p>
            <a:pPr indent="-361950" lvl="0" marL="457200" rtl="0" algn="l">
              <a:lnSpc>
                <a:spcPct val="115000"/>
              </a:lnSpc>
              <a:spcBef>
                <a:spcPts val="1300"/>
              </a:spcBef>
              <a:spcAft>
                <a:spcPts val="0"/>
              </a:spcAft>
              <a:buClr>
                <a:srgbClr val="222222"/>
              </a:buClr>
              <a:buSzPts val="2100"/>
              <a:buFont typeface="Arial Rounded"/>
              <a:buAutoNum type="arabicPeriod"/>
            </a:pPr>
            <a:r>
              <a:rPr lang="en-US" sz="2100">
                <a:solidFill>
                  <a:srgbClr val="FF0000"/>
                </a:solidFill>
                <a:highlight>
                  <a:srgbClr val="FFFFFF"/>
                </a:highlight>
                <a:latin typeface="Arial Rounded"/>
                <a:ea typeface="Arial Rounded"/>
                <a:cs typeface="Arial Rounded"/>
                <a:sym typeface="Arial Rounded"/>
              </a:rPr>
              <a:t>Data fragmentation - </a:t>
            </a:r>
            <a:r>
              <a:rPr lang="en-US" sz="2100">
                <a:solidFill>
                  <a:srgbClr val="222222"/>
                </a:solidFill>
                <a:highlight>
                  <a:srgbClr val="FFFFFF"/>
                </a:highlight>
                <a:latin typeface="Arial Rounded"/>
                <a:ea typeface="Arial Rounded"/>
                <a:cs typeface="Arial Rounded"/>
                <a:sym typeface="Arial Rounded"/>
              </a:rPr>
              <a:t>It is about, How one should organize the data?</a:t>
            </a:r>
            <a:endParaRPr sz="2100">
              <a:solidFill>
                <a:srgbClr val="222222"/>
              </a:solidFill>
              <a:highlight>
                <a:srgbClr val="FFFFFF"/>
              </a:highlight>
              <a:latin typeface="Arial Rounded"/>
              <a:ea typeface="Arial Rounded"/>
              <a:cs typeface="Arial Rounded"/>
              <a:sym typeface="Arial Rounded"/>
            </a:endParaRPr>
          </a:p>
          <a:p>
            <a:pPr indent="0" lvl="0" marL="457200" rtl="0" algn="just">
              <a:lnSpc>
                <a:spcPct val="115000"/>
              </a:lnSpc>
              <a:spcBef>
                <a:spcPts val="1300"/>
              </a:spcBef>
              <a:spcAft>
                <a:spcPts val="0"/>
              </a:spcAft>
              <a:buNone/>
            </a:pPr>
            <a:r>
              <a:t/>
            </a:r>
            <a:endParaRPr sz="2100">
              <a:solidFill>
                <a:srgbClr val="FF0000"/>
              </a:solidFill>
              <a:highlight>
                <a:srgbClr val="FFFFFF"/>
              </a:highlight>
              <a:latin typeface="Arial Rounded"/>
              <a:ea typeface="Arial Rounded"/>
              <a:cs typeface="Arial Rounded"/>
              <a:sym typeface="Arial Rounded"/>
            </a:endParaRPr>
          </a:p>
          <a:p>
            <a:pPr indent="-361950" lvl="0" marL="457200" rtl="0" algn="just">
              <a:lnSpc>
                <a:spcPct val="115000"/>
              </a:lnSpc>
              <a:spcBef>
                <a:spcPts val="1300"/>
              </a:spcBef>
              <a:spcAft>
                <a:spcPts val="0"/>
              </a:spcAft>
              <a:buClr>
                <a:srgbClr val="222222"/>
              </a:buClr>
              <a:buSzPts val="2100"/>
              <a:buFont typeface="Arial Rounded"/>
              <a:buAutoNum type="arabicPeriod"/>
            </a:pPr>
            <a:r>
              <a:rPr lang="en-US" sz="2100">
                <a:solidFill>
                  <a:srgbClr val="FF0000"/>
                </a:solidFill>
                <a:highlight>
                  <a:srgbClr val="FFFFFF"/>
                </a:highlight>
                <a:latin typeface="Arial Rounded"/>
                <a:ea typeface="Arial Rounded"/>
                <a:cs typeface="Arial Rounded"/>
                <a:sym typeface="Arial Rounded"/>
              </a:rPr>
              <a:t>Distributed queries and transactions -</a:t>
            </a:r>
            <a:r>
              <a:rPr lang="en-US" sz="2100">
                <a:solidFill>
                  <a:srgbClr val="222222"/>
                </a:solidFill>
                <a:highlight>
                  <a:srgbClr val="FFFFFF"/>
                </a:highlight>
                <a:latin typeface="Arial Rounded"/>
                <a:ea typeface="Arial Rounded"/>
                <a:cs typeface="Arial Rounded"/>
                <a:sym typeface="Arial Rounded"/>
              </a:rPr>
              <a:t> We must find a way to handle the data using queries and to handle transactions which are happening in multiple distributed sites (Here site means a server).</a:t>
            </a:r>
            <a:endParaRPr sz="2100">
              <a:solidFill>
                <a:srgbClr val="222222"/>
              </a:solidFill>
              <a:highlight>
                <a:srgbClr val="FFFFFF"/>
              </a:highlight>
              <a:latin typeface="Arial Rounded"/>
              <a:ea typeface="Arial Rounded"/>
              <a:cs typeface="Arial Rounded"/>
              <a:sym typeface="Arial Rounded"/>
            </a:endParaRPr>
          </a:p>
          <a:p>
            <a:pPr indent="0" lvl="0" marL="0" rtl="0" algn="l">
              <a:lnSpc>
                <a:spcPct val="115000"/>
              </a:lnSpc>
              <a:spcBef>
                <a:spcPts val="1300"/>
              </a:spcBef>
              <a:spcAft>
                <a:spcPts val="0"/>
              </a:spcAft>
              <a:buNone/>
            </a:pPr>
            <a:r>
              <a:t/>
            </a:r>
            <a:endParaRPr b="1"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fa7491790d_0_62"/>
          <p:cNvSpPr txBox="1"/>
          <p:nvPr/>
        </p:nvSpPr>
        <p:spPr>
          <a:xfrm>
            <a:off x="275475" y="101500"/>
            <a:ext cx="11727900" cy="665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400">
                <a:solidFill>
                  <a:srgbClr val="FF0000"/>
                </a:solidFill>
                <a:highlight>
                  <a:srgbClr val="FFFFFF"/>
                </a:highlight>
                <a:latin typeface="Arial Rounded"/>
                <a:ea typeface="Arial Rounded"/>
                <a:cs typeface="Arial Rounded"/>
                <a:sym typeface="Arial Rounded"/>
              </a:rPr>
              <a:t>1. Data allocation</a:t>
            </a:r>
            <a:endParaRPr b="1" sz="2400">
              <a:solidFill>
                <a:srgbClr val="FF0000"/>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Data allocation deals with the establishment of servers and maintenance of data in any locations. Data allocation strategies can be made by keeping the following things in mind;</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50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The data should be available in or near a site where it is needed most.</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The storage of data in a site should increase the availability and reliability of data.</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just">
              <a:lnSpc>
                <a:spcPct val="14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The strategy chosen for data allocation should increase the performance. That is, some of the drawbacks like bottleneck problem of central server concept or limited usability of data should be avoided.</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The idea should reduce the cost involved in storage and manipulation of data</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just">
              <a:lnSpc>
                <a:spcPct val="14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There should be a much reduced traffic or utilization of network. It should also ensure that there should never be a unnecessary use of network provided the data available near.</a:t>
            </a:r>
            <a:endParaRPr sz="2100">
              <a:solidFill>
                <a:srgbClr val="222222"/>
              </a:solidFill>
              <a:highlight>
                <a:srgbClr val="FFFFFF"/>
              </a:highlight>
              <a:latin typeface="Arial Rounded"/>
              <a:ea typeface="Arial Rounded"/>
              <a:cs typeface="Arial Rounded"/>
              <a:sym typeface="Arial Rounded"/>
            </a:endParaRPr>
          </a:p>
          <a:p>
            <a:pPr indent="0" lvl="0" marL="0" rtl="0" algn="l">
              <a:lnSpc>
                <a:spcPct val="115000"/>
              </a:lnSpc>
              <a:spcBef>
                <a:spcPts val="800"/>
              </a:spcBef>
              <a:spcAft>
                <a:spcPts val="0"/>
              </a:spcAft>
              <a:buNone/>
            </a:pPr>
            <a:r>
              <a:rPr lang="en-US" sz="2100">
                <a:solidFill>
                  <a:srgbClr val="222222"/>
                </a:solidFill>
                <a:highlight>
                  <a:srgbClr val="FFFFFF"/>
                </a:highlight>
                <a:latin typeface="Arial Rounded"/>
                <a:ea typeface="Arial Rounded"/>
                <a:cs typeface="Arial Rounded"/>
                <a:sym typeface="Arial Rounded"/>
              </a:rPr>
              <a:t>As a whole, data allocation deals with the where to keep the fragmented or replicated data for ease of access.</a:t>
            </a:r>
            <a:endParaRPr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2fa7491790d_0_66"/>
          <p:cNvSpPr txBox="1"/>
          <p:nvPr/>
        </p:nvSpPr>
        <p:spPr>
          <a:xfrm>
            <a:off x="188475" y="275500"/>
            <a:ext cx="11786100" cy="626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400">
                <a:solidFill>
                  <a:srgbClr val="FF0000"/>
                </a:solidFill>
                <a:highlight>
                  <a:srgbClr val="FFFFFF"/>
                </a:highlight>
                <a:latin typeface="Arial Rounded"/>
                <a:ea typeface="Arial Rounded"/>
                <a:cs typeface="Arial Rounded"/>
                <a:sym typeface="Arial Rounded"/>
              </a:rPr>
              <a:t>2. Data fragmentation</a:t>
            </a:r>
            <a:endParaRPr b="1" sz="2400">
              <a:solidFill>
                <a:srgbClr val="FF0000"/>
              </a:solidFill>
              <a:highlight>
                <a:srgbClr val="FFFFFF"/>
              </a:highlight>
              <a:latin typeface="Arial Rounded"/>
              <a:ea typeface="Arial Rounded"/>
              <a:cs typeface="Arial Rounded"/>
              <a:sym typeface="Arial Rounded"/>
            </a:endParaRPr>
          </a:p>
          <a:p>
            <a:pPr indent="0" lvl="0" marL="0" rtl="0" algn="l">
              <a:lnSpc>
                <a:spcPct val="115000"/>
              </a:lnSpc>
              <a:spcBef>
                <a:spcPts val="0"/>
              </a:spcBef>
              <a:spcAft>
                <a:spcPts val="0"/>
              </a:spcAft>
              <a:buNone/>
            </a:pPr>
            <a:r>
              <a:t/>
            </a:r>
            <a:endParaRPr sz="2100">
              <a:solidFill>
                <a:schemeClr val="dk1"/>
              </a:solidFill>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Data fragmentation is about how to break a table into fragments?, how many fragments need to be created? A table can be fragmented based on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a) what are the frequent applications accesses the data?,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b) what conditions are frequently used to access the data?, and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c) what is the simplest way of maintaining the table schema at any locations?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Here, the questions (a) and (b) mean the attributes and their values used for accessing a table frequently. For example, for the query "SELECT * FROM student WHERE campus='Mumbai'", campus='Mumbai' is the attribute name and value combination</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0"/>
              </a:spcBef>
              <a:spcAft>
                <a:spcPts val="0"/>
              </a:spcAft>
              <a:buNone/>
            </a:pPr>
            <a:r>
              <a:rPr b="1" lang="en-US" sz="2100">
                <a:solidFill>
                  <a:srgbClr val="222222"/>
                </a:solidFill>
                <a:highlight>
                  <a:srgbClr val="FFFFFF"/>
                </a:highlight>
                <a:latin typeface="Arial Rounded"/>
                <a:ea typeface="Arial Rounded"/>
                <a:cs typeface="Arial Rounded"/>
                <a:sym typeface="Arial Rounded"/>
              </a:rPr>
              <a:t>Fragmentation is of two major types;</a:t>
            </a:r>
            <a:endParaRPr b="1" sz="2100">
              <a:solidFill>
                <a:srgbClr val="222222"/>
              </a:solidFill>
              <a:highlight>
                <a:srgbClr val="FFFFFF"/>
              </a:highlight>
              <a:latin typeface="Arial Rounded"/>
              <a:ea typeface="Arial Rounded"/>
              <a:cs typeface="Arial Rounded"/>
              <a:sym typeface="Arial Rounded"/>
            </a:endParaRPr>
          </a:p>
          <a:p>
            <a:pPr indent="-361950" lvl="0" marL="457200" rtl="0" algn="l">
              <a:lnSpc>
                <a:spcPct val="115000"/>
              </a:lnSpc>
              <a:spcBef>
                <a:spcPts val="1000"/>
              </a:spcBef>
              <a:spcAft>
                <a:spcPts val="0"/>
              </a:spcAft>
              <a:buClr>
                <a:srgbClr val="0000FF"/>
              </a:buClr>
              <a:buSzPts val="2100"/>
              <a:buFont typeface="Arial Rounded"/>
              <a:buAutoNum type="arabicPeriod"/>
            </a:pPr>
            <a:r>
              <a:rPr lang="en-US" sz="2100">
                <a:solidFill>
                  <a:srgbClr val="0000FF"/>
                </a:solidFill>
                <a:highlight>
                  <a:srgbClr val="FFFFFF"/>
                </a:highlight>
                <a:latin typeface="Arial Rounded"/>
                <a:ea typeface="Arial Rounded"/>
                <a:cs typeface="Arial Rounded"/>
                <a:sym typeface="Arial Rounded"/>
              </a:rPr>
              <a:t>Horizontal fragmentation</a:t>
            </a:r>
            <a:endParaRPr sz="2100">
              <a:solidFill>
                <a:srgbClr val="0000FF"/>
              </a:solidFill>
              <a:highlight>
                <a:srgbClr val="FFFFFF"/>
              </a:highlight>
              <a:latin typeface="Arial Rounded"/>
              <a:ea typeface="Arial Rounded"/>
              <a:cs typeface="Arial Rounded"/>
              <a:sym typeface="Arial Rounded"/>
            </a:endParaRPr>
          </a:p>
          <a:p>
            <a:pPr indent="-361950" lvl="1" marL="914400" rtl="0" algn="l">
              <a:lnSpc>
                <a:spcPct val="115000"/>
              </a:lnSpc>
              <a:spcBef>
                <a:spcPts val="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Primary Horizontal fragmentation</a:t>
            </a:r>
            <a:endParaRPr sz="2100">
              <a:solidFill>
                <a:srgbClr val="222222"/>
              </a:solidFill>
              <a:highlight>
                <a:srgbClr val="FFFFFF"/>
              </a:highlight>
              <a:latin typeface="Arial Rounded"/>
              <a:ea typeface="Arial Rounded"/>
              <a:cs typeface="Arial Rounded"/>
              <a:sym typeface="Arial Rounded"/>
            </a:endParaRPr>
          </a:p>
          <a:p>
            <a:pPr indent="-361950" lvl="1" marL="914400" rtl="0" algn="l">
              <a:lnSpc>
                <a:spcPct val="115000"/>
              </a:lnSpc>
              <a:spcBef>
                <a:spcPts val="0"/>
              </a:spcBef>
              <a:spcAft>
                <a:spcPts val="0"/>
              </a:spcAft>
              <a:buClr>
                <a:srgbClr val="222222"/>
              </a:buClr>
              <a:buSzPts val="2100"/>
              <a:buFont typeface="Arial Rounded"/>
              <a:buAutoNum type="arabicPeriod"/>
            </a:pPr>
            <a:r>
              <a:rPr lang="en-US" sz="2100">
                <a:solidFill>
                  <a:srgbClr val="222222"/>
                </a:solidFill>
                <a:highlight>
                  <a:srgbClr val="FFFFFF"/>
                </a:highlight>
                <a:latin typeface="Arial Rounded"/>
                <a:ea typeface="Arial Rounded"/>
                <a:cs typeface="Arial Rounded"/>
                <a:sym typeface="Arial Rounded"/>
              </a:rPr>
              <a:t>Derived Horizontal fragmentation</a:t>
            </a:r>
            <a:endParaRPr sz="2100">
              <a:solidFill>
                <a:srgbClr val="222222"/>
              </a:solidFill>
              <a:highlight>
                <a:srgbClr val="FFFFFF"/>
              </a:highlight>
              <a:latin typeface="Arial Rounded"/>
              <a:ea typeface="Arial Rounded"/>
              <a:cs typeface="Arial Rounded"/>
              <a:sym typeface="Arial Rounded"/>
            </a:endParaRPr>
          </a:p>
          <a:p>
            <a:pPr indent="-361950" lvl="0" marL="457200" rtl="0" algn="l">
              <a:lnSpc>
                <a:spcPct val="115000"/>
              </a:lnSpc>
              <a:spcBef>
                <a:spcPts val="0"/>
              </a:spcBef>
              <a:spcAft>
                <a:spcPts val="0"/>
              </a:spcAft>
              <a:buClr>
                <a:srgbClr val="0000FF"/>
              </a:buClr>
              <a:buSzPts val="2100"/>
              <a:buFont typeface="Arial Rounded"/>
              <a:buAutoNum type="arabicPeriod"/>
            </a:pPr>
            <a:r>
              <a:rPr lang="en-US" sz="2100">
                <a:solidFill>
                  <a:srgbClr val="0000FF"/>
                </a:solidFill>
                <a:highlight>
                  <a:srgbClr val="FFFFFF"/>
                </a:highlight>
                <a:latin typeface="Arial Rounded"/>
                <a:ea typeface="Arial Rounded"/>
                <a:cs typeface="Arial Rounded"/>
                <a:sym typeface="Arial Rounded"/>
              </a:rPr>
              <a:t>Vertical fragmentation</a:t>
            </a:r>
            <a:endParaRPr sz="2100">
              <a:solidFill>
                <a:srgbClr val="0000FF"/>
              </a:solidFill>
              <a:highlight>
                <a:srgbClr val="FFFFFF"/>
              </a:highlight>
              <a:latin typeface="Arial Rounded"/>
              <a:ea typeface="Arial Rounded"/>
              <a:cs typeface="Arial Rounded"/>
              <a:sym typeface="Arial Round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fa7491790d_0_70"/>
          <p:cNvSpPr txBox="1"/>
          <p:nvPr/>
        </p:nvSpPr>
        <p:spPr>
          <a:xfrm>
            <a:off x="159475" y="318975"/>
            <a:ext cx="11626500" cy="463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100">
                <a:solidFill>
                  <a:srgbClr val="FF0000"/>
                </a:solidFill>
                <a:highlight>
                  <a:srgbClr val="FFFFFF"/>
                </a:highlight>
                <a:latin typeface="Arial Rounded"/>
                <a:ea typeface="Arial Rounded"/>
                <a:cs typeface="Arial Rounded"/>
                <a:sym typeface="Arial Rounded"/>
              </a:rPr>
              <a:t>3. Distributed queries and Transactions</a:t>
            </a:r>
            <a:endParaRPr b="1" sz="2100">
              <a:solidFill>
                <a:srgbClr val="FF0000"/>
              </a:solidFill>
              <a:highlight>
                <a:srgbClr val="FFFFFF"/>
              </a:highlight>
              <a:latin typeface="Arial Rounded"/>
              <a:ea typeface="Arial Rounded"/>
              <a:cs typeface="Arial Rounded"/>
              <a:sym typeface="Arial Rounded"/>
            </a:endParaRPr>
          </a:p>
          <a:p>
            <a:pPr indent="0" lvl="0" marL="0" rtl="0" algn="l">
              <a:lnSpc>
                <a:spcPct val="115000"/>
              </a:lnSpc>
              <a:spcBef>
                <a:spcPts val="0"/>
              </a:spcBef>
              <a:spcAft>
                <a:spcPts val="0"/>
              </a:spcAft>
              <a:buNone/>
            </a:pPr>
            <a:r>
              <a:t/>
            </a:r>
            <a:endParaRPr sz="2100">
              <a:solidFill>
                <a:schemeClr val="dk1"/>
              </a:solidFill>
              <a:latin typeface="Arial Rounded"/>
              <a:ea typeface="Arial Rounded"/>
              <a:cs typeface="Arial Rounded"/>
              <a:sym typeface="Arial Rounded"/>
            </a:endParaRPr>
          </a:p>
          <a:p>
            <a:pPr indent="0" lvl="0" marL="0" rtl="0" algn="just">
              <a:lnSpc>
                <a:spcPct val="115000"/>
              </a:lnSpc>
              <a:spcBef>
                <a:spcPts val="0"/>
              </a:spcBef>
              <a:spcAft>
                <a:spcPts val="0"/>
              </a:spcAft>
              <a:buNone/>
            </a:pPr>
            <a:r>
              <a:rPr lang="en-US" sz="2100">
                <a:solidFill>
                  <a:srgbClr val="222222"/>
                </a:solidFill>
                <a:highlight>
                  <a:srgbClr val="FFFFFF"/>
                </a:highlight>
                <a:latin typeface="Arial Rounded"/>
                <a:ea typeface="Arial Rounded"/>
                <a:cs typeface="Arial Rounded"/>
                <a:sym typeface="Arial Rounded"/>
              </a:rPr>
              <a:t>When the data are fragmented or replicated and distributed over many sites in the network, then retrieval of the data involves the following;</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50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The identification of the location of requested data,</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A protocol to fetch the data, and</a:t>
            </a:r>
            <a:endParaRPr sz="2100">
              <a:solidFill>
                <a:srgbClr val="222222"/>
              </a:solidFill>
              <a:highlight>
                <a:srgbClr val="FFFFFF"/>
              </a:highlight>
              <a:latin typeface="Arial Rounded"/>
              <a:ea typeface="Arial Rounded"/>
              <a:cs typeface="Arial Rounded"/>
              <a:sym typeface="Arial Rounded"/>
            </a:endParaRPr>
          </a:p>
          <a:p>
            <a:pPr indent="-361950" lvl="0" marL="457200" marR="355600" rtl="0" algn="l">
              <a:lnSpc>
                <a:spcPct val="140000"/>
              </a:lnSpc>
              <a:spcBef>
                <a:spcPts val="0"/>
              </a:spcBef>
              <a:spcAft>
                <a:spcPts val="0"/>
              </a:spcAft>
              <a:buClr>
                <a:srgbClr val="222222"/>
              </a:buClr>
              <a:buSzPts val="2100"/>
              <a:buFont typeface="Arial Rounded"/>
              <a:buChar char="●"/>
            </a:pPr>
            <a:r>
              <a:rPr lang="en-US" sz="2100">
                <a:solidFill>
                  <a:srgbClr val="222222"/>
                </a:solidFill>
                <a:highlight>
                  <a:srgbClr val="FFFFFF"/>
                </a:highlight>
                <a:latin typeface="Arial Rounded"/>
                <a:ea typeface="Arial Rounded"/>
                <a:cs typeface="Arial Rounded"/>
                <a:sym typeface="Arial Rounded"/>
              </a:rPr>
              <a:t>A way to organize the data, if it was spread over multiple sites.</a:t>
            </a:r>
            <a:endParaRPr sz="21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800"/>
              </a:spcBef>
              <a:spcAft>
                <a:spcPts val="0"/>
              </a:spcAft>
              <a:buNone/>
            </a:pPr>
            <a:r>
              <a:rPr lang="en-US" sz="2100">
                <a:solidFill>
                  <a:srgbClr val="222222"/>
                </a:solidFill>
                <a:highlight>
                  <a:srgbClr val="FFFFFF"/>
                </a:highlight>
                <a:latin typeface="Arial Rounded"/>
                <a:ea typeface="Arial Rounded"/>
                <a:cs typeface="Arial Rounded"/>
                <a:sym typeface="Arial Rounded"/>
              </a:rPr>
              <a:t>Hence, Distributed Database System must be able to handle the data over the network. It just needs a special way to handle the queries and transactions over the conventional centralized database. That is, the system must understand the query and the query components and must be able to locate the data over network.</a:t>
            </a:r>
            <a:endParaRPr sz="21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
          <p:cNvSpPr txBox="1"/>
          <p:nvPr/>
        </p:nvSpPr>
        <p:spPr>
          <a:xfrm>
            <a:off x="2326121" y="137805"/>
            <a:ext cx="7053853"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Calibri"/>
              <a:buNone/>
            </a:pPr>
            <a:r>
              <a:rPr b="1" lang="en-US" sz="4400">
                <a:solidFill>
                  <a:schemeClr val="accent2"/>
                </a:solidFill>
                <a:latin typeface="Calibri"/>
                <a:ea typeface="Calibri"/>
                <a:cs typeface="Calibri"/>
                <a:sym typeface="Calibri"/>
              </a:rPr>
              <a:t>Distributed Data Storage</a:t>
            </a:r>
            <a:endParaRPr b="1" sz="4400">
              <a:solidFill>
                <a:schemeClr val="accent2"/>
              </a:solidFill>
              <a:latin typeface="Calibri"/>
              <a:ea typeface="Calibri"/>
              <a:cs typeface="Calibri"/>
              <a:sym typeface="Calibri"/>
            </a:endParaRPr>
          </a:p>
        </p:txBody>
      </p:sp>
      <p:sp>
        <p:nvSpPr>
          <p:cNvPr id="192" name="Google Shape;192;p4"/>
          <p:cNvSpPr txBox="1"/>
          <p:nvPr/>
        </p:nvSpPr>
        <p:spPr>
          <a:xfrm>
            <a:off x="331875" y="989300"/>
            <a:ext cx="11657100" cy="5375100"/>
          </a:xfrm>
          <a:prstGeom prst="rect">
            <a:avLst/>
          </a:prstGeom>
          <a:noFill/>
          <a:ln>
            <a:noFill/>
          </a:ln>
        </p:spPr>
        <p:txBody>
          <a:bodyPr anchorCtr="0" anchor="t" bIns="0" lIns="0" spcFirstLastPara="1" rIns="0" wrap="square" tIns="109850">
            <a:spAutoFit/>
          </a:bodyPr>
          <a:lstStyle/>
          <a:p>
            <a:pPr indent="-342900" lvl="0" marL="355600" marR="0" rtl="0" algn="l">
              <a:spcBef>
                <a:spcPts val="0"/>
              </a:spcBef>
              <a:spcAft>
                <a:spcPts val="0"/>
              </a:spcAft>
              <a:buClr>
                <a:srgbClr val="CC3300"/>
              </a:buClr>
              <a:buSzPts val="1689"/>
              <a:buFont typeface="Noto Sans Symbols"/>
              <a:buChar char="■"/>
            </a:pPr>
            <a:r>
              <a:rPr b="1" lang="en-US" sz="1900">
                <a:solidFill>
                  <a:srgbClr val="FF0000"/>
                </a:solidFill>
                <a:latin typeface="Arial Rounded"/>
                <a:ea typeface="Arial Rounded"/>
                <a:cs typeface="Arial Rounded"/>
                <a:sym typeface="Arial Rounded"/>
              </a:rPr>
              <a:t>Replication</a:t>
            </a:r>
            <a:endParaRPr b="1" sz="1900">
              <a:solidFill>
                <a:srgbClr val="FF0000"/>
              </a:solidFill>
              <a:latin typeface="Arial Rounded"/>
              <a:ea typeface="Arial Rounded"/>
              <a:cs typeface="Arial Rounded"/>
              <a:sym typeface="Arial Rounded"/>
            </a:endParaRPr>
          </a:p>
          <a:p>
            <a:pPr indent="-285750" lvl="1" marL="755650" marR="133350" rtl="0" algn="l">
              <a:spcBef>
                <a:spcPts val="0"/>
              </a:spcBef>
              <a:spcAft>
                <a:spcPts val="0"/>
              </a:spcAft>
              <a:buClr>
                <a:srgbClr val="FF9A00"/>
              </a:buClr>
              <a:buSzPts val="1478"/>
              <a:buFont typeface="Noto Sans Symbols"/>
              <a:buChar char="●"/>
            </a:pPr>
            <a:r>
              <a:rPr b="1" i="0" lang="en-US" sz="1900" u="none" cap="none" strike="noStrike">
                <a:solidFill>
                  <a:schemeClr val="dk1"/>
                </a:solidFill>
                <a:latin typeface="Arial Rounded"/>
                <a:ea typeface="Arial Rounded"/>
                <a:cs typeface="Arial Rounded"/>
                <a:sym typeface="Arial Rounded"/>
              </a:rPr>
              <a:t>System maintains multiple copies of data, stored in different sites,  for faster retrieval and fault tolerance.</a:t>
            </a:r>
            <a:endParaRPr b="1" i="0" sz="1900" u="none" cap="none" strike="noStrike">
              <a:solidFill>
                <a:schemeClr val="dk1"/>
              </a:solidFill>
              <a:latin typeface="Arial Rounded"/>
              <a:ea typeface="Arial Rounded"/>
              <a:cs typeface="Arial Rounded"/>
              <a:sym typeface="Arial Rounded"/>
            </a:endParaRPr>
          </a:p>
          <a:p>
            <a:pPr indent="-285750" lvl="1" marL="755650" marR="133350" rtl="0" algn="l">
              <a:spcBef>
                <a:spcPts val="0"/>
              </a:spcBef>
              <a:spcAft>
                <a:spcPts val="0"/>
              </a:spcAft>
              <a:buClr>
                <a:srgbClr val="FF9A00"/>
              </a:buClr>
              <a:buSzPts val="1478"/>
              <a:buFont typeface="Noto Sans Symbols"/>
              <a:buChar char="●"/>
            </a:pPr>
            <a:r>
              <a:rPr b="1" i="0" lang="en-US" sz="1900" u="none" cap="none" strike="noStrike">
                <a:solidFill>
                  <a:schemeClr val="dk1"/>
                </a:solidFill>
                <a:latin typeface="Arial Rounded"/>
                <a:ea typeface="Arial Rounded"/>
                <a:cs typeface="Arial Rounded"/>
                <a:sym typeface="Arial Rounded"/>
              </a:rPr>
              <a:t>This has advantages since it makes more data accessible at many locations. Moreover, query requests can now be handled in parallel. </a:t>
            </a:r>
            <a:endParaRPr/>
          </a:p>
          <a:p>
            <a:pPr indent="-285750" lvl="1" marL="755650" marR="133350" rtl="0" algn="l">
              <a:spcBef>
                <a:spcPts val="0"/>
              </a:spcBef>
              <a:spcAft>
                <a:spcPts val="0"/>
              </a:spcAft>
              <a:buClr>
                <a:srgbClr val="FF9A00"/>
              </a:buClr>
              <a:buSzPts val="1478"/>
              <a:buFont typeface="Noto Sans Symbols"/>
              <a:buChar char="●"/>
            </a:pPr>
            <a:r>
              <a:rPr b="1" i="0" lang="en-US" sz="1900" u="none" cap="none" strike="noStrike">
                <a:solidFill>
                  <a:schemeClr val="dk1"/>
                </a:solidFill>
                <a:latin typeface="Arial Rounded"/>
                <a:ea typeface="Arial Rounded"/>
                <a:cs typeface="Arial Rounded"/>
                <a:sym typeface="Arial Rounded"/>
              </a:rPr>
              <a:t>But, there are some drawbacks as well. Data must be updated often. All changes performed at one site must be documented at every site where that relation is stored in order to avoid inconsistent results. Moreover, since concurrent access must now be monitored across several sites, concurrency management becomes far more complicated.</a:t>
            </a:r>
            <a:endParaRPr/>
          </a:p>
          <a:p>
            <a:pPr indent="-191912" lvl="1" marL="755650" marR="133350" rtl="0" algn="l">
              <a:spcBef>
                <a:spcPts val="0"/>
              </a:spcBef>
              <a:spcAft>
                <a:spcPts val="0"/>
              </a:spcAft>
              <a:buClr>
                <a:srgbClr val="FF9A00"/>
              </a:buClr>
              <a:buSzPts val="1478"/>
              <a:buFont typeface="Noto Sans Symbols"/>
              <a:buNone/>
            </a:pPr>
            <a:r>
              <a:t/>
            </a:r>
            <a:endParaRPr b="1" i="0" sz="1900" u="none" cap="none" strike="noStrike">
              <a:solidFill>
                <a:schemeClr val="dk1"/>
              </a:solidFill>
              <a:latin typeface="Arial Rounded"/>
              <a:ea typeface="Arial Rounded"/>
              <a:cs typeface="Arial Rounded"/>
              <a:sym typeface="Arial Rounded"/>
            </a:endParaRPr>
          </a:p>
          <a:p>
            <a:pPr indent="-342900" lvl="0" marL="355600" marR="0" rtl="0" algn="l">
              <a:spcBef>
                <a:spcPts val="0"/>
              </a:spcBef>
              <a:spcAft>
                <a:spcPts val="0"/>
              </a:spcAft>
              <a:buClr>
                <a:srgbClr val="CC3300"/>
              </a:buClr>
              <a:buSzPts val="1689"/>
              <a:buFont typeface="Noto Sans Symbols"/>
              <a:buChar char="■"/>
            </a:pPr>
            <a:r>
              <a:rPr b="1" lang="en-US" sz="1900">
                <a:solidFill>
                  <a:srgbClr val="FF0000"/>
                </a:solidFill>
                <a:latin typeface="Arial Rounded"/>
                <a:ea typeface="Arial Rounded"/>
                <a:cs typeface="Arial Rounded"/>
                <a:sym typeface="Arial Rounded"/>
              </a:rPr>
              <a:t>Fragmentation</a:t>
            </a:r>
            <a:endParaRPr b="1" sz="1900">
              <a:solidFill>
                <a:srgbClr val="FF0000"/>
              </a:solidFill>
              <a:latin typeface="Arial Rounded"/>
              <a:ea typeface="Arial Rounded"/>
              <a:cs typeface="Arial Rounded"/>
              <a:sym typeface="Arial Rounded"/>
            </a:endParaRPr>
          </a:p>
          <a:p>
            <a:pPr indent="-285750" lvl="1" marL="755650" marR="0" rtl="0" algn="l">
              <a:spcBef>
                <a:spcPts val="0"/>
              </a:spcBef>
              <a:spcAft>
                <a:spcPts val="0"/>
              </a:spcAft>
              <a:buClr>
                <a:srgbClr val="FF9A00"/>
              </a:buClr>
              <a:buSzPts val="1478"/>
              <a:buFont typeface="Noto Sans Symbols"/>
              <a:buChar char="●"/>
            </a:pPr>
            <a:r>
              <a:rPr b="1" i="0" lang="en-US" sz="1900" u="none" cap="none" strike="noStrike">
                <a:solidFill>
                  <a:schemeClr val="dk1"/>
                </a:solidFill>
                <a:latin typeface="Arial Rounded"/>
                <a:ea typeface="Arial Rounded"/>
                <a:cs typeface="Arial Rounded"/>
                <a:sym typeface="Arial Rounded"/>
              </a:rPr>
              <a:t>Relation is partitioned into several fragments stored in distinct sites</a:t>
            </a:r>
            <a:endParaRPr b="1" i="0" sz="1900" u="none" cap="none" strike="noStrike">
              <a:solidFill>
                <a:schemeClr val="dk1"/>
              </a:solidFill>
              <a:latin typeface="Arial Rounded"/>
              <a:ea typeface="Arial Rounded"/>
              <a:cs typeface="Arial Rounded"/>
              <a:sym typeface="Arial Rounded"/>
            </a:endParaRPr>
          </a:p>
          <a:p>
            <a:pPr indent="-285750" lvl="1" marL="755650" marR="0" rtl="0" algn="l">
              <a:spcBef>
                <a:spcPts val="0"/>
              </a:spcBef>
              <a:spcAft>
                <a:spcPts val="0"/>
              </a:spcAft>
              <a:buClr>
                <a:srgbClr val="FF9A00"/>
              </a:buClr>
              <a:buSzPts val="1478"/>
              <a:buFont typeface="Noto Sans Symbols"/>
              <a:buChar char="●"/>
            </a:pPr>
            <a:r>
              <a:rPr b="1" i="0" lang="en-US" sz="1900" u="none" cap="none" strike="noStrike">
                <a:solidFill>
                  <a:schemeClr val="dk1"/>
                </a:solidFill>
                <a:latin typeface="Arial Rounded"/>
                <a:ea typeface="Arial Rounded"/>
                <a:cs typeface="Arial Rounded"/>
                <a:sym typeface="Arial Rounded"/>
              </a:rPr>
              <a:t>To ensure there is no data loss, the pieces must be created in a way that allows for the reconstruction of the original relation.</a:t>
            </a:r>
            <a:endParaRPr b="1" i="0" sz="1900" u="none" cap="none" strike="noStrike">
              <a:solidFill>
                <a:schemeClr val="dk1"/>
              </a:solidFill>
              <a:latin typeface="Arial Rounded"/>
              <a:ea typeface="Arial Rounded"/>
              <a:cs typeface="Arial Rounded"/>
              <a:sym typeface="Arial Rounded"/>
            </a:endParaRPr>
          </a:p>
          <a:p>
            <a:pPr indent="0" lvl="1" marL="469900" marR="0" rtl="0" algn="l">
              <a:spcBef>
                <a:spcPts val="0"/>
              </a:spcBef>
              <a:spcAft>
                <a:spcPts val="0"/>
              </a:spcAft>
              <a:buNone/>
            </a:pPr>
            <a:r>
              <a:t/>
            </a:r>
            <a:endParaRPr b="1" i="0" sz="1900" u="none" cap="none" strike="noStrike">
              <a:solidFill>
                <a:schemeClr val="dk1"/>
              </a:solidFill>
              <a:latin typeface="Arial Rounded"/>
              <a:ea typeface="Arial Rounded"/>
              <a:cs typeface="Arial Rounded"/>
              <a:sym typeface="Arial Rounded"/>
            </a:endParaRPr>
          </a:p>
          <a:p>
            <a:pPr indent="-342900" lvl="0" marL="355600" marR="0" rtl="0" algn="l">
              <a:spcBef>
                <a:spcPts val="0"/>
              </a:spcBef>
              <a:spcAft>
                <a:spcPts val="0"/>
              </a:spcAft>
              <a:buClr>
                <a:srgbClr val="CC3300"/>
              </a:buClr>
              <a:buSzPts val="1689"/>
              <a:buFont typeface="Noto Sans Symbols"/>
              <a:buChar char="■"/>
            </a:pPr>
            <a:r>
              <a:rPr b="1" lang="en-US" sz="1900">
                <a:solidFill>
                  <a:srgbClr val="FF0000"/>
                </a:solidFill>
                <a:latin typeface="Arial Rounded"/>
                <a:ea typeface="Arial Rounded"/>
                <a:cs typeface="Arial Rounded"/>
                <a:sym typeface="Arial Rounded"/>
              </a:rPr>
              <a:t>Replication and fragmentation can be combined</a:t>
            </a:r>
            <a:endParaRPr b="1" sz="1900">
              <a:solidFill>
                <a:srgbClr val="FF0000"/>
              </a:solidFill>
              <a:latin typeface="Arial Rounded"/>
              <a:ea typeface="Arial Rounded"/>
              <a:cs typeface="Arial Rounded"/>
              <a:sym typeface="Arial Rounded"/>
            </a:endParaRPr>
          </a:p>
          <a:p>
            <a:pPr indent="-285750" lvl="1" marL="755650" marR="360045" rtl="0" algn="l">
              <a:spcBef>
                <a:spcPts val="0"/>
              </a:spcBef>
              <a:spcAft>
                <a:spcPts val="0"/>
              </a:spcAft>
              <a:buClr>
                <a:srgbClr val="FF9A00"/>
              </a:buClr>
              <a:buSzPts val="1478"/>
              <a:buFont typeface="Noto Sans Symbols"/>
              <a:buChar char="●"/>
            </a:pPr>
            <a:r>
              <a:rPr b="1" i="0" lang="en-US" sz="1900" u="none" cap="none" strike="noStrike">
                <a:solidFill>
                  <a:schemeClr val="dk1"/>
                </a:solidFill>
                <a:latin typeface="Arial Rounded"/>
                <a:ea typeface="Arial Rounded"/>
                <a:cs typeface="Arial Rounded"/>
                <a:sym typeface="Arial Rounded"/>
              </a:rPr>
              <a:t>Relation is partitioned into several fragments: system maintains  several identical replicas of each such fragment.</a:t>
            </a:r>
            <a:endParaRPr b="1" i="0" sz="19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5"/>
          <p:cNvSpPr txBox="1"/>
          <p:nvPr/>
        </p:nvSpPr>
        <p:spPr>
          <a:xfrm>
            <a:off x="2957057" y="172856"/>
            <a:ext cx="5390530"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Calibri"/>
              <a:buNone/>
            </a:pPr>
            <a:r>
              <a:rPr b="1" lang="en-US" sz="4400">
                <a:solidFill>
                  <a:schemeClr val="accent2"/>
                </a:solidFill>
                <a:latin typeface="Calibri"/>
                <a:ea typeface="Calibri"/>
                <a:cs typeface="Calibri"/>
                <a:sym typeface="Calibri"/>
              </a:rPr>
              <a:t>Data Replication</a:t>
            </a:r>
            <a:endParaRPr b="1" sz="4400">
              <a:solidFill>
                <a:schemeClr val="accent2"/>
              </a:solidFill>
              <a:latin typeface="Calibri"/>
              <a:ea typeface="Calibri"/>
              <a:cs typeface="Calibri"/>
              <a:sym typeface="Calibri"/>
            </a:endParaRPr>
          </a:p>
        </p:txBody>
      </p:sp>
      <p:sp>
        <p:nvSpPr>
          <p:cNvPr id="198" name="Google Shape;198;p5"/>
          <p:cNvSpPr txBox="1"/>
          <p:nvPr/>
        </p:nvSpPr>
        <p:spPr>
          <a:xfrm>
            <a:off x="795249" y="1578119"/>
            <a:ext cx="10384028" cy="3041858"/>
          </a:xfrm>
          <a:prstGeom prst="rect">
            <a:avLst/>
          </a:prstGeom>
          <a:noFill/>
          <a:ln>
            <a:noFill/>
          </a:ln>
        </p:spPr>
        <p:txBody>
          <a:bodyPr anchorCtr="0" anchor="t" bIns="0" lIns="0" spcFirstLastPara="1" rIns="0" wrap="square" tIns="12700">
            <a:spAutoFit/>
          </a:bodyPr>
          <a:lstStyle/>
          <a:p>
            <a:pPr indent="-342900" lvl="0" marL="355600" marR="1134745" rtl="0" algn="l">
              <a:lnSpc>
                <a:spcPct val="100000"/>
              </a:lnSpc>
              <a:spcBef>
                <a:spcPts val="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A relation or fragment of a relation is </a:t>
            </a:r>
            <a:r>
              <a:rPr b="1" lang="en-US" sz="2200">
                <a:solidFill>
                  <a:srgbClr val="CC3300"/>
                </a:solidFill>
                <a:latin typeface="Arial Rounded"/>
                <a:ea typeface="Arial Rounded"/>
                <a:cs typeface="Arial Rounded"/>
                <a:sym typeface="Arial Rounded"/>
              </a:rPr>
              <a:t>replicated </a:t>
            </a:r>
            <a:r>
              <a:rPr b="1" lang="en-US" sz="2200">
                <a:solidFill>
                  <a:schemeClr val="dk1"/>
                </a:solidFill>
                <a:latin typeface="Arial Rounded"/>
                <a:ea typeface="Arial Rounded"/>
                <a:cs typeface="Arial Rounded"/>
                <a:sym typeface="Arial Rounded"/>
              </a:rPr>
              <a:t>if it is stored  redundantly in two or more sites.</a:t>
            </a:r>
            <a:endParaRPr b="1" sz="2200">
              <a:solidFill>
                <a:schemeClr val="dk1"/>
              </a:solidFill>
              <a:latin typeface="Arial Rounded"/>
              <a:ea typeface="Arial Rounded"/>
              <a:cs typeface="Arial Rounded"/>
              <a:sym typeface="Arial Rounded"/>
            </a:endParaRPr>
          </a:p>
          <a:p>
            <a:pPr indent="-218723" lvl="0" marL="355600" marR="1134745" rtl="0" algn="l">
              <a:lnSpc>
                <a:spcPct val="100000"/>
              </a:lnSpc>
              <a:spcBef>
                <a:spcPts val="100"/>
              </a:spcBef>
              <a:spcAft>
                <a:spcPts val="0"/>
              </a:spcAft>
              <a:buClr>
                <a:srgbClr val="CC3300"/>
              </a:buClr>
              <a:buSzPts val="1956"/>
              <a:buFont typeface="Noto Sans Symbols"/>
              <a:buNone/>
            </a:pPr>
            <a:r>
              <a:t/>
            </a:r>
            <a:endParaRPr b="1" sz="2200">
              <a:solidFill>
                <a:schemeClr val="dk1"/>
              </a:solidFill>
              <a:latin typeface="Arial Rounded"/>
              <a:ea typeface="Arial Rounded"/>
              <a:cs typeface="Arial Rounded"/>
              <a:sym typeface="Arial Rounded"/>
            </a:endParaRPr>
          </a:p>
          <a:p>
            <a:pPr indent="-342900" lvl="0" marL="355600" marR="5080" rtl="0" algn="l">
              <a:lnSpc>
                <a:spcPct val="100000"/>
              </a:lnSpc>
              <a:spcBef>
                <a:spcPts val="765"/>
              </a:spcBef>
              <a:spcAft>
                <a:spcPts val="0"/>
              </a:spcAft>
              <a:buClr>
                <a:srgbClr val="CC3300"/>
              </a:buClr>
              <a:buSzPts val="1956"/>
              <a:buFont typeface="Noto Sans Symbols"/>
              <a:buChar char="■"/>
            </a:pPr>
            <a:r>
              <a:rPr b="1" lang="en-US" sz="2200">
                <a:solidFill>
                  <a:srgbClr val="CC3300"/>
                </a:solidFill>
                <a:latin typeface="Arial Rounded"/>
                <a:ea typeface="Arial Rounded"/>
                <a:cs typeface="Arial Rounded"/>
                <a:sym typeface="Arial Rounded"/>
              </a:rPr>
              <a:t>Full replication </a:t>
            </a:r>
            <a:r>
              <a:rPr b="1" lang="en-US" sz="2200">
                <a:solidFill>
                  <a:schemeClr val="dk1"/>
                </a:solidFill>
                <a:latin typeface="Arial Rounded"/>
                <a:ea typeface="Arial Rounded"/>
                <a:cs typeface="Arial Rounded"/>
                <a:sym typeface="Arial Rounded"/>
              </a:rPr>
              <a:t>of a relation is the case where the relation is stored at all  sites.</a:t>
            </a:r>
            <a:endParaRPr b="1" sz="2200">
              <a:solidFill>
                <a:schemeClr val="dk1"/>
              </a:solidFill>
              <a:latin typeface="Arial Rounded"/>
              <a:ea typeface="Arial Rounded"/>
              <a:cs typeface="Arial Rounded"/>
              <a:sym typeface="Arial Rounded"/>
            </a:endParaRPr>
          </a:p>
          <a:p>
            <a:pPr indent="-218723" lvl="0" marL="355600" marR="5080" rtl="0" algn="l">
              <a:lnSpc>
                <a:spcPct val="100000"/>
              </a:lnSpc>
              <a:spcBef>
                <a:spcPts val="765"/>
              </a:spcBef>
              <a:spcAft>
                <a:spcPts val="0"/>
              </a:spcAft>
              <a:buClr>
                <a:schemeClr val="dk1"/>
              </a:buClr>
              <a:buSzPts val="1956"/>
              <a:buFont typeface="Noto Sans Symbols"/>
              <a:buNone/>
            </a:pPr>
            <a:r>
              <a:t/>
            </a:r>
            <a:endParaRPr b="1" sz="2200">
              <a:solidFill>
                <a:schemeClr val="dk1"/>
              </a:solidFill>
              <a:latin typeface="Arial Rounded"/>
              <a:ea typeface="Arial Rounded"/>
              <a:cs typeface="Arial Rounded"/>
              <a:sym typeface="Arial Rounded"/>
            </a:endParaRPr>
          </a:p>
          <a:p>
            <a:pPr indent="-342900" lvl="0" marL="355600" marR="502284" rtl="0" algn="l">
              <a:lnSpc>
                <a:spcPct val="100000"/>
              </a:lnSpc>
              <a:spcBef>
                <a:spcPts val="77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Fully redundant databases are those in which every site contains a  copy of the entire database.</a:t>
            </a:r>
            <a:endParaRPr b="1" sz="2200">
              <a:solidFill>
                <a:schemeClr val="dk1"/>
              </a:solidFill>
              <a:latin typeface="Arial Rounded"/>
              <a:ea typeface="Arial Rounded"/>
              <a:cs typeface="Arial Rounded"/>
              <a:sym typeface="Arial Round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6"/>
          <p:cNvSpPr txBox="1"/>
          <p:nvPr/>
        </p:nvSpPr>
        <p:spPr>
          <a:xfrm>
            <a:off x="716590" y="625176"/>
            <a:ext cx="11180441" cy="4884029"/>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Advantages of Replication</a:t>
            </a:r>
            <a:endParaRPr b="1" sz="2000">
              <a:solidFill>
                <a:schemeClr val="dk1"/>
              </a:solidFill>
              <a:latin typeface="Arial Rounded"/>
              <a:ea typeface="Arial Rounded"/>
              <a:cs typeface="Arial Rounded"/>
              <a:sym typeface="Arial Rounded"/>
            </a:endParaRPr>
          </a:p>
          <a:p>
            <a:pPr indent="-285750" lvl="1" marL="755650" marR="882014"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Availability: failure of site containing relation </a:t>
            </a:r>
            <a:r>
              <a:rPr b="1" i="1" lang="en-US" sz="2000" u="none" cap="none" strike="noStrike">
                <a:solidFill>
                  <a:schemeClr val="dk1"/>
                </a:solidFill>
                <a:latin typeface="Arial Rounded"/>
                <a:ea typeface="Arial Rounded"/>
                <a:cs typeface="Arial Rounded"/>
                <a:sym typeface="Arial Rounded"/>
              </a:rPr>
              <a:t>r </a:t>
            </a:r>
            <a:r>
              <a:rPr b="1" i="0" lang="en-US" sz="2000" u="none" cap="none" strike="noStrike">
                <a:solidFill>
                  <a:schemeClr val="dk1"/>
                </a:solidFill>
                <a:latin typeface="Arial Rounded"/>
                <a:ea typeface="Arial Rounded"/>
                <a:cs typeface="Arial Rounded"/>
                <a:sym typeface="Arial Rounded"/>
              </a:rPr>
              <a:t>does not result in  unavailability of </a:t>
            </a:r>
            <a:r>
              <a:rPr b="1" i="1" lang="en-US" sz="2000" u="none" cap="none" strike="noStrike">
                <a:solidFill>
                  <a:schemeClr val="dk1"/>
                </a:solidFill>
                <a:latin typeface="Arial Rounded"/>
                <a:ea typeface="Arial Rounded"/>
                <a:cs typeface="Arial Rounded"/>
                <a:sym typeface="Arial Rounded"/>
              </a:rPr>
              <a:t>r </a:t>
            </a:r>
            <a:r>
              <a:rPr b="1" i="0" lang="en-US" sz="2000" u="none" cap="none" strike="noStrike">
                <a:solidFill>
                  <a:schemeClr val="dk1"/>
                </a:solidFill>
                <a:latin typeface="Arial Rounded"/>
                <a:ea typeface="Arial Rounded"/>
                <a:cs typeface="Arial Rounded"/>
                <a:sym typeface="Arial Rounded"/>
              </a:rPr>
              <a:t>is replicas exist.</a:t>
            </a:r>
            <a:endParaRPr/>
          </a:p>
          <a:p>
            <a:pPr indent="-285750" lvl="1" marL="755650" marR="0"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Parallelism: queries on </a:t>
            </a:r>
            <a:r>
              <a:rPr b="1" i="1" lang="en-US" sz="2000" u="none" cap="none" strike="noStrike">
                <a:solidFill>
                  <a:schemeClr val="dk1"/>
                </a:solidFill>
                <a:latin typeface="Arial Rounded"/>
                <a:ea typeface="Arial Rounded"/>
                <a:cs typeface="Arial Rounded"/>
                <a:sym typeface="Arial Rounded"/>
              </a:rPr>
              <a:t>r </a:t>
            </a:r>
            <a:r>
              <a:rPr b="1" i="0" lang="en-US" sz="2000" u="none" cap="none" strike="noStrike">
                <a:solidFill>
                  <a:schemeClr val="dk1"/>
                </a:solidFill>
                <a:latin typeface="Arial Rounded"/>
                <a:ea typeface="Arial Rounded"/>
                <a:cs typeface="Arial Rounded"/>
                <a:sym typeface="Arial Rounded"/>
              </a:rPr>
              <a:t>may be processed by several nodes in parallel.</a:t>
            </a:r>
            <a:endParaRPr b="1" i="0" sz="2000" u="none" cap="none" strike="noStrike">
              <a:solidFill>
                <a:schemeClr val="dk1"/>
              </a:solidFill>
              <a:latin typeface="Arial Rounded"/>
              <a:ea typeface="Arial Rounded"/>
              <a:cs typeface="Arial Rounded"/>
              <a:sym typeface="Arial Rounded"/>
            </a:endParaRPr>
          </a:p>
          <a:p>
            <a:pPr indent="-285750" lvl="1" marL="755650" marR="818514" rtl="0" algn="l">
              <a:lnSpc>
                <a:spcPct val="100000"/>
              </a:lnSpc>
              <a:spcBef>
                <a:spcPts val="76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Reduced data transfer: relation </a:t>
            </a:r>
            <a:r>
              <a:rPr b="1" i="1" lang="en-US" sz="2000" u="none" cap="none" strike="noStrike">
                <a:solidFill>
                  <a:schemeClr val="dk1"/>
                </a:solidFill>
                <a:latin typeface="Arial Rounded"/>
                <a:ea typeface="Arial Rounded"/>
                <a:cs typeface="Arial Rounded"/>
                <a:sym typeface="Arial Rounded"/>
              </a:rPr>
              <a:t>r </a:t>
            </a:r>
            <a:r>
              <a:rPr b="1" i="0" lang="en-US" sz="2000" u="none" cap="none" strike="noStrike">
                <a:solidFill>
                  <a:schemeClr val="dk1"/>
                </a:solidFill>
                <a:latin typeface="Arial Rounded"/>
                <a:ea typeface="Arial Rounded"/>
                <a:cs typeface="Arial Rounded"/>
                <a:sym typeface="Arial Rounded"/>
              </a:rPr>
              <a:t>is available locally at each site  containing a replica of </a:t>
            </a:r>
            <a:r>
              <a:rPr b="1" i="1" lang="en-US" sz="2000" u="none" cap="none" strike="noStrike">
                <a:solidFill>
                  <a:schemeClr val="dk1"/>
                </a:solidFill>
                <a:latin typeface="Arial Rounded"/>
                <a:ea typeface="Arial Rounded"/>
                <a:cs typeface="Arial Rounded"/>
                <a:sym typeface="Arial Rounded"/>
              </a:rPr>
              <a:t>r</a:t>
            </a:r>
            <a:r>
              <a:rPr b="1" i="0" lang="en-US" sz="2000" u="none" cap="none" strike="noStrike">
                <a:solidFill>
                  <a:schemeClr val="dk1"/>
                </a:solidFill>
                <a:latin typeface="Arial Rounded"/>
                <a:ea typeface="Arial Rounded"/>
                <a:cs typeface="Arial Rounded"/>
                <a:sym typeface="Arial Rounded"/>
              </a:rPr>
              <a:t>.</a:t>
            </a:r>
            <a:endParaRPr b="1" i="0" sz="2000" u="none" cap="none" strike="noStrike">
              <a:solidFill>
                <a:schemeClr val="dk1"/>
              </a:solidFill>
              <a:latin typeface="Arial Rounded"/>
              <a:ea typeface="Arial Rounded"/>
              <a:cs typeface="Arial Rounded"/>
              <a:sym typeface="Arial Rounded"/>
            </a:endParaRPr>
          </a:p>
          <a:p>
            <a:pPr indent="-186973" lvl="1" marL="755650" marR="818514" rtl="0" algn="l">
              <a:lnSpc>
                <a:spcPct val="100000"/>
              </a:lnSpc>
              <a:spcBef>
                <a:spcPts val="760"/>
              </a:spcBef>
              <a:spcAft>
                <a:spcPts val="0"/>
              </a:spcAft>
              <a:buClr>
                <a:srgbClr val="FF9A00"/>
              </a:buClr>
              <a:buSzPts val="1556"/>
              <a:buFont typeface="Noto Sans Symbols"/>
              <a:buNone/>
            </a:pPr>
            <a:r>
              <a:t/>
            </a:r>
            <a:endParaRPr b="1" i="0" sz="2000" u="none" cap="none" strike="noStrike">
              <a:solidFill>
                <a:schemeClr val="dk1"/>
              </a:solidFill>
              <a:latin typeface="Arial Rounded"/>
              <a:ea typeface="Arial Rounded"/>
              <a:cs typeface="Arial Rounded"/>
              <a:sym typeface="Arial Rounded"/>
            </a:endParaRPr>
          </a:p>
          <a:p>
            <a:pPr indent="-342900" lvl="0" marL="355600" marR="0" rtl="0" algn="l">
              <a:lnSpc>
                <a:spcPct val="100000"/>
              </a:lnSpc>
              <a:spcBef>
                <a:spcPts val="42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Disadvantages of Replication</a:t>
            </a:r>
            <a:endParaRPr b="1" sz="2000">
              <a:solidFill>
                <a:schemeClr val="dk1"/>
              </a:solidFill>
              <a:latin typeface="Arial Rounded"/>
              <a:ea typeface="Arial Rounded"/>
              <a:cs typeface="Arial Rounded"/>
              <a:sym typeface="Arial Rounded"/>
            </a:endParaRPr>
          </a:p>
          <a:p>
            <a:pPr indent="-285750" lvl="1" marL="755650" marR="0" rtl="0" algn="l">
              <a:lnSpc>
                <a:spcPct val="100000"/>
              </a:lnSpc>
              <a:spcBef>
                <a:spcPts val="33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Increased cost of updates: each replica of relation </a:t>
            </a:r>
            <a:r>
              <a:rPr b="1" i="1" lang="en-US" sz="2000" u="none" cap="none" strike="noStrike">
                <a:solidFill>
                  <a:schemeClr val="dk1"/>
                </a:solidFill>
                <a:latin typeface="Arial Rounded"/>
                <a:ea typeface="Arial Rounded"/>
                <a:cs typeface="Arial Rounded"/>
                <a:sym typeface="Arial Rounded"/>
              </a:rPr>
              <a:t>r </a:t>
            </a:r>
            <a:r>
              <a:rPr b="1" i="0" lang="en-US" sz="2000" u="none" cap="none" strike="noStrike">
                <a:solidFill>
                  <a:schemeClr val="dk1"/>
                </a:solidFill>
                <a:latin typeface="Arial Rounded"/>
                <a:ea typeface="Arial Rounded"/>
                <a:cs typeface="Arial Rounded"/>
                <a:sym typeface="Arial Rounded"/>
              </a:rPr>
              <a:t>must be updated.</a:t>
            </a:r>
            <a:endParaRPr b="1" i="0" sz="2000" u="none" cap="none" strike="noStrike">
              <a:solidFill>
                <a:schemeClr val="dk1"/>
              </a:solidFill>
              <a:latin typeface="Arial Rounded"/>
              <a:ea typeface="Arial Rounded"/>
              <a:cs typeface="Arial Rounded"/>
              <a:sym typeface="Arial Rounded"/>
            </a:endParaRPr>
          </a:p>
          <a:p>
            <a:pPr indent="-285750" lvl="1" marL="755650" marR="580390" rtl="0" algn="l">
              <a:lnSpc>
                <a:spcPct val="109900"/>
              </a:lnSpc>
              <a:spcBef>
                <a:spcPts val="64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Increased complexity of concurrency control: concurrent updates to  distinct replicas may lead to inconsistent data unless special  concurrency control mechanisms are implemented.</a:t>
            </a:r>
            <a:endParaRPr b="1" i="0" sz="2000" u="none" cap="none" strike="noStrike">
              <a:solidFill>
                <a:schemeClr val="dk1"/>
              </a:solidFill>
              <a:latin typeface="Arial Rounded"/>
              <a:ea typeface="Arial Rounded"/>
              <a:cs typeface="Arial Rounded"/>
              <a:sym typeface="Arial Rounded"/>
            </a:endParaRPr>
          </a:p>
          <a:p>
            <a:pPr indent="-228600" lvl="0" marL="1097915" marR="1033780" rtl="0" algn="l">
              <a:lnSpc>
                <a:spcPct val="100000"/>
              </a:lnSpc>
              <a:spcBef>
                <a:spcPts val="800"/>
              </a:spcBef>
              <a:spcAft>
                <a:spcPts val="0"/>
              </a:spcAft>
              <a:buNone/>
            </a:pPr>
            <a:r>
              <a:rPr b="1" lang="en-US" sz="2000">
                <a:solidFill>
                  <a:srgbClr val="33CC33"/>
                </a:solidFill>
                <a:latin typeface="Arial Rounded"/>
                <a:ea typeface="Arial Rounded"/>
                <a:cs typeface="Arial Rounded"/>
                <a:sym typeface="Arial Rounded"/>
              </a:rPr>
              <a:t></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txBox="1"/>
          <p:nvPr/>
        </p:nvSpPr>
        <p:spPr>
          <a:xfrm>
            <a:off x="3414165" y="244662"/>
            <a:ext cx="5631513" cy="628377"/>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accent2"/>
              </a:buClr>
              <a:buSzPts val="4000"/>
              <a:buFont typeface="Calibri"/>
              <a:buNone/>
            </a:pPr>
            <a:r>
              <a:rPr b="1" lang="en-US" sz="4000">
                <a:solidFill>
                  <a:schemeClr val="accent2"/>
                </a:solidFill>
                <a:latin typeface="Calibri"/>
                <a:ea typeface="Calibri"/>
                <a:cs typeface="Calibri"/>
                <a:sym typeface="Calibri"/>
              </a:rPr>
              <a:t>Data Fragmentation</a:t>
            </a:r>
            <a:endParaRPr/>
          </a:p>
        </p:txBody>
      </p:sp>
      <p:sp>
        <p:nvSpPr>
          <p:cNvPr id="209" name="Google Shape;209;p7"/>
          <p:cNvSpPr txBox="1"/>
          <p:nvPr/>
        </p:nvSpPr>
        <p:spPr>
          <a:xfrm>
            <a:off x="640563" y="1083486"/>
            <a:ext cx="11315463" cy="4793620"/>
          </a:xfrm>
          <a:prstGeom prst="rect">
            <a:avLst/>
          </a:prstGeom>
          <a:noFill/>
          <a:ln>
            <a:noFill/>
          </a:ln>
        </p:spPr>
        <p:txBody>
          <a:bodyPr anchorCtr="0" anchor="t" bIns="0" lIns="0" spcFirstLastPara="1" rIns="0" wrap="square" tIns="12700">
            <a:spAutoFit/>
          </a:bodyPr>
          <a:lstStyle/>
          <a:p>
            <a:pPr indent="-343535" lvl="0" marL="381000" marR="200660" rtl="0" algn="l">
              <a:lnSpc>
                <a:spcPct val="100000"/>
              </a:lnSpc>
              <a:spcBef>
                <a:spcPts val="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Division of relation r into fragments </a:t>
            </a:r>
            <a:r>
              <a:rPr b="1" i="1" lang="en-US" sz="2200">
                <a:solidFill>
                  <a:schemeClr val="dk1"/>
                </a:solidFill>
                <a:latin typeface="Arial Rounded"/>
                <a:ea typeface="Arial Rounded"/>
                <a:cs typeface="Arial Rounded"/>
                <a:sym typeface="Arial Rounded"/>
              </a:rPr>
              <a:t>r</a:t>
            </a:r>
            <a:r>
              <a:rPr b="1" baseline="-25000" lang="en-US" sz="2200">
                <a:solidFill>
                  <a:schemeClr val="dk1"/>
                </a:solidFill>
                <a:latin typeface="Arial Rounded"/>
                <a:ea typeface="Arial Rounded"/>
                <a:cs typeface="Arial Rounded"/>
                <a:sym typeface="Arial Rounded"/>
              </a:rPr>
              <a:t>1</a:t>
            </a:r>
            <a:r>
              <a:rPr b="1" lang="en-US" sz="2200">
                <a:solidFill>
                  <a:schemeClr val="dk1"/>
                </a:solidFill>
                <a:latin typeface="Arial Rounded"/>
                <a:ea typeface="Arial Rounded"/>
                <a:cs typeface="Arial Rounded"/>
                <a:sym typeface="Arial Rounded"/>
              </a:rPr>
              <a:t>, </a:t>
            </a:r>
            <a:r>
              <a:rPr b="1" i="1" lang="en-US" sz="2200">
                <a:solidFill>
                  <a:schemeClr val="dk1"/>
                </a:solidFill>
                <a:latin typeface="Arial Rounded"/>
                <a:ea typeface="Arial Rounded"/>
                <a:cs typeface="Arial Rounded"/>
                <a:sym typeface="Arial Rounded"/>
              </a:rPr>
              <a:t>r</a:t>
            </a:r>
            <a:r>
              <a:rPr b="1" baseline="-25000" lang="en-US" sz="2200">
                <a:solidFill>
                  <a:schemeClr val="dk1"/>
                </a:solidFill>
                <a:latin typeface="Arial Rounded"/>
                <a:ea typeface="Arial Rounded"/>
                <a:cs typeface="Arial Rounded"/>
                <a:sym typeface="Arial Rounded"/>
              </a:rPr>
              <a:t>2</a:t>
            </a:r>
            <a:r>
              <a:rPr b="1" lang="en-US" sz="2200">
                <a:solidFill>
                  <a:schemeClr val="dk1"/>
                </a:solidFill>
                <a:latin typeface="Arial Rounded"/>
                <a:ea typeface="Arial Rounded"/>
                <a:cs typeface="Arial Rounded"/>
                <a:sym typeface="Arial Rounded"/>
              </a:rPr>
              <a:t>, …, </a:t>
            </a:r>
            <a:r>
              <a:rPr b="1" i="1" lang="en-US" sz="2200">
                <a:solidFill>
                  <a:schemeClr val="dk1"/>
                </a:solidFill>
                <a:latin typeface="Arial Rounded"/>
                <a:ea typeface="Arial Rounded"/>
                <a:cs typeface="Arial Rounded"/>
                <a:sym typeface="Arial Rounded"/>
              </a:rPr>
              <a:t>r</a:t>
            </a:r>
            <a:r>
              <a:rPr b="1" baseline="-25000" i="1" lang="en-US" sz="2200">
                <a:solidFill>
                  <a:schemeClr val="dk1"/>
                </a:solidFill>
                <a:latin typeface="Arial Rounded"/>
                <a:ea typeface="Arial Rounded"/>
                <a:cs typeface="Arial Rounded"/>
                <a:sym typeface="Arial Rounded"/>
              </a:rPr>
              <a:t>n </a:t>
            </a:r>
            <a:r>
              <a:rPr b="1" lang="en-US" sz="2200">
                <a:solidFill>
                  <a:schemeClr val="dk1"/>
                </a:solidFill>
                <a:latin typeface="Arial Rounded"/>
                <a:ea typeface="Arial Rounded"/>
                <a:cs typeface="Arial Rounded"/>
                <a:sym typeface="Arial Rounded"/>
              </a:rPr>
              <a:t>which contain sufficient  information to reconstruct relation r.</a:t>
            </a:r>
            <a:endParaRPr b="1" sz="2200">
              <a:solidFill>
                <a:schemeClr val="dk1"/>
              </a:solidFill>
              <a:latin typeface="Arial Rounded"/>
              <a:ea typeface="Arial Rounded"/>
              <a:cs typeface="Arial Rounded"/>
              <a:sym typeface="Arial Rounded"/>
            </a:endParaRPr>
          </a:p>
          <a:p>
            <a:pPr indent="-342900" lvl="0" marL="381000" marR="252095" rtl="0" algn="l">
              <a:lnSpc>
                <a:spcPct val="100000"/>
              </a:lnSpc>
              <a:spcBef>
                <a:spcPts val="765"/>
              </a:spcBef>
              <a:spcAft>
                <a:spcPts val="0"/>
              </a:spcAft>
              <a:buClr>
                <a:srgbClr val="CC3300"/>
              </a:buClr>
              <a:buSzPts val="1956"/>
              <a:buFont typeface="Noto Sans Symbols"/>
              <a:buChar char="■"/>
            </a:pPr>
            <a:r>
              <a:rPr b="1" lang="en-US" sz="2200">
                <a:solidFill>
                  <a:srgbClr val="CC3300"/>
                </a:solidFill>
                <a:latin typeface="Arial Rounded"/>
                <a:ea typeface="Arial Rounded"/>
                <a:cs typeface="Arial Rounded"/>
                <a:sym typeface="Arial Rounded"/>
              </a:rPr>
              <a:t>Horizontal fragmentation</a:t>
            </a:r>
            <a:r>
              <a:rPr b="1" lang="en-US" sz="2200">
                <a:solidFill>
                  <a:schemeClr val="dk1"/>
                </a:solidFill>
                <a:latin typeface="Arial Rounded"/>
                <a:ea typeface="Arial Rounded"/>
                <a:cs typeface="Arial Rounded"/>
                <a:sym typeface="Arial Rounded"/>
              </a:rPr>
              <a:t>: each tuple of </a:t>
            </a:r>
            <a:r>
              <a:rPr b="1" i="1" lang="en-US" sz="2200">
                <a:solidFill>
                  <a:schemeClr val="dk1"/>
                </a:solidFill>
                <a:latin typeface="Arial Rounded"/>
                <a:ea typeface="Arial Rounded"/>
                <a:cs typeface="Arial Rounded"/>
                <a:sym typeface="Arial Rounded"/>
              </a:rPr>
              <a:t>r </a:t>
            </a:r>
            <a:r>
              <a:rPr b="1" lang="en-US" sz="2200">
                <a:solidFill>
                  <a:schemeClr val="dk1"/>
                </a:solidFill>
                <a:latin typeface="Arial Rounded"/>
                <a:ea typeface="Arial Rounded"/>
                <a:cs typeface="Arial Rounded"/>
                <a:sym typeface="Arial Rounded"/>
              </a:rPr>
              <a:t>is assigned to one or more  fragments</a:t>
            </a:r>
            <a:endParaRPr b="1" sz="2200">
              <a:solidFill>
                <a:schemeClr val="dk1"/>
              </a:solidFill>
              <a:latin typeface="Arial Rounded"/>
              <a:ea typeface="Arial Rounded"/>
              <a:cs typeface="Arial Rounded"/>
              <a:sym typeface="Arial Rounded"/>
            </a:endParaRPr>
          </a:p>
          <a:p>
            <a:pPr indent="-342900" lvl="0" marL="380365" marR="353060" rtl="0" algn="l">
              <a:lnSpc>
                <a:spcPct val="100000"/>
              </a:lnSpc>
              <a:spcBef>
                <a:spcPts val="770"/>
              </a:spcBef>
              <a:spcAft>
                <a:spcPts val="0"/>
              </a:spcAft>
              <a:buClr>
                <a:srgbClr val="CC3300"/>
              </a:buClr>
              <a:buSzPts val="1956"/>
              <a:buFont typeface="Noto Sans Symbols"/>
              <a:buChar char="■"/>
            </a:pPr>
            <a:r>
              <a:rPr b="1" lang="en-US" sz="2200">
                <a:solidFill>
                  <a:srgbClr val="CC3300"/>
                </a:solidFill>
                <a:latin typeface="Arial Rounded"/>
                <a:ea typeface="Arial Rounded"/>
                <a:cs typeface="Arial Rounded"/>
                <a:sym typeface="Arial Rounded"/>
              </a:rPr>
              <a:t>Vertical fragmentation</a:t>
            </a:r>
            <a:r>
              <a:rPr b="1" lang="en-US" sz="2200">
                <a:solidFill>
                  <a:schemeClr val="dk1"/>
                </a:solidFill>
                <a:latin typeface="Arial Rounded"/>
                <a:ea typeface="Arial Rounded"/>
                <a:cs typeface="Arial Rounded"/>
                <a:sym typeface="Arial Rounded"/>
              </a:rPr>
              <a:t>: the schema for relation </a:t>
            </a:r>
            <a:r>
              <a:rPr b="1" i="1" lang="en-US" sz="2200">
                <a:solidFill>
                  <a:schemeClr val="dk1"/>
                </a:solidFill>
                <a:latin typeface="Arial Rounded"/>
                <a:ea typeface="Arial Rounded"/>
                <a:cs typeface="Arial Rounded"/>
                <a:sym typeface="Arial Rounded"/>
              </a:rPr>
              <a:t>r </a:t>
            </a:r>
            <a:r>
              <a:rPr b="1" lang="en-US" sz="2200">
                <a:solidFill>
                  <a:schemeClr val="dk1"/>
                </a:solidFill>
                <a:latin typeface="Arial Rounded"/>
                <a:ea typeface="Arial Rounded"/>
                <a:cs typeface="Arial Rounded"/>
                <a:sym typeface="Arial Rounded"/>
              </a:rPr>
              <a:t>is split into several  smaller schemas</a:t>
            </a:r>
            <a:endParaRPr b="1" sz="2200">
              <a:solidFill>
                <a:schemeClr val="dk1"/>
              </a:solidFill>
              <a:latin typeface="Arial Rounded"/>
              <a:ea typeface="Arial Rounded"/>
              <a:cs typeface="Arial Rounded"/>
              <a:sym typeface="Arial Rounded"/>
            </a:endParaRPr>
          </a:p>
          <a:p>
            <a:pPr indent="-285750" lvl="1" marL="781050" marR="30480" rtl="0" algn="l">
              <a:lnSpc>
                <a:spcPct val="100000"/>
              </a:lnSpc>
              <a:spcBef>
                <a:spcPts val="765"/>
              </a:spcBef>
              <a:spcAft>
                <a:spcPts val="0"/>
              </a:spcAft>
              <a:buClr>
                <a:srgbClr val="FF9A00"/>
              </a:buClr>
              <a:buSzPts val="1711"/>
              <a:buFont typeface="Noto Sans Symbols"/>
              <a:buChar char="●"/>
            </a:pPr>
            <a:r>
              <a:rPr b="1" i="0" lang="en-US" sz="2200" u="none" cap="none" strike="noStrike">
                <a:solidFill>
                  <a:schemeClr val="dk1"/>
                </a:solidFill>
                <a:latin typeface="Arial Rounded"/>
                <a:ea typeface="Arial Rounded"/>
                <a:cs typeface="Arial Rounded"/>
                <a:sym typeface="Arial Rounded"/>
              </a:rPr>
              <a:t>All schemas must contain a common candidate key (or superkey) to  ensure lossless join property.</a:t>
            </a:r>
            <a:endParaRPr/>
          </a:p>
          <a:p>
            <a:pPr indent="-285750" lvl="1" marL="781050" marR="598805" rtl="0" algn="l">
              <a:lnSpc>
                <a:spcPct val="100000"/>
              </a:lnSpc>
              <a:spcBef>
                <a:spcPts val="770"/>
              </a:spcBef>
              <a:spcAft>
                <a:spcPts val="0"/>
              </a:spcAft>
              <a:buClr>
                <a:srgbClr val="FF9A00"/>
              </a:buClr>
              <a:buSzPts val="1711"/>
              <a:buFont typeface="Noto Sans Symbols"/>
              <a:buChar char="●"/>
            </a:pPr>
            <a:r>
              <a:rPr b="1" i="0" lang="en-US" sz="2200" u="none" cap="none" strike="noStrike">
                <a:solidFill>
                  <a:schemeClr val="dk1"/>
                </a:solidFill>
                <a:latin typeface="Arial Rounded"/>
                <a:ea typeface="Arial Rounded"/>
                <a:cs typeface="Arial Rounded"/>
                <a:sym typeface="Arial Rounded"/>
              </a:rPr>
              <a:t>A special attribute, the tuple-id attribute may be added to each  schema to serve as a candidate key.</a:t>
            </a:r>
            <a:endParaRPr b="1" i="0" sz="2200" u="none" cap="none" strike="noStrike">
              <a:solidFill>
                <a:schemeClr val="dk1"/>
              </a:solidFill>
              <a:latin typeface="Arial Rounded"/>
              <a:ea typeface="Arial Rounded"/>
              <a:cs typeface="Arial Rounded"/>
              <a:sym typeface="Arial Rounded"/>
            </a:endParaRPr>
          </a:p>
          <a:p>
            <a:pPr indent="-177095" lvl="1" marL="781050" marR="598805" rtl="0" algn="l">
              <a:lnSpc>
                <a:spcPct val="100000"/>
              </a:lnSpc>
              <a:spcBef>
                <a:spcPts val="770"/>
              </a:spcBef>
              <a:spcAft>
                <a:spcPts val="0"/>
              </a:spcAft>
              <a:buClr>
                <a:srgbClr val="FF9A00"/>
              </a:buClr>
              <a:buSzPts val="1711"/>
              <a:buFont typeface="Noto Sans Symbols"/>
              <a:buNone/>
            </a:pPr>
            <a:r>
              <a:t/>
            </a:r>
            <a:endParaRPr b="1" i="0" sz="2200" u="none" cap="none" strike="noStrike">
              <a:solidFill>
                <a:schemeClr val="dk1"/>
              </a:solidFill>
              <a:latin typeface="Arial Rounded"/>
              <a:ea typeface="Arial Rounded"/>
              <a:cs typeface="Arial Rounded"/>
              <a:sym typeface="Arial Rounded"/>
            </a:endParaRPr>
          </a:p>
          <a:p>
            <a:pPr indent="-342900" lvl="0" marL="381000" marR="0" rtl="0" algn="l">
              <a:lnSpc>
                <a:spcPct val="100000"/>
              </a:lnSpc>
              <a:spcBef>
                <a:spcPts val="77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Example : relation account with following schema</a:t>
            </a:r>
            <a:endParaRPr b="1" sz="2200">
              <a:solidFill>
                <a:schemeClr val="dk1"/>
              </a:solidFill>
              <a:latin typeface="Arial Rounded"/>
              <a:ea typeface="Arial Rounded"/>
              <a:cs typeface="Arial Rounded"/>
              <a:sym typeface="Arial Rounded"/>
            </a:endParaRPr>
          </a:p>
          <a:p>
            <a:pPr indent="-342900" lvl="0" marL="381000" marR="0" rtl="0" algn="l">
              <a:lnSpc>
                <a:spcPct val="100000"/>
              </a:lnSpc>
              <a:spcBef>
                <a:spcPts val="760"/>
              </a:spcBef>
              <a:spcAft>
                <a:spcPts val="0"/>
              </a:spcAft>
              <a:buClr>
                <a:srgbClr val="CC3300"/>
              </a:buClr>
              <a:buSzPts val="1956"/>
              <a:buFont typeface="Noto Sans Symbols"/>
              <a:buChar char="■"/>
            </a:pPr>
            <a:r>
              <a:rPr b="1" i="1" lang="en-US" sz="2200">
                <a:solidFill>
                  <a:schemeClr val="dk1"/>
                </a:solidFill>
                <a:latin typeface="Arial Rounded"/>
                <a:ea typeface="Arial Rounded"/>
                <a:cs typeface="Arial Rounded"/>
                <a:sym typeface="Arial Rounded"/>
              </a:rPr>
              <a:t>Account </a:t>
            </a:r>
            <a:r>
              <a:rPr b="1" lang="en-US" sz="2200">
                <a:solidFill>
                  <a:schemeClr val="dk1"/>
                </a:solidFill>
                <a:latin typeface="Arial Rounded"/>
                <a:ea typeface="Arial Rounded"/>
                <a:cs typeface="Arial Rounded"/>
                <a:sym typeface="Arial Rounded"/>
              </a:rPr>
              <a:t>= (</a:t>
            </a:r>
            <a:r>
              <a:rPr b="1" i="1" lang="en-US" sz="2200">
                <a:solidFill>
                  <a:schemeClr val="dk1"/>
                </a:solidFill>
                <a:latin typeface="Arial Rounded"/>
                <a:ea typeface="Arial Rounded"/>
                <a:cs typeface="Arial Rounded"/>
                <a:sym typeface="Arial Rounded"/>
              </a:rPr>
              <a:t>branch_name</a:t>
            </a:r>
            <a:r>
              <a:rPr b="1" lang="en-US" sz="2200">
                <a:solidFill>
                  <a:schemeClr val="dk1"/>
                </a:solidFill>
                <a:latin typeface="Arial Rounded"/>
                <a:ea typeface="Arial Rounded"/>
                <a:cs typeface="Arial Rounded"/>
                <a:sym typeface="Arial Rounded"/>
              </a:rPr>
              <a:t>, </a:t>
            </a:r>
            <a:r>
              <a:rPr b="1" i="1" lang="en-US" sz="2200">
                <a:solidFill>
                  <a:schemeClr val="dk1"/>
                </a:solidFill>
                <a:latin typeface="Arial Rounded"/>
                <a:ea typeface="Arial Rounded"/>
                <a:cs typeface="Arial Rounded"/>
                <a:sym typeface="Arial Rounded"/>
              </a:rPr>
              <a:t>account_number, balance </a:t>
            </a:r>
            <a:r>
              <a:rPr b="1" lang="en-US" sz="2200">
                <a:solidFill>
                  <a:schemeClr val="dk1"/>
                </a:solidFill>
                <a:latin typeface="Arial Rounded"/>
                <a:ea typeface="Arial Rounded"/>
                <a:cs typeface="Arial Rounded"/>
                <a:sym typeface="Arial Rounded"/>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nvSpPr>
        <p:spPr>
          <a:xfrm>
            <a:off x="1054100" y="242634"/>
            <a:ext cx="9259939" cy="44371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accent2"/>
              </a:buClr>
              <a:buSzPts val="2800"/>
              <a:buFont typeface="Arial Rounded"/>
              <a:buNone/>
            </a:pPr>
            <a:r>
              <a:rPr b="1" lang="en-US" sz="2800">
                <a:solidFill>
                  <a:schemeClr val="accent2"/>
                </a:solidFill>
                <a:latin typeface="Arial Rounded"/>
                <a:ea typeface="Arial Rounded"/>
                <a:cs typeface="Arial Rounded"/>
                <a:sym typeface="Arial Rounded"/>
              </a:rPr>
              <a:t>Horizontal Fragmentation of </a:t>
            </a:r>
            <a:r>
              <a:rPr b="1" i="1" lang="en-US" sz="2800">
                <a:solidFill>
                  <a:schemeClr val="accent2"/>
                </a:solidFill>
                <a:latin typeface="Arial Rounded"/>
                <a:ea typeface="Arial Rounded"/>
                <a:cs typeface="Arial Rounded"/>
                <a:sym typeface="Arial Rounded"/>
              </a:rPr>
              <a:t>account </a:t>
            </a:r>
            <a:r>
              <a:rPr b="1" lang="en-US" sz="2800">
                <a:solidFill>
                  <a:schemeClr val="accent2"/>
                </a:solidFill>
                <a:latin typeface="Arial Rounded"/>
                <a:ea typeface="Arial Rounded"/>
                <a:cs typeface="Arial Rounded"/>
                <a:sym typeface="Arial Rounded"/>
              </a:rPr>
              <a:t>Relation</a:t>
            </a:r>
            <a:endParaRPr b="1" sz="2800">
              <a:solidFill>
                <a:schemeClr val="accent2"/>
              </a:solidFill>
              <a:latin typeface="Arial Rounded"/>
              <a:ea typeface="Arial Rounded"/>
              <a:cs typeface="Arial Rounded"/>
              <a:sym typeface="Arial Rounded"/>
            </a:endParaRPr>
          </a:p>
        </p:txBody>
      </p:sp>
      <p:grpSp>
        <p:nvGrpSpPr>
          <p:cNvPr id="215" name="Google Shape;215;p8"/>
          <p:cNvGrpSpPr/>
          <p:nvPr/>
        </p:nvGrpSpPr>
        <p:grpSpPr>
          <a:xfrm>
            <a:off x="1092200" y="948944"/>
            <a:ext cx="2133600" cy="610362"/>
            <a:chOff x="1092200" y="948944"/>
            <a:chExt cx="2133600" cy="610362"/>
          </a:xfrm>
        </p:grpSpPr>
        <p:sp>
          <p:nvSpPr>
            <p:cNvPr id="216" name="Google Shape;216;p8"/>
            <p:cNvSpPr/>
            <p:nvPr/>
          </p:nvSpPr>
          <p:spPr>
            <a:xfrm>
              <a:off x="1092200" y="949706"/>
              <a:ext cx="2133600" cy="609600"/>
            </a:xfrm>
            <a:custGeom>
              <a:rect b="b" l="l" r="r" t="t"/>
              <a:pathLst>
                <a:path extrusionOk="0" h="609600" w="2133600">
                  <a:moveTo>
                    <a:pt x="2133600" y="609600"/>
                  </a:moveTo>
                  <a:lnTo>
                    <a:pt x="2133600" y="0"/>
                  </a:lnTo>
                  <a:lnTo>
                    <a:pt x="0" y="0"/>
                  </a:lnTo>
                  <a:lnTo>
                    <a:pt x="0" y="609600"/>
                  </a:lnTo>
                  <a:lnTo>
                    <a:pt x="2133600" y="6096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p:nvPr/>
          </p:nvSpPr>
          <p:spPr>
            <a:xfrm>
              <a:off x="1092200" y="948944"/>
              <a:ext cx="2133600" cy="609600"/>
            </a:xfrm>
            <a:custGeom>
              <a:rect b="b" l="l" r="r" t="t"/>
              <a:pathLst>
                <a:path extrusionOk="0" h="609600" w="2133600">
                  <a:moveTo>
                    <a:pt x="0" y="0"/>
                  </a:moveTo>
                  <a:lnTo>
                    <a:pt x="0" y="609600"/>
                  </a:lnTo>
                  <a:lnTo>
                    <a:pt x="2133600" y="6096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8" name="Google Shape;218;p8"/>
          <p:cNvSpPr txBox="1"/>
          <p:nvPr/>
        </p:nvSpPr>
        <p:spPr>
          <a:xfrm>
            <a:off x="1355852" y="1121410"/>
            <a:ext cx="1565275" cy="3302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None/>
            </a:pPr>
            <a:r>
              <a:rPr i="1" lang="en-US" sz="2000">
                <a:solidFill>
                  <a:schemeClr val="dk1"/>
                </a:solidFill>
                <a:latin typeface="Arial"/>
                <a:ea typeface="Arial"/>
                <a:cs typeface="Arial"/>
                <a:sym typeface="Arial"/>
              </a:rPr>
              <a:t>branch_name</a:t>
            </a:r>
            <a:endParaRPr sz="2000">
              <a:solidFill>
                <a:schemeClr val="dk1"/>
              </a:solidFill>
              <a:latin typeface="Arial"/>
              <a:ea typeface="Arial"/>
              <a:cs typeface="Arial"/>
              <a:sym typeface="Arial"/>
            </a:endParaRPr>
          </a:p>
        </p:txBody>
      </p:sp>
      <p:grpSp>
        <p:nvGrpSpPr>
          <p:cNvPr id="219" name="Google Shape;219;p8"/>
          <p:cNvGrpSpPr/>
          <p:nvPr/>
        </p:nvGrpSpPr>
        <p:grpSpPr>
          <a:xfrm>
            <a:off x="3225800" y="948944"/>
            <a:ext cx="2133600" cy="610362"/>
            <a:chOff x="3225800" y="948944"/>
            <a:chExt cx="2133600" cy="610362"/>
          </a:xfrm>
        </p:grpSpPr>
        <p:sp>
          <p:nvSpPr>
            <p:cNvPr id="220" name="Google Shape;220;p8"/>
            <p:cNvSpPr/>
            <p:nvPr/>
          </p:nvSpPr>
          <p:spPr>
            <a:xfrm>
              <a:off x="3225800" y="949706"/>
              <a:ext cx="2133600" cy="609600"/>
            </a:xfrm>
            <a:custGeom>
              <a:rect b="b" l="l" r="r" t="t"/>
              <a:pathLst>
                <a:path extrusionOk="0" h="609600" w="2133600">
                  <a:moveTo>
                    <a:pt x="2133600" y="609600"/>
                  </a:moveTo>
                  <a:lnTo>
                    <a:pt x="2133600" y="0"/>
                  </a:lnTo>
                  <a:lnTo>
                    <a:pt x="0" y="0"/>
                  </a:lnTo>
                  <a:lnTo>
                    <a:pt x="0" y="609600"/>
                  </a:lnTo>
                  <a:lnTo>
                    <a:pt x="2133600" y="6096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8"/>
            <p:cNvSpPr/>
            <p:nvPr/>
          </p:nvSpPr>
          <p:spPr>
            <a:xfrm>
              <a:off x="3225800" y="948944"/>
              <a:ext cx="2133600" cy="609600"/>
            </a:xfrm>
            <a:custGeom>
              <a:rect b="b" l="l" r="r" t="t"/>
              <a:pathLst>
                <a:path extrusionOk="0" h="609600" w="2133600">
                  <a:moveTo>
                    <a:pt x="0" y="0"/>
                  </a:moveTo>
                  <a:lnTo>
                    <a:pt x="0" y="609600"/>
                  </a:lnTo>
                  <a:lnTo>
                    <a:pt x="2133600" y="6096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2" name="Google Shape;222;p8"/>
          <p:cNvSpPr txBox="1"/>
          <p:nvPr/>
        </p:nvSpPr>
        <p:spPr>
          <a:xfrm>
            <a:off x="3372103" y="1108456"/>
            <a:ext cx="1903095" cy="3302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None/>
            </a:pPr>
            <a:r>
              <a:rPr i="1" lang="en-US" sz="2000">
                <a:solidFill>
                  <a:schemeClr val="dk1"/>
                </a:solidFill>
                <a:latin typeface="Arial"/>
                <a:ea typeface="Arial"/>
                <a:cs typeface="Arial"/>
                <a:sym typeface="Arial"/>
              </a:rPr>
              <a:t>account_number</a:t>
            </a:r>
            <a:endParaRPr sz="2000">
              <a:solidFill>
                <a:schemeClr val="dk1"/>
              </a:solidFill>
              <a:latin typeface="Arial"/>
              <a:ea typeface="Arial"/>
              <a:cs typeface="Arial"/>
              <a:sym typeface="Arial"/>
            </a:endParaRPr>
          </a:p>
        </p:txBody>
      </p:sp>
      <p:grpSp>
        <p:nvGrpSpPr>
          <p:cNvPr id="223" name="Google Shape;223;p8"/>
          <p:cNvGrpSpPr/>
          <p:nvPr/>
        </p:nvGrpSpPr>
        <p:grpSpPr>
          <a:xfrm>
            <a:off x="5359400" y="948944"/>
            <a:ext cx="2133600" cy="610362"/>
            <a:chOff x="5359400" y="948944"/>
            <a:chExt cx="2133600" cy="610362"/>
          </a:xfrm>
        </p:grpSpPr>
        <p:sp>
          <p:nvSpPr>
            <p:cNvPr id="224" name="Google Shape;224;p8"/>
            <p:cNvSpPr/>
            <p:nvPr/>
          </p:nvSpPr>
          <p:spPr>
            <a:xfrm>
              <a:off x="5359400" y="949706"/>
              <a:ext cx="2133600" cy="609600"/>
            </a:xfrm>
            <a:custGeom>
              <a:rect b="b" l="l" r="r" t="t"/>
              <a:pathLst>
                <a:path extrusionOk="0" h="609600" w="2133600">
                  <a:moveTo>
                    <a:pt x="2133600" y="609600"/>
                  </a:moveTo>
                  <a:lnTo>
                    <a:pt x="2133600" y="0"/>
                  </a:lnTo>
                  <a:lnTo>
                    <a:pt x="0" y="0"/>
                  </a:lnTo>
                  <a:lnTo>
                    <a:pt x="0" y="609600"/>
                  </a:lnTo>
                  <a:lnTo>
                    <a:pt x="2133600" y="6096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8"/>
            <p:cNvSpPr/>
            <p:nvPr/>
          </p:nvSpPr>
          <p:spPr>
            <a:xfrm>
              <a:off x="5359400" y="948944"/>
              <a:ext cx="2133600" cy="609600"/>
            </a:xfrm>
            <a:custGeom>
              <a:rect b="b" l="l" r="r" t="t"/>
              <a:pathLst>
                <a:path extrusionOk="0" h="609600" w="2133600">
                  <a:moveTo>
                    <a:pt x="0" y="0"/>
                  </a:moveTo>
                  <a:lnTo>
                    <a:pt x="0" y="609600"/>
                  </a:lnTo>
                  <a:lnTo>
                    <a:pt x="2133600" y="6096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 name="Google Shape;226;p8"/>
          <p:cNvSpPr txBox="1"/>
          <p:nvPr/>
        </p:nvSpPr>
        <p:spPr>
          <a:xfrm>
            <a:off x="5913373" y="1121410"/>
            <a:ext cx="902969" cy="3302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None/>
            </a:pPr>
            <a:r>
              <a:rPr i="1" lang="en-US" sz="2000">
                <a:solidFill>
                  <a:schemeClr val="dk1"/>
                </a:solidFill>
                <a:latin typeface="Arial"/>
                <a:ea typeface="Arial"/>
                <a:cs typeface="Arial"/>
                <a:sym typeface="Arial"/>
              </a:rPr>
              <a:t>balance</a:t>
            </a:r>
            <a:endParaRPr sz="2000">
              <a:solidFill>
                <a:schemeClr val="dk1"/>
              </a:solidFill>
              <a:latin typeface="Arial"/>
              <a:ea typeface="Arial"/>
              <a:cs typeface="Arial"/>
              <a:sym typeface="Arial"/>
            </a:endParaRPr>
          </a:p>
        </p:txBody>
      </p:sp>
      <p:grpSp>
        <p:nvGrpSpPr>
          <p:cNvPr id="227" name="Google Shape;227;p8"/>
          <p:cNvGrpSpPr/>
          <p:nvPr/>
        </p:nvGrpSpPr>
        <p:grpSpPr>
          <a:xfrm>
            <a:off x="1092200" y="1634744"/>
            <a:ext cx="2133600" cy="1143762"/>
            <a:chOff x="1092200" y="1634744"/>
            <a:chExt cx="2133600" cy="1143762"/>
          </a:xfrm>
        </p:grpSpPr>
        <p:sp>
          <p:nvSpPr>
            <p:cNvPr id="228" name="Google Shape;228;p8"/>
            <p:cNvSpPr/>
            <p:nvPr/>
          </p:nvSpPr>
          <p:spPr>
            <a:xfrm>
              <a:off x="1092200" y="1635506"/>
              <a:ext cx="2133600" cy="1143000"/>
            </a:xfrm>
            <a:custGeom>
              <a:rect b="b" l="l" r="r" t="t"/>
              <a:pathLst>
                <a:path extrusionOk="0" h="1143000" w="2133600">
                  <a:moveTo>
                    <a:pt x="2133600" y="1143000"/>
                  </a:moveTo>
                  <a:lnTo>
                    <a:pt x="2133600" y="0"/>
                  </a:lnTo>
                  <a:lnTo>
                    <a:pt x="0" y="0"/>
                  </a:lnTo>
                  <a:lnTo>
                    <a:pt x="0" y="1143000"/>
                  </a:lnTo>
                  <a:lnTo>
                    <a:pt x="2133600" y="11430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8"/>
            <p:cNvSpPr/>
            <p:nvPr/>
          </p:nvSpPr>
          <p:spPr>
            <a:xfrm>
              <a:off x="1092200" y="1634744"/>
              <a:ext cx="2133600" cy="1143000"/>
            </a:xfrm>
            <a:custGeom>
              <a:rect b="b" l="l" r="r" t="t"/>
              <a:pathLst>
                <a:path extrusionOk="0" h="1143000" w="2133600">
                  <a:moveTo>
                    <a:pt x="0" y="0"/>
                  </a:moveTo>
                  <a:lnTo>
                    <a:pt x="0" y="1143000"/>
                  </a:lnTo>
                  <a:lnTo>
                    <a:pt x="2133600" y="11430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0" name="Google Shape;230;p8"/>
          <p:cNvSpPr txBox="1"/>
          <p:nvPr/>
        </p:nvSpPr>
        <p:spPr>
          <a:xfrm>
            <a:off x="1212596" y="1683004"/>
            <a:ext cx="835660" cy="939800"/>
          </a:xfrm>
          <a:prstGeom prst="rect">
            <a:avLst/>
          </a:prstGeom>
          <a:noFill/>
          <a:ln>
            <a:noFill/>
          </a:ln>
        </p:spPr>
        <p:txBody>
          <a:bodyPr anchorCtr="0" anchor="t" bIns="0" lIns="0" spcFirstLastPara="1" rIns="0" wrap="square" tIns="12050">
            <a:spAutoFit/>
          </a:bodyPr>
          <a:lstStyle/>
          <a:p>
            <a:pPr indent="0" lvl="0" marL="0" marR="5080" rtl="0" algn="just">
              <a:lnSpc>
                <a:spcPct val="100000"/>
              </a:lnSpc>
              <a:spcBef>
                <a:spcPts val="0"/>
              </a:spcBef>
              <a:spcAft>
                <a:spcPts val="0"/>
              </a:spcAft>
              <a:buNone/>
            </a:pPr>
            <a:r>
              <a:rPr lang="en-US" sz="2000">
                <a:solidFill>
                  <a:schemeClr val="dk1"/>
                </a:solidFill>
                <a:latin typeface="Arial"/>
                <a:ea typeface="Arial"/>
                <a:cs typeface="Arial"/>
                <a:sym typeface="Arial"/>
              </a:rPr>
              <a:t>Hillside  Hillside  Hillside</a:t>
            </a:r>
            <a:endParaRPr sz="2000">
              <a:solidFill>
                <a:schemeClr val="dk1"/>
              </a:solidFill>
              <a:latin typeface="Arial"/>
              <a:ea typeface="Arial"/>
              <a:cs typeface="Arial"/>
              <a:sym typeface="Arial"/>
            </a:endParaRPr>
          </a:p>
        </p:txBody>
      </p:sp>
      <p:grpSp>
        <p:nvGrpSpPr>
          <p:cNvPr id="231" name="Google Shape;231;p8"/>
          <p:cNvGrpSpPr/>
          <p:nvPr/>
        </p:nvGrpSpPr>
        <p:grpSpPr>
          <a:xfrm>
            <a:off x="3225800" y="1634744"/>
            <a:ext cx="2133600" cy="1143762"/>
            <a:chOff x="3225800" y="1634744"/>
            <a:chExt cx="2133600" cy="1143762"/>
          </a:xfrm>
        </p:grpSpPr>
        <p:sp>
          <p:nvSpPr>
            <p:cNvPr id="232" name="Google Shape;232;p8"/>
            <p:cNvSpPr/>
            <p:nvPr/>
          </p:nvSpPr>
          <p:spPr>
            <a:xfrm>
              <a:off x="3225800" y="1635506"/>
              <a:ext cx="2133600" cy="1143000"/>
            </a:xfrm>
            <a:custGeom>
              <a:rect b="b" l="l" r="r" t="t"/>
              <a:pathLst>
                <a:path extrusionOk="0" h="1143000" w="2133600">
                  <a:moveTo>
                    <a:pt x="2133600" y="1143000"/>
                  </a:moveTo>
                  <a:lnTo>
                    <a:pt x="2133600" y="0"/>
                  </a:lnTo>
                  <a:lnTo>
                    <a:pt x="0" y="0"/>
                  </a:lnTo>
                  <a:lnTo>
                    <a:pt x="0" y="1143000"/>
                  </a:lnTo>
                  <a:lnTo>
                    <a:pt x="2133600" y="11430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8"/>
            <p:cNvSpPr/>
            <p:nvPr/>
          </p:nvSpPr>
          <p:spPr>
            <a:xfrm>
              <a:off x="3225800" y="1634744"/>
              <a:ext cx="2133600" cy="1143000"/>
            </a:xfrm>
            <a:custGeom>
              <a:rect b="b" l="l" r="r" t="t"/>
              <a:pathLst>
                <a:path extrusionOk="0" h="1143000" w="2133600">
                  <a:moveTo>
                    <a:pt x="0" y="0"/>
                  </a:moveTo>
                  <a:lnTo>
                    <a:pt x="0" y="1143000"/>
                  </a:lnTo>
                  <a:lnTo>
                    <a:pt x="2133600" y="11430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8"/>
          <p:cNvSpPr txBox="1"/>
          <p:nvPr/>
        </p:nvSpPr>
        <p:spPr>
          <a:xfrm>
            <a:off x="3737102" y="1689100"/>
            <a:ext cx="690880" cy="939800"/>
          </a:xfrm>
          <a:prstGeom prst="rect">
            <a:avLst/>
          </a:prstGeom>
          <a:noFill/>
          <a:ln>
            <a:noFill/>
          </a:ln>
        </p:spPr>
        <p:txBody>
          <a:bodyPr anchorCtr="0" anchor="t" bIns="0" lIns="0" spcFirstLastPara="1" rIns="0" wrap="square" tIns="12050">
            <a:spAutoFit/>
          </a:bodyPr>
          <a:lstStyle/>
          <a:p>
            <a:pPr indent="0" lvl="0" marL="0" marR="5080" rtl="0" algn="just">
              <a:lnSpc>
                <a:spcPct val="100000"/>
              </a:lnSpc>
              <a:spcBef>
                <a:spcPts val="0"/>
              </a:spcBef>
              <a:spcAft>
                <a:spcPts val="0"/>
              </a:spcAft>
              <a:buNone/>
            </a:pPr>
            <a:r>
              <a:rPr lang="en-US" sz="2000">
                <a:solidFill>
                  <a:schemeClr val="dk1"/>
                </a:solidFill>
                <a:latin typeface="Arial"/>
                <a:ea typeface="Arial"/>
                <a:cs typeface="Arial"/>
                <a:sym typeface="Arial"/>
              </a:rPr>
              <a:t>A-305  A-226  A-155</a:t>
            </a:r>
            <a:endParaRPr sz="2000">
              <a:solidFill>
                <a:schemeClr val="dk1"/>
              </a:solidFill>
              <a:latin typeface="Arial"/>
              <a:ea typeface="Arial"/>
              <a:cs typeface="Arial"/>
              <a:sym typeface="Arial"/>
            </a:endParaRPr>
          </a:p>
        </p:txBody>
      </p:sp>
      <p:grpSp>
        <p:nvGrpSpPr>
          <p:cNvPr id="235" name="Google Shape;235;p8"/>
          <p:cNvGrpSpPr/>
          <p:nvPr/>
        </p:nvGrpSpPr>
        <p:grpSpPr>
          <a:xfrm>
            <a:off x="5359400" y="1634744"/>
            <a:ext cx="2133600" cy="1143762"/>
            <a:chOff x="5359400" y="1634744"/>
            <a:chExt cx="2133600" cy="1143762"/>
          </a:xfrm>
        </p:grpSpPr>
        <p:sp>
          <p:nvSpPr>
            <p:cNvPr id="236" name="Google Shape;236;p8"/>
            <p:cNvSpPr/>
            <p:nvPr/>
          </p:nvSpPr>
          <p:spPr>
            <a:xfrm>
              <a:off x="5359400" y="1635506"/>
              <a:ext cx="2133600" cy="1143000"/>
            </a:xfrm>
            <a:custGeom>
              <a:rect b="b" l="l" r="r" t="t"/>
              <a:pathLst>
                <a:path extrusionOk="0" h="1143000" w="2133600">
                  <a:moveTo>
                    <a:pt x="2133600" y="1143000"/>
                  </a:moveTo>
                  <a:lnTo>
                    <a:pt x="2133600" y="0"/>
                  </a:lnTo>
                  <a:lnTo>
                    <a:pt x="0" y="0"/>
                  </a:lnTo>
                  <a:lnTo>
                    <a:pt x="0" y="1143000"/>
                  </a:lnTo>
                  <a:lnTo>
                    <a:pt x="2133600" y="11430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8"/>
            <p:cNvSpPr/>
            <p:nvPr/>
          </p:nvSpPr>
          <p:spPr>
            <a:xfrm>
              <a:off x="5359400" y="1634744"/>
              <a:ext cx="2133600" cy="1143000"/>
            </a:xfrm>
            <a:custGeom>
              <a:rect b="b" l="l" r="r" t="t"/>
              <a:pathLst>
                <a:path extrusionOk="0" h="1143000" w="2133600">
                  <a:moveTo>
                    <a:pt x="0" y="0"/>
                  </a:moveTo>
                  <a:lnTo>
                    <a:pt x="0" y="1143000"/>
                  </a:lnTo>
                  <a:lnTo>
                    <a:pt x="2133600" y="11430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8" name="Google Shape;238;p8"/>
          <p:cNvSpPr txBox="1"/>
          <p:nvPr/>
        </p:nvSpPr>
        <p:spPr>
          <a:xfrm>
            <a:off x="6181597" y="1708150"/>
            <a:ext cx="435609" cy="9398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500</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336</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62</a:t>
            </a:r>
            <a:endParaRPr sz="2000">
              <a:solidFill>
                <a:schemeClr val="dk1"/>
              </a:solidFill>
              <a:latin typeface="Arial"/>
              <a:ea typeface="Arial"/>
              <a:cs typeface="Arial"/>
              <a:sym typeface="Arial"/>
            </a:endParaRPr>
          </a:p>
        </p:txBody>
      </p:sp>
      <p:sp>
        <p:nvSpPr>
          <p:cNvPr id="239" name="Google Shape;239;p8"/>
          <p:cNvSpPr txBox="1"/>
          <p:nvPr/>
        </p:nvSpPr>
        <p:spPr>
          <a:xfrm>
            <a:off x="2333501" y="2930445"/>
            <a:ext cx="4400550" cy="34734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None/>
            </a:pPr>
            <a:r>
              <a:rPr baseline="30000" i="1" lang="en-US" sz="3000">
                <a:solidFill>
                  <a:schemeClr val="dk1"/>
                </a:solidFill>
                <a:latin typeface="Arial"/>
                <a:ea typeface="Arial"/>
                <a:cs typeface="Arial"/>
                <a:sym typeface="Arial"/>
              </a:rPr>
              <a:t>account</a:t>
            </a:r>
            <a:r>
              <a:rPr i="1" lang="en-US" sz="1300">
                <a:solidFill>
                  <a:schemeClr val="dk1"/>
                </a:solidFill>
                <a:latin typeface="Arial"/>
                <a:ea typeface="Arial"/>
                <a:cs typeface="Arial"/>
                <a:sym typeface="Arial"/>
              </a:rPr>
              <a:t>1 </a:t>
            </a:r>
            <a:r>
              <a:rPr baseline="30000" lang="en-US" sz="3000">
                <a:solidFill>
                  <a:schemeClr val="dk1"/>
                </a:solidFill>
                <a:latin typeface="Arial"/>
                <a:ea typeface="Arial"/>
                <a:cs typeface="Arial"/>
                <a:sym typeface="Arial"/>
              </a:rPr>
              <a:t>= </a:t>
            </a:r>
            <a:r>
              <a:rPr baseline="30000" lang="en-US" sz="3150">
                <a:solidFill>
                  <a:schemeClr val="dk1"/>
                </a:solidFill>
                <a:latin typeface="Noto Sans Symbols"/>
                <a:ea typeface="Noto Sans Symbols"/>
                <a:cs typeface="Noto Sans Symbols"/>
                <a:sym typeface="Noto Sans Symbols"/>
              </a:rPr>
              <a:t>σ</a:t>
            </a:r>
            <a:r>
              <a:rPr i="1" lang="en-US" sz="1300">
                <a:solidFill>
                  <a:schemeClr val="dk1"/>
                </a:solidFill>
                <a:latin typeface="Arial"/>
                <a:ea typeface="Arial"/>
                <a:cs typeface="Arial"/>
                <a:sym typeface="Arial"/>
              </a:rPr>
              <a:t>branch_name=“Hillside” </a:t>
            </a:r>
            <a:r>
              <a:rPr baseline="30000" lang="en-US" sz="3000">
                <a:solidFill>
                  <a:schemeClr val="dk1"/>
                </a:solidFill>
                <a:latin typeface="Arial"/>
                <a:ea typeface="Arial"/>
                <a:cs typeface="Arial"/>
                <a:sym typeface="Arial"/>
              </a:rPr>
              <a:t>(</a:t>
            </a:r>
            <a:r>
              <a:rPr baseline="30000" i="1" lang="en-US" sz="3000">
                <a:solidFill>
                  <a:schemeClr val="dk1"/>
                </a:solidFill>
                <a:latin typeface="Arial"/>
                <a:ea typeface="Arial"/>
                <a:cs typeface="Arial"/>
                <a:sym typeface="Arial"/>
              </a:rPr>
              <a:t>account </a:t>
            </a:r>
            <a:r>
              <a:rPr baseline="30000" lang="en-US" sz="3000">
                <a:solidFill>
                  <a:schemeClr val="dk1"/>
                </a:solidFill>
                <a:latin typeface="Arial"/>
                <a:ea typeface="Arial"/>
                <a:cs typeface="Arial"/>
                <a:sym typeface="Arial"/>
              </a:rPr>
              <a:t>)</a:t>
            </a:r>
            <a:endParaRPr baseline="30000" sz="3000">
              <a:solidFill>
                <a:schemeClr val="dk1"/>
              </a:solidFill>
              <a:latin typeface="Arial"/>
              <a:ea typeface="Arial"/>
              <a:cs typeface="Arial"/>
              <a:sym typeface="Arial"/>
            </a:endParaRPr>
          </a:p>
        </p:txBody>
      </p:sp>
      <p:grpSp>
        <p:nvGrpSpPr>
          <p:cNvPr id="240" name="Google Shape;240;p8"/>
          <p:cNvGrpSpPr/>
          <p:nvPr/>
        </p:nvGrpSpPr>
        <p:grpSpPr>
          <a:xfrm>
            <a:off x="1054100" y="3492500"/>
            <a:ext cx="4267200" cy="609600"/>
            <a:chOff x="1054100" y="3492500"/>
            <a:chExt cx="4267200" cy="609600"/>
          </a:xfrm>
        </p:grpSpPr>
        <p:sp>
          <p:nvSpPr>
            <p:cNvPr id="241" name="Google Shape;241;p8"/>
            <p:cNvSpPr/>
            <p:nvPr/>
          </p:nvSpPr>
          <p:spPr>
            <a:xfrm>
              <a:off x="1054100" y="3492500"/>
              <a:ext cx="2133600" cy="609600"/>
            </a:xfrm>
            <a:custGeom>
              <a:rect b="b" l="l" r="r" t="t"/>
              <a:pathLst>
                <a:path extrusionOk="0" h="609600" w="2133600">
                  <a:moveTo>
                    <a:pt x="2133600" y="609600"/>
                  </a:moveTo>
                  <a:lnTo>
                    <a:pt x="2133600" y="0"/>
                  </a:lnTo>
                  <a:lnTo>
                    <a:pt x="0" y="0"/>
                  </a:lnTo>
                  <a:lnTo>
                    <a:pt x="0" y="609600"/>
                  </a:lnTo>
                  <a:lnTo>
                    <a:pt x="2133600" y="6096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8"/>
            <p:cNvSpPr/>
            <p:nvPr/>
          </p:nvSpPr>
          <p:spPr>
            <a:xfrm>
              <a:off x="1054100" y="3492500"/>
              <a:ext cx="2133600" cy="609600"/>
            </a:xfrm>
            <a:custGeom>
              <a:rect b="b" l="l" r="r" t="t"/>
              <a:pathLst>
                <a:path extrusionOk="0" h="609600" w="2133600">
                  <a:moveTo>
                    <a:pt x="0" y="0"/>
                  </a:moveTo>
                  <a:lnTo>
                    <a:pt x="0" y="609600"/>
                  </a:lnTo>
                  <a:lnTo>
                    <a:pt x="2133600" y="6096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8"/>
            <p:cNvSpPr/>
            <p:nvPr/>
          </p:nvSpPr>
          <p:spPr>
            <a:xfrm>
              <a:off x="3187700" y="3492500"/>
              <a:ext cx="2133600" cy="609600"/>
            </a:xfrm>
            <a:custGeom>
              <a:rect b="b" l="l" r="r" t="t"/>
              <a:pathLst>
                <a:path extrusionOk="0" h="609600" w="2133600">
                  <a:moveTo>
                    <a:pt x="2133600" y="609600"/>
                  </a:moveTo>
                  <a:lnTo>
                    <a:pt x="2133600" y="0"/>
                  </a:lnTo>
                  <a:lnTo>
                    <a:pt x="0" y="0"/>
                  </a:lnTo>
                  <a:lnTo>
                    <a:pt x="0" y="609600"/>
                  </a:lnTo>
                  <a:lnTo>
                    <a:pt x="2133600" y="6096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8"/>
            <p:cNvSpPr/>
            <p:nvPr/>
          </p:nvSpPr>
          <p:spPr>
            <a:xfrm>
              <a:off x="3187700" y="3492500"/>
              <a:ext cx="2133600" cy="609600"/>
            </a:xfrm>
            <a:custGeom>
              <a:rect b="b" l="l" r="r" t="t"/>
              <a:pathLst>
                <a:path extrusionOk="0" h="609600" w="2133600">
                  <a:moveTo>
                    <a:pt x="0" y="0"/>
                  </a:moveTo>
                  <a:lnTo>
                    <a:pt x="0" y="609600"/>
                  </a:lnTo>
                  <a:lnTo>
                    <a:pt x="2133600" y="6096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5" name="Google Shape;245;p8"/>
          <p:cNvSpPr txBox="1"/>
          <p:nvPr/>
        </p:nvSpPr>
        <p:spPr>
          <a:xfrm>
            <a:off x="3246373" y="3645153"/>
            <a:ext cx="1903095" cy="3302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None/>
            </a:pPr>
            <a:r>
              <a:rPr i="1" lang="en-US" sz="2000">
                <a:solidFill>
                  <a:schemeClr val="dk1"/>
                </a:solidFill>
                <a:latin typeface="Arial"/>
                <a:ea typeface="Arial"/>
                <a:cs typeface="Arial"/>
                <a:sym typeface="Arial"/>
              </a:rPr>
              <a:t>account_number</a:t>
            </a:r>
            <a:endParaRPr sz="2000">
              <a:solidFill>
                <a:schemeClr val="dk1"/>
              </a:solidFill>
              <a:latin typeface="Arial"/>
              <a:ea typeface="Arial"/>
              <a:cs typeface="Arial"/>
              <a:sym typeface="Arial"/>
            </a:endParaRPr>
          </a:p>
        </p:txBody>
      </p:sp>
      <p:grpSp>
        <p:nvGrpSpPr>
          <p:cNvPr id="246" name="Google Shape;246;p8"/>
          <p:cNvGrpSpPr/>
          <p:nvPr/>
        </p:nvGrpSpPr>
        <p:grpSpPr>
          <a:xfrm>
            <a:off x="5321300" y="3492500"/>
            <a:ext cx="2133600" cy="609600"/>
            <a:chOff x="5321300" y="3492500"/>
            <a:chExt cx="2133600" cy="609600"/>
          </a:xfrm>
        </p:grpSpPr>
        <p:sp>
          <p:nvSpPr>
            <p:cNvPr id="247" name="Google Shape;247;p8"/>
            <p:cNvSpPr/>
            <p:nvPr/>
          </p:nvSpPr>
          <p:spPr>
            <a:xfrm>
              <a:off x="5321300" y="3492500"/>
              <a:ext cx="2133600" cy="609600"/>
            </a:xfrm>
            <a:custGeom>
              <a:rect b="b" l="l" r="r" t="t"/>
              <a:pathLst>
                <a:path extrusionOk="0" h="609600" w="2133600">
                  <a:moveTo>
                    <a:pt x="2133600" y="609600"/>
                  </a:moveTo>
                  <a:lnTo>
                    <a:pt x="2133600" y="0"/>
                  </a:lnTo>
                  <a:lnTo>
                    <a:pt x="0" y="0"/>
                  </a:lnTo>
                  <a:lnTo>
                    <a:pt x="0" y="609600"/>
                  </a:lnTo>
                  <a:lnTo>
                    <a:pt x="2133600" y="6096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8"/>
            <p:cNvSpPr/>
            <p:nvPr/>
          </p:nvSpPr>
          <p:spPr>
            <a:xfrm>
              <a:off x="5321300" y="3492500"/>
              <a:ext cx="2133600" cy="609600"/>
            </a:xfrm>
            <a:custGeom>
              <a:rect b="b" l="l" r="r" t="t"/>
              <a:pathLst>
                <a:path extrusionOk="0" h="609600" w="2133600">
                  <a:moveTo>
                    <a:pt x="0" y="0"/>
                  </a:moveTo>
                  <a:lnTo>
                    <a:pt x="0" y="609600"/>
                  </a:lnTo>
                  <a:lnTo>
                    <a:pt x="2133600" y="6096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9" name="Google Shape;249;p8"/>
          <p:cNvSpPr txBox="1"/>
          <p:nvPr/>
        </p:nvSpPr>
        <p:spPr>
          <a:xfrm>
            <a:off x="5550675" y="3604700"/>
            <a:ext cx="4133100" cy="3201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None/>
            </a:pPr>
            <a:r>
              <a:rPr i="1" lang="en-US" sz="2000">
                <a:solidFill>
                  <a:schemeClr val="dk1"/>
                </a:solidFill>
                <a:latin typeface="Arial"/>
                <a:ea typeface="Arial"/>
                <a:cs typeface="Arial"/>
                <a:sym typeface="Arial"/>
              </a:rPr>
              <a:t>	balance</a:t>
            </a:r>
            <a:endParaRPr sz="2000">
              <a:solidFill>
                <a:schemeClr val="dk1"/>
              </a:solidFill>
              <a:latin typeface="Arial"/>
              <a:ea typeface="Arial"/>
              <a:cs typeface="Arial"/>
              <a:sym typeface="Arial"/>
            </a:endParaRPr>
          </a:p>
        </p:txBody>
      </p:sp>
      <p:grpSp>
        <p:nvGrpSpPr>
          <p:cNvPr id="250" name="Google Shape;250;p8"/>
          <p:cNvGrpSpPr/>
          <p:nvPr/>
        </p:nvGrpSpPr>
        <p:grpSpPr>
          <a:xfrm>
            <a:off x="1054100" y="4178300"/>
            <a:ext cx="2133600" cy="1524000"/>
            <a:chOff x="1054100" y="4178300"/>
            <a:chExt cx="2133600" cy="1524000"/>
          </a:xfrm>
        </p:grpSpPr>
        <p:sp>
          <p:nvSpPr>
            <p:cNvPr id="251" name="Google Shape;251;p8"/>
            <p:cNvSpPr/>
            <p:nvPr/>
          </p:nvSpPr>
          <p:spPr>
            <a:xfrm>
              <a:off x="1054100" y="4178300"/>
              <a:ext cx="2133600" cy="1524000"/>
            </a:xfrm>
            <a:custGeom>
              <a:rect b="b" l="l" r="r" t="t"/>
              <a:pathLst>
                <a:path extrusionOk="0" h="1524000" w="2133600">
                  <a:moveTo>
                    <a:pt x="2133600" y="1524000"/>
                  </a:moveTo>
                  <a:lnTo>
                    <a:pt x="2133599" y="0"/>
                  </a:lnTo>
                  <a:lnTo>
                    <a:pt x="0" y="0"/>
                  </a:lnTo>
                  <a:lnTo>
                    <a:pt x="0" y="1524000"/>
                  </a:lnTo>
                  <a:lnTo>
                    <a:pt x="2133600" y="15240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8"/>
            <p:cNvSpPr/>
            <p:nvPr/>
          </p:nvSpPr>
          <p:spPr>
            <a:xfrm>
              <a:off x="1054100" y="4178300"/>
              <a:ext cx="2133600" cy="1524000"/>
            </a:xfrm>
            <a:custGeom>
              <a:rect b="b" l="l" r="r" t="t"/>
              <a:pathLst>
                <a:path extrusionOk="0" h="1524000" w="2133600">
                  <a:moveTo>
                    <a:pt x="0" y="0"/>
                  </a:moveTo>
                  <a:lnTo>
                    <a:pt x="0" y="1524000"/>
                  </a:lnTo>
                  <a:lnTo>
                    <a:pt x="2133600" y="1524000"/>
                  </a:lnTo>
                  <a:lnTo>
                    <a:pt x="2133599"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8"/>
          <p:cNvSpPr txBox="1"/>
          <p:nvPr/>
        </p:nvSpPr>
        <p:spPr>
          <a:xfrm>
            <a:off x="1174496" y="4226559"/>
            <a:ext cx="1215390" cy="1244600"/>
          </a:xfrm>
          <a:prstGeom prst="rect">
            <a:avLst/>
          </a:prstGeom>
          <a:noFill/>
          <a:ln>
            <a:noFill/>
          </a:ln>
        </p:spPr>
        <p:txBody>
          <a:bodyPr anchorCtr="0" anchor="t" bIns="0" lIns="0" spcFirstLastPara="1" rIns="0" wrap="square" tIns="12050">
            <a:spAutoFit/>
          </a:bodyPr>
          <a:lstStyle/>
          <a:p>
            <a:pPr indent="0" lvl="0" marL="0" marR="5080" rtl="0" algn="just">
              <a:lnSpc>
                <a:spcPct val="100000"/>
              </a:lnSpc>
              <a:spcBef>
                <a:spcPts val="0"/>
              </a:spcBef>
              <a:spcAft>
                <a:spcPts val="0"/>
              </a:spcAft>
              <a:buNone/>
            </a:pPr>
            <a:r>
              <a:rPr lang="en-US" sz="2000">
                <a:solidFill>
                  <a:schemeClr val="dk1"/>
                </a:solidFill>
                <a:latin typeface="Arial"/>
                <a:ea typeface="Arial"/>
                <a:cs typeface="Arial"/>
                <a:sym typeface="Arial"/>
              </a:rPr>
              <a:t>Valleyview  Valleyview  Valleyview  Valleyview</a:t>
            </a:r>
            <a:endParaRPr sz="2000">
              <a:solidFill>
                <a:schemeClr val="dk1"/>
              </a:solidFill>
              <a:latin typeface="Arial"/>
              <a:ea typeface="Arial"/>
              <a:cs typeface="Arial"/>
              <a:sym typeface="Arial"/>
            </a:endParaRPr>
          </a:p>
        </p:txBody>
      </p:sp>
      <p:grpSp>
        <p:nvGrpSpPr>
          <p:cNvPr id="254" name="Google Shape;254;p8"/>
          <p:cNvGrpSpPr/>
          <p:nvPr/>
        </p:nvGrpSpPr>
        <p:grpSpPr>
          <a:xfrm>
            <a:off x="3187700" y="4178300"/>
            <a:ext cx="2133600" cy="1524000"/>
            <a:chOff x="3187700" y="4178300"/>
            <a:chExt cx="2133600" cy="1524000"/>
          </a:xfrm>
        </p:grpSpPr>
        <p:sp>
          <p:nvSpPr>
            <p:cNvPr id="255" name="Google Shape;255;p8"/>
            <p:cNvSpPr/>
            <p:nvPr/>
          </p:nvSpPr>
          <p:spPr>
            <a:xfrm>
              <a:off x="3187700" y="4178300"/>
              <a:ext cx="2133600" cy="1524000"/>
            </a:xfrm>
            <a:custGeom>
              <a:rect b="b" l="l" r="r" t="t"/>
              <a:pathLst>
                <a:path extrusionOk="0" h="1524000" w="2133600">
                  <a:moveTo>
                    <a:pt x="2133600" y="1524000"/>
                  </a:moveTo>
                  <a:lnTo>
                    <a:pt x="2133600" y="0"/>
                  </a:lnTo>
                  <a:lnTo>
                    <a:pt x="0" y="0"/>
                  </a:lnTo>
                  <a:lnTo>
                    <a:pt x="0" y="1524000"/>
                  </a:lnTo>
                  <a:lnTo>
                    <a:pt x="2133600" y="15240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8"/>
            <p:cNvSpPr/>
            <p:nvPr/>
          </p:nvSpPr>
          <p:spPr>
            <a:xfrm>
              <a:off x="3187700" y="4178300"/>
              <a:ext cx="2133600" cy="1524000"/>
            </a:xfrm>
            <a:custGeom>
              <a:rect b="b" l="l" r="r" t="t"/>
              <a:pathLst>
                <a:path extrusionOk="0" h="1524000" w="2133600">
                  <a:moveTo>
                    <a:pt x="0" y="0"/>
                  </a:moveTo>
                  <a:lnTo>
                    <a:pt x="0" y="1524000"/>
                  </a:lnTo>
                  <a:lnTo>
                    <a:pt x="2133600" y="15240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 name="Google Shape;257;p8"/>
          <p:cNvSpPr txBox="1"/>
          <p:nvPr/>
        </p:nvSpPr>
        <p:spPr>
          <a:xfrm>
            <a:off x="3699002" y="4232655"/>
            <a:ext cx="690880" cy="1244600"/>
          </a:xfrm>
          <a:prstGeom prst="rect">
            <a:avLst/>
          </a:prstGeom>
          <a:noFill/>
          <a:ln>
            <a:noFill/>
          </a:ln>
        </p:spPr>
        <p:txBody>
          <a:bodyPr anchorCtr="0" anchor="t" bIns="0" lIns="0" spcFirstLastPara="1" rIns="0" wrap="square" tIns="12050">
            <a:spAutoFit/>
          </a:bodyPr>
          <a:lstStyle/>
          <a:p>
            <a:pPr indent="0" lvl="0" marL="0" marR="5080" rtl="0" algn="just">
              <a:lnSpc>
                <a:spcPct val="100000"/>
              </a:lnSpc>
              <a:spcBef>
                <a:spcPts val="0"/>
              </a:spcBef>
              <a:spcAft>
                <a:spcPts val="0"/>
              </a:spcAft>
              <a:buNone/>
            </a:pPr>
            <a:r>
              <a:rPr lang="en-US" sz="2000">
                <a:solidFill>
                  <a:schemeClr val="dk1"/>
                </a:solidFill>
                <a:latin typeface="Arial"/>
                <a:ea typeface="Arial"/>
                <a:cs typeface="Arial"/>
                <a:sym typeface="Arial"/>
              </a:rPr>
              <a:t>A-177  A-402  A-408  A-639</a:t>
            </a:r>
            <a:endParaRPr sz="2000">
              <a:solidFill>
                <a:schemeClr val="dk1"/>
              </a:solidFill>
              <a:latin typeface="Arial"/>
              <a:ea typeface="Arial"/>
              <a:cs typeface="Arial"/>
              <a:sym typeface="Arial"/>
            </a:endParaRPr>
          </a:p>
        </p:txBody>
      </p:sp>
      <p:grpSp>
        <p:nvGrpSpPr>
          <p:cNvPr id="258" name="Google Shape;258;p8"/>
          <p:cNvGrpSpPr/>
          <p:nvPr/>
        </p:nvGrpSpPr>
        <p:grpSpPr>
          <a:xfrm>
            <a:off x="5321300" y="4178300"/>
            <a:ext cx="2133600" cy="1524000"/>
            <a:chOff x="5321300" y="4178300"/>
            <a:chExt cx="2133600" cy="1524000"/>
          </a:xfrm>
        </p:grpSpPr>
        <p:sp>
          <p:nvSpPr>
            <p:cNvPr id="259" name="Google Shape;259;p8"/>
            <p:cNvSpPr/>
            <p:nvPr/>
          </p:nvSpPr>
          <p:spPr>
            <a:xfrm>
              <a:off x="5321300" y="4178300"/>
              <a:ext cx="2133600" cy="1524000"/>
            </a:xfrm>
            <a:custGeom>
              <a:rect b="b" l="l" r="r" t="t"/>
              <a:pathLst>
                <a:path extrusionOk="0" h="1524000" w="2133600">
                  <a:moveTo>
                    <a:pt x="2133600" y="1524000"/>
                  </a:moveTo>
                  <a:lnTo>
                    <a:pt x="2133600" y="0"/>
                  </a:lnTo>
                  <a:lnTo>
                    <a:pt x="0" y="0"/>
                  </a:lnTo>
                  <a:lnTo>
                    <a:pt x="0" y="1524000"/>
                  </a:lnTo>
                  <a:lnTo>
                    <a:pt x="2133600" y="15240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8"/>
            <p:cNvSpPr/>
            <p:nvPr/>
          </p:nvSpPr>
          <p:spPr>
            <a:xfrm>
              <a:off x="5321300" y="4178300"/>
              <a:ext cx="2133600" cy="1524000"/>
            </a:xfrm>
            <a:custGeom>
              <a:rect b="b" l="l" r="r" t="t"/>
              <a:pathLst>
                <a:path extrusionOk="0" h="1524000" w="2133600">
                  <a:moveTo>
                    <a:pt x="0" y="0"/>
                  </a:moveTo>
                  <a:lnTo>
                    <a:pt x="0" y="1524000"/>
                  </a:lnTo>
                  <a:lnTo>
                    <a:pt x="2133600" y="15240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1" name="Google Shape;261;p8"/>
          <p:cNvSpPr txBox="1"/>
          <p:nvPr/>
        </p:nvSpPr>
        <p:spPr>
          <a:xfrm>
            <a:off x="6172341" y="4251705"/>
            <a:ext cx="718185" cy="1244600"/>
          </a:xfrm>
          <a:prstGeom prst="rect">
            <a:avLst/>
          </a:prstGeom>
          <a:noFill/>
          <a:ln>
            <a:noFill/>
          </a:ln>
        </p:spPr>
        <p:txBody>
          <a:bodyPr anchorCtr="0" anchor="t" bIns="0" lIns="0" spcFirstLastPara="1" rIns="0" wrap="square" tIns="12050">
            <a:spAutoFit/>
          </a:bodyPr>
          <a:lstStyle/>
          <a:p>
            <a:pPr indent="0" lvl="0" marL="140970" marR="0" rtl="0" algn="l">
              <a:lnSpc>
                <a:spcPct val="100000"/>
              </a:lnSpc>
              <a:spcBef>
                <a:spcPts val="0"/>
              </a:spcBef>
              <a:spcAft>
                <a:spcPts val="0"/>
              </a:spcAft>
              <a:buNone/>
            </a:pPr>
            <a:r>
              <a:rPr lang="en-US" sz="2000">
                <a:solidFill>
                  <a:schemeClr val="dk1"/>
                </a:solidFill>
                <a:latin typeface="Arial"/>
                <a:ea typeface="Arial"/>
                <a:cs typeface="Arial"/>
                <a:sym typeface="Arial"/>
              </a:rPr>
              <a:t>205</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10000</a:t>
            </a:r>
            <a:endParaRPr sz="2000">
              <a:solidFill>
                <a:schemeClr val="dk1"/>
              </a:solidFill>
              <a:latin typeface="Arial"/>
              <a:ea typeface="Arial"/>
              <a:cs typeface="Arial"/>
              <a:sym typeface="Arial"/>
            </a:endParaRPr>
          </a:p>
          <a:p>
            <a:pPr indent="0" lvl="0" marL="69215" marR="0" rtl="0" algn="l">
              <a:lnSpc>
                <a:spcPct val="100000"/>
              </a:lnSpc>
              <a:spcBef>
                <a:spcPts val="0"/>
              </a:spcBef>
              <a:spcAft>
                <a:spcPts val="0"/>
              </a:spcAft>
              <a:buNone/>
            </a:pPr>
            <a:r>
              <a:rPr lang="en-US" sz="2000">
                <a:solidFill>
                  <a:schemeClr val="dk1"/>
                </a:solidFill>
                <a:latin typeface="Arial"/>
                <a:ea typeface="Arial"/>
                <a:cs typeface="Arial"/>
                <a:sym typeface="Arial"/>
              </a:rPr>
              <a:t>1123</a:t>
            </a:r>
            <a:endParaRPr sz="2000">
              <a:solidFill>
                <a:schemeClr val="dk1"/>
              </a:solidFill>
              <a:latin typeface="Arial"/>
              <a:ea typeface="Arial"/>
              <a:cs typeface="Arial"/>
              <a:sym typeface="Arial"/>
            </a:endParaRPr>
          </a:p>
          <a:p>
            <a:pPr indent="0" lvl="0" marL="140335" marR="0" rtl="0" algn="l">
              <a:lnSpc>
                <a:spcPct val="100000"/>
              </a:lnSpc>
              <a:spcBef>
                <a:spcPts val="0"/>
              </a:spcBef>
              <a:spcAft>
                <a:spcPts val="0"/>
              </a:spcAft>
              <a:buNone/>
            </a:pPr>
            <a:r>
              <a:rPr lang="en-US" sz="2000">
                <a:solidFill>
                  <a:schemeClr val="dk1"/>
                </a:solidFill>
                <a:latin typeface="Arial"/>
                <a:ea typeface="Arial"/>
                <a:cs typeface="Arial"/>
                <a:sym typeface="Arial"/>
              </a:rPr>
              <a:t>750</a:t>
            </a:r>
            <a:endParaRPr sz="2000">
              <a:solidFill>
                <a:schemeClr val="dk1"/>
              </a:solidFill>
              <a:latin typeface="Arial"/>
              <a:ea typeface="Arial"/>
              <a:cs typeface="Arial"/>
              <a:sym typeface="Arial"/>
            </a:endParaRPr>
          </a:p>
        </p:txBody>
      </p:sp>
      <p:sp>
        <p:nvSpPr>
          <p:cNvPr id="262" name="Google Shape;262;p8"/>
          <p:cNvSpPr txBox="1"/>
          <p:nvPr/>
        </p:nvSpPr>
        <p:spPr>
          <a:xfrm>
            <a:off x="2184152" y="5822996"/>
            <a:ext cx="4647565" cy="34734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None/>
            </a:pPr>
            <a:r>
              <a:rPr baseline="30000" i="1" lang="en-US" sz="3000">
                <a:solidFill>
                  <a:schemeClr val="dk1"/>
                </a:solidFill>
                <a:latin typeface="Arial"/>
                <a:ea typeface="Arial"/>
                <a:cs typeface="Arial"/>
                <a:sym typeface="Arial"/>
              </a:rPr>
              <a:t>account</a:t>
            </a:r>
            <a:r>
              <a:rPr i="1" lang="en-US" sz="1300">
                <a:solidFill>
                  <a:schemeClr val="dk1"/>
                </a:solidFill>
                <a:latin typeface="Arial"/>
                <a:ea typeface="Arial"/>
                <a:cs typeface="Arial"/>
                <a:sym typeface="Arial"/>
              </a:rPr>
              <a:t>2 </a:t>
            </a:r>
            <a:r>
              <a:rPr baseline="30000" lang="en-US" sz="3000">
                <a:solidFill>
                  <a:schemeClr val="dk1"/>
                </a:solidFill>
                <a:latin typeface="Arial"/>
                <a:ea typeface="Arial"/>
                <a:cs typeface="Arial"/>
                <a:sym typeface="Arial"/>
              </a:rPr>
              <a:t>= </a:t>
            </a:r>
            <a:r>
              <a:rPr baseline="30000" lang="en-US" sz="3150">
                <a:solidFill>
                  <a:schemeClr val="dk1"/>
                </a:solidFill>
                <a:latin typeface="Noto Sans Symbols"/>
                <a:ea typeface="Noto Sans Symbols"/>
                <a:cs typeface="Noto Sans Symbols"/>
                <a:sym typeface="Noto Sans Symbols"/>
              </a:rPr>
              <a:t>σ</a:t>
            </a:r>
            <a:r>
              <a:rPr i="1" lang="en-US" sz="1300">
                <a:solidFill>
                  <a:schemeClr val="dk1"/>
                </a:solidFill>
                <a:latin typeface="Arial"/>
                <a:ea typeface="Arial"/>
                <a:cs typeface="Arial"/>
                <a:sym typeface="Arial"/>
              </a:rPr>
              <a:t>branch_name=“Valleyview” </a:t>
            </a:r>
            <a:r>
              <a:rPr baseline="30000" lang="en-US" sz="3000">
                <a:solidFill>
                  <a:schemeClr val="dk1"/>
                </a:solidFill>
                <a:latin typeface="Arial"/>
                <a:ea typeface="Arial"/>
                <a:cs typeface="Arial"/>
                <a:sym typeface="Arial"/>
              </a:rPr>
              <a:t>(</a:t>
            </a:r>
            <a:r>
              <a:rPr baseline="30000" i="1" lang="en-US" sz="3000">
                <a:solidFill>
                  <a:schemeClr val="dk1"/>
                </a:solidFill>
                <a:latin typeface="Arial"/>
                <a:ea typeface="Arial"/>
                <a:cs typeface="Arial"/>
                <a:sym typeface="Arial"/>
              </a:rPr>
              <a:t>account </a:t>
            </a:r>
            <a:r>
              <a:rPr baseline="30000" lang="en-US" sz="3000">
                <a:solidFill>
                  <a:schemeClr val="dk1"/>
                </a:solidFill>
                <a:latin typeface="Arial"/>
                <a:ea typeface="Arial"/>
                <a:cs typeface="Arial"/>
                <a:sym typeface="Arial"/>
              </a:rPr>
              <a:t>)</a:t>
            </a:r>
            <a:endParaRPr baseline="30000" sz="3000">
              <a:solidFill>
                <a:schemeClr val="dk1"/>
              </a:solidFill>
              <a:latin typeface="Arial"/>
              <a:ea typeface="Arial"/>
              <a:cs typeface="Arial"/>
              <a:sym typeface="Arial"/>
            </a:endParaRPr>
          </a:p>
        </p:txBody>
      </p:sp>
      <p:sp>
        <p:nvSpPr>
          <p:cNvPr id="263" name="Google Shape;263;p8"/>
          <p:cNvSpPr txBox="1"/>
          <p:nvPr/>
        </p:nvSpPr>
        <p:spPr>
          <a:xfrm>
            <a:off x="1174500" y="35793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2000">
                <a:solidFill>
                  <a:schemeClr val="dk1"/>
                </a:solidFill>
              </a:rPr>
              <a:t>branch_name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9"/>
          <p:cNvGrpSpPr/>
          <p:nvPr/>
        </p:nvGrpSpPr>
        <p:grpSpPr>
          <a:xfrm>
            <a:off x="1177544" y="3727196"/>
            <a:ext cx="4248911" cy="457200"/>
            <a:chOff x="1177544" y="3727196"/>
            <a:chExt cx="4248911" cy="457200"/>
          </a:xfrm>
        </p:grpSpPr>
        <p:sp>
          <p:nvSpPr>
            <p:cNvPr id="269" name="Google Shape;269;p9"/>
            <p:cNvSpPr/>
            <p:nvPr/>
          </p:nvSpPr>
          <p:spPr>
            <a:xfrm>
              <a:off x="3311905" y="3727196"/>
              <a:ext cx="2114550" cy="457200"/>
            </a:xfrm>
            <a:custGeom>
              <a:rect b="b" l="l" r="r" t="t"/>
              <a:pathLst>
                <a:path extrusionOk="0" h="457200" w="2114550">
                  <a:moveTo>
                    <a:pt x="2114550" y="457200"/>
                  </a:moveTo>
                  <a:lnTo>
                    <a:pt x="2114550" y="0"/>
                  </a:lnTo>
                  <a:lnTo>
                    <a:pt x="0" y="0"/>
                  </a:lnTo>
                  <a:lnTo>
                    <a:pt x="0" y="457200"/>
                  </a:lnTo>
                  <a:lnTo>
                    <a:pt x="2114550" y="4572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9"/>
            <p:cNvSpPr/>
            <p:nvPr/>
          </p:nvSpPr>
          <p:spPr>
            <a:xfrm>
              <a:off x="3311144" y="3727196"/>
              <a:ext cx="2114550" cy="457200"/>
            </a:xfrm>
            <a:custGeom>
              <a:rect b="b" l="l" r="r" t="t"/>
              <a:pathLst>
                <a:path extrusionOk="0" h="457200" w="2114550">
                  <a:moveTo>
                    <a:pt x="0" y="0"/>
                  </a:moveTo>
                  <a:lnTo>
                    <a:pt x="0" y="457200"/>
                  </a:lnTo>
                  <a:lnTo>
                    <a:pt x="2114550" y="457200"/>
                  </a:lnTo>
                  <a:lnTo>
                    <a:pt x="211455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9"/>
            <p:cNvSpPr/>
            <p:nvPr/>
          </p:nvSpPr>
          <p:spPr>
            <a:xfrm>
              <a:off x="1178306" y="3727196"/>
              <a:ext cx="2133600" cy="457200"/>
            </a:xfrm>
            <a:custGeom>
              <a:rect b="b" l="l" r="r" t="t"/>
              <a:pathLst>
                <a:path extrusionOk="0" h="457200" w="2133600">
                  <a:moveTo>
                    <a:pt x="2133599" y="457200"/>
                  </a:moveTo>
                  <a:lnTo>
                    <a:pt x="2133599" y="0"/>
                  </a:lnTo>
                  <a:lnTo>
                    <a:pt x="0" y="0"/>
                  </a:lnTo>
                  <a:lnTo>
                    <a:pt x="0" y="457200"/>
                  </a:lnTo>
                  <a:lnTo>
                    <a:pt x="2133599" y="4572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9"/>
            <p:cNvSpPr/>
            <p:nvPr/>
          </p:nvSpPr>
          <p:spPr>
            <a:xfrm>
              <a:off x="1177544" y="3727196"/>
              <a:ext cx="2133600" cy="457200"/>
            </a:xfrm>
            <a:custGeom>
              <a:rect b="b" l="l" r="r" t="t"/>
              <a:pathLst>
                <a:path extrusionOk="0" h="457200" w="2133600">
                  <a:moveTo>
                    <a:pt x="0" y="0"/>
                  </a:moveTo>
                  <a:lnTo>
                    <a:pt x="0" y="457200"/>
                  </a:lnTo>
                  <a:lnTo>
                    <a:pt x="2133600" y="4572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3" name="Google Shape;273;p9"/>
          <p:cNvGrpSpPr/>
          <p:nvPr/>
        </p:nvGrpSpPr>
        <p:grpSpPr>
          <a:xfrm>
            <a:off x="1234694" y="760730"/>
            <a:ext cx="6401561" cy="2463673"/>
            <a:chOff x="1234694" y="760730"/>
            <a:chExt cx="6401561" cy="2463673"/>
          </a:xfrm>
        </p:grpSpPr>
        <p:sp>
          <p:nvSpPr>
            <p:cNvPr id="274" name="Google Shape;274;p9"/>
            <p:cNvSpPr/>
            <p:nvPr/>
          </p:nvSpPr>
          <p:spPr>
            <a:xfrm>
              <a:off x="3378200" y="760730"/>
              <a:ext cx="2133600" cy="457200"/>
            </a:xfrm>
            <a:custGeom>
              <a:rect b="b" l="l" r="r" t="t"/>
              <a:pathLst>
                <a:path extrusionOk="0" h="457200" w="2133600">
                  <a:moveTo>
                    <a:pt x="2133600" y="457200"/>
                  </a:moveTo>
                  <a:lnTo>
                    <a:pt x="2133600" y="0"/>
                  </a:lnTo>
                  <a:lnTo>
                    <a:pt x="0" y="0"/>
                  </a:lnTo>
                  <a:lnTo>
                    <a:pt x="0" y="457200"/>
                  </a:lnTo>
                  <a:lnTo>
                    <a:pt x="2133600" y="4572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9"/>
            <p:cNvSpPr/>
            <p:nvPr/>
          </p:nvSpPr>
          <p:spPr>
            <a:xfrm>
              <a:off x="3378200" y="760730"/>
              <a:ext cx="2133600" cy="457200"/>
            </a:xfrm>
            <a:custGeom>
              <a:rect b="b" l="l" r="r" t="t"/>
              <a:pathLst>
                <a:path extrusionOk="0" h="457200" w="2133600">
                  <a:moveTo>
                    <a:pt x="0" y="0"/>
                  </a:moveTo>
                  <a:lnTo>
                    <a:pt x="0" y="457200"/>
                  </a:lnTo>
                  <a:lnTo>
                    <a:pt x="2133600" y="4572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9"/>
            <p:cNvSpPr/>
            <p:nvPr/>
          </p:nvSpPr>
          <p:spPr>
            <a:xfrm>
              <a:off x="1235456" y="760730"/>
              <a:ext cx="2133600" cy="457200"/>
            </a:xfrm>
            <a:custGeom>
              <a:rect b="b" l="l" r="r" t="t"/>
              <a:pathLst>
                <a:path extrusionOk="0" h="457200" w="2133600">
                  <a:moveTo>
                    <a:pt x="2133599" y="457200"/>
                  </a:moveTo>
                  <a:lnTo>
                    <a:pt x="2133599" y="0"/>
                  </a:lnTo>
                  <a:lnTo>
                    <a:pt x="0" y="0"/>
                  </a:lnTo>
                  <a:lnTo>
                    <a:pt x="0" y="457200"/>
                  </a:lnTo>
                  <a:lnTo>
                    <a:pt x="2133599" y="4572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9"/>
            <p:cNvSpPr/>
            <p:nvPr/>
          </p:nvSpPr>
          <p:spPr>
            <a:xfrm>
              <a:off x="1234694" y="760730"/>
              <a:ext cx="2133600" cy="457200"/>
            </a:xfrm>
            <a:custGeom>
              <a:rect b="b" l="l" r="r" t="t"/>
              <a:pathLst>
                <a:path extrusionOk="0" h="457200" w="2133600">
                  <a:moveTo>
                    <a:pt x="0" y="0"/>
                  </a:moveTo>
                  <a:lnTo>
                    <a:pt x="0" y="457200"/>
                  </a:lnTo>
                  <a:lnTo>
                    <a:pt x="2133600" y="4572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9"/>
            <p:cNvSpPr/>
            <p:nvPr/>
          </p:nvSpPr>
          <p:spPr>
            <a:xfrm>
              <a:off x="5502655" y="760730"/>
              <a:ext cx="2133600" cy="457200"/>
            </a:xfrm>
            <a:custGeom>
              <a:rect b="b" l="l" r="r" t="t"/>
              <a:pathLst>
                <a:path extrusionOk="0" h="457200" w="2133600">
                  <a:moveTo>
                    <a:pt x="2133600" y="457200"/>
                  </a:moveTo>
                  <a:lnTo>
                    <a:pt x="2133600" y="0"/>
                  </a:lnTo>
                  <a:lnTo>
                    <a:pt x="0" y="0"/>
                  </a:lnTo>
                  <a:lnTo>
                    <a:pt x="0" y="457200"/>
                  </a:lnTo>
                  <a:lnTo>
                    <a:pt x="2133600" y="4572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9"/>
            <p:cNvSpPr/>
            <p:nvPr/>
          </p:nvSpPr>
          <p:spPr>
            <a:xfrm>
              <a:off x="5501894" y="760730"/>
              <a:ext cx="2133600" cy="457200"/>
            </a:xfrm>
            <a:custGeom>
              <a:rect b="b" l="l" r="r" t="t"/>
              <a:pathLst>
                <a:path extrusionOk="0" h="457200" w="2133600">
                  <a:moveTo>
                    <a:pt x="0" y="0"/>
                  </a:moveTo>
                  <a:lnTo>
                    <a:pt x="0" y="457200"/>
                  </a:lnTo>
                  <a:lnTo>
                    <a:pt x="2133600" y="4572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9"/>
            <p:cNvSpPr/>
            <p:nvPr/>
          </p:nvSpPr>
          <p:spPr>
            <a:xfrm>
              <a:off x="1235456" y="1240028"/>
              <a:ext cx="2133600" cy="1984375"/>
            </a:xfrm>
            <a:custGeom>
              <a:rect b="b" l="l" r="r" t="t"/>
              <a:pathLst>
                <a:path extrusionOk="0" h="1984375" w="2133600">
                  <a:moveTo>
                    <a:pt x="2133599" y="1984248"/>
                  </a:moveTo>
                  <a:lnTo>
                    <a:pt x="2133599" y="0"/>
                  </a:lnTo>
                  <a:lnTo>
                    <a:pt x="0" y="0"/>
                  </a:lnTo>
                  <a:lnTo>
                    <a:pt x="0" y="1984248"/>
                  </a:lnTo>
                  <a:lnTo>
                    <a:pt x="2133599" y="1984248"/>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9"/>
            <p:cNvSpPr/>
            <p:nvPr/>
          </p:nvSpPr>
          <p:spPr>
            <a:xfrm>
              <a:off x="1234694" y="1240028"/>
              <a:ext cx="2133600" cy="1984375"/>
            </a:xfrm>
            <a:custGeom>
              <a:rect b="b" l="l" r="r" t="t"/>
              <a:pathLst>
                <a:path extrusionOk="0" h="1984375" w="2133600">
                  <a:moveTo>
                    <a:pt x="0" y="0"/>
                  </a:moveTo>
                  <a:lnTo>
                    <a:pt x="0" y="1984248"/>
                  </a:lnTo>
                  <a:lnTo>
                    <a:pt x="2133600" y="1984248"/>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2" name="Google Shape;282;p9"/>
          <p:cNvSpPr txBox="1"/>
          <p:nvPr/>
        </p:nvSpPr>
        <p:spPr>
          <a:xfrm>
            <a:off x="1343152" y="774700"/>
            <a:ext cx="1720214" cy="2495550"/>
          </a:xfrm>
          <a:prstGeom prst="rect">
            <a:avLst/>
          </a:prstGeom>
          <a:noFill/>
          <a:ln>
            <a:noFill/>
          </a:ln>
        </p:spPr>
        <p:txBody>
          <a:bodyPr anchorCtr="0" anchor="t" bIns="0" lIns="0" spcFirstLastPara="1" rIns="0" wrap="square" tIns="12050">
            <a:spAutoFit/>
          </a:bodyPr>
          <a:lstStyle/>
          <a:p>
            <a:pPr indent="0" lvl="0" marL="154940" marR="0" rtl="0" algn="l">
              <a:lnSpc>
                <a:spcPct val="100000"/>
              </a:lnSpc>
              <a:spcBef>
                <a:spcPts val="0"/>
              </a:spcBef>
              <a:spcAft>
                <a:spcPts val="0"/>
              </a:spcAft>
              <a:buNone/>
            </a:pPr>
            <a:r>
              <a:rPr i="1" lang="en-US" sz="2000">
                <a:solidFill>
                  <a:schemeClr val="dk1"/>
                </a:solidFill>
                <a:latin typeface="Arial"/>
                <a:ea typeface="Arial"/>
                <a:cs typeface="Arial"/>
                <a:sym typeface="Arial"/>
              </a:rPr>
              <a:t>branch_name</a:t>
            </a:r>
            <a:endParaRPr sz="2000">
              <a:solidFill>
                <a:schemeClr val="dk1"/>
              </a:solidFill>
              <a:latin typeface="Arial"/>
              <a:ea typeface="Arial"/>
              <a:cs typeface="Arial"/>
              <a:sym typeface="Arial"/>
            </a:endParaRPr>
          </a:p>
          <a:p>
            <a:pPr indent="0" lvl="0" marL="12700" marR="496569" rtl="0" algn="l">
              <a:lnSpc>
                <a:spcPct val="90400"/>
              </a:lnSpc>
              <a:spcBef>
                <a:spcPts val="1870"/>
              </a:spcBef>
              <a:spcAft>
                <a:spcPts val="0"/>
              </a:spcAft>
              <a:buNone/>
            </a:pPr>
            <a:r>
              <a:rPr lang="en-US" sz="2000">
                <a:solidFill>
                  <a:schemeClr val="dk1"/>
                </a:solidFill>
                <a:latin typeface="Arial"/>
                <a:ea typeface="Arial"/>
                <a:cs typeface="Arial"/>
                <a:sym typeface="Arial"/>
              </a:rPr>
              <a:t>Hillside  Hillside  Valleyview  Valleyview  Hillside  Valleyview  Valleyview</a:t>
            </a:r>
            <a:endParaRPr sz="2000">
              <a:solidFill>
                <a:schemeClr val="dk1"/>
              </a:solidFill>
              <a:latin typeface="Arial"/>
              <a:ea typeface="Arial"/>
              <a:cs typeface="Arial"/>
              <a:sym typeface="Arial"/>
            </a:endParaRPr>
          </a:p>
        </p:txBody>
      </p:sp>
      <p:grpSp>
        <p:nvGrpSpPr>
          <p:cNvPr id="283" name="Google Shape;283;p9"/>
          <p:cNvGrpSpPr/>
          <p:nvPr/>
        </p:nvGrpSpPr>
        <p:grpSpPr>
          <a:xfrm>
            <a:off x="3368294" y="1243075"/>
            <a:ext cx="2134362" cy="1981200"/>
            <a:chOff x="3368294" y="1243075"/>
            <a:chExt cx="2134362" cy="1981200"/>
          </a:xfrm>
        </p:grpSpPr>
        <p:sp>
          <p:nvSpPr>
            <p:cNvPr id="284" name="Google Shape;284;p9"/>
            <p:cNvSpPr/>
            <p:nvPr/>
          </p:nvSpPr>
          <p:spPr>
            <a:xfrm>
              <a:off x="3369056" y="1243075"/>
              <a:ext cx="2133600" cy="1981200"/>
            </a:xfrm>
            <a:custGeom>
              <a:rect b="b" l="l" r="r" t="t"/>
              <a:pathLst>
                <a:path extrusionOk="0" h="1981200" w="2133600">
                  <a:moveTo>
                    <a:pt x="2133600" y="1981199"/>
                  </a:moveTo>
                  <a:lnTo>
                    <a:pt x="2133600" y="0"/>
                  </a:lnTo>
                  <a:lnTo>
                    <a:pt x="0" y="0"/>
                  </a:lnTo>
                  <a:lnTo>
                    <a:pt x="0" y="1981200"/>
                  </a:lnTo>
                  <a:lnTo>
                    <a:pt x="2133600" y="198119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9"/>
            <p:cNvSpPr/>
            <p:nvPr/>
          </p:nvSpPr>
          <p:spPr>
            <a:xfrm>
              <a:off x="3368294" y="1243075"/>
              <a:ext cx="2133600" cy="1981200"/>
            </a:xfrm>
            <a:custGeom>
              <a:rect b="b" l="l" r="r" t="t"/>
              <a:pathLst>
                <a:path extrusionOk="0" h="1981200" w="2133600">
                  <a:moveTo>
                    <a:pt x="0" y="0"/>
                  </a:moveTo>
                  <a:lnTo>
                    <a:pt x="0" y="1981200"/>
                  </a:lnTo>
                  <a:lnTo>
                    <a:pt x="2133600" y="1981199"/>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6" name="Google Shape;286;p9"/>
          <p:cNvSpPr txBox="1"/>
          <p:nvPr/>
        </p:nvSpPr>
        <p:spPr>
          <a:xfrm>
            <a:off x="3479835" y="638710"/>
            <a:ext cx="1844675" cy="2607945"/>
          </a:xfrm>
          <a:prstGeom prst="rect">
            <a:avLst/>
          </a:prstGeom>
          <a:noFill/>
          <a:ln>
            <a:noFill/>
          </a:ln>
        </p:spPr>
        <p:txBody>
          <a:bodyPr anchorCtr="0" anchor="t" bIns="0" lIns="0" spcFirstLastPara="1" rIns="0" wrap="square" tIns="172700">
            <a:spAutoFit/>
          </a:bodyPr>
          <a:lstStyle/>
          <a:p>
            <a:pPr indent="-387350" lvl="0" marL="399415" marR="0" rtl="0" algn="l">
              <a:lnSpc>
                <a:spcPct val="100000"/>
              </a:lnSpc>
              <a:spcBef>
                <a:spcPts val="0"/>
              </a:spcBef>
              <a:spcAft>
                <a:spcPts val="0"/>
              </a:spcAft>
              <a:buNone/>
            </a:pPr>
            <a:r>
              <a:rPr i="1" lang="en-US" sz="2000">
                <a:solidFill>
                  <a:schemeClr val="dk1"/>
                </a:solidFill>
                <a:latin typeface="Arial"/>
                <a:ea typeface="Arial"/>
                <a:cs typeface="Arial"/>
                <a:sym typeface="Arial"/>
              </a:rPr>
              <a:t>customer_name</a:t>
            </a:r>
            <a:endParaRPr sz="2000">
              <a:solidFill>
                <a:schemeClr val="dk1"/>
              </a:solidFill>
              <a:latin typeface="Arial"/>
              <a:ea typeface="Arial"/>
              <a:cs typeface="Arial"/>
              <a:sym typeface="Arial"/>
            </a:endParaRPr>
          </a:p>
          <a:p>
            <a:pPr indent="0" lvl="0" marL="399415" marR="476250" rtl="0" algn="l">
              <a:lnSpc>
                <a:spcPct val="90400"/>
              </a:lnSpc>
              <a:spcBef>
                <a:spcPts val="1490"/>
              </a:spcBef>
              <a:spcAft>
                <a:spcPts val="0"/>
              </a:spcAft>
              <a:buNone/>
            </a:pPr>
            <a:r>
              <a:rPr lang="en-US" sz="2000">
                <a:solidFill>
                  <a:schemeClr val="dk1"/>
                </a:solidFill>
                <a:latin typeface="Arial"/>
                <a:ea typeface="Arial"/>
                <a:cs typeface="Arial"/>
                <a:sym typeface="Arial"/>
              </a:rPr>
              <a:t>Lowman  Camp  Camp  Kahn  Kahn  Kahn  Green</a:t>
            </a:r>
            <a:endParaRPr sz="2000">
              <a:solidFill>
                <a:schemeClr val="dk1"/>
              </a:solidFill>
              <a:latin typeface="Arial"/>
              <a:ea typeface="Arial"/>
              <a:cs typeface="Arial"/>
              <a:sym typeface="Arial"/>
            </a:endParaRPr>
          </a:p>
        </p:txBody>
      </p:sp>
      <p:grpSp>
        <p:nvGrpSpPr>
          <p:cNvPr id="287" name="Google Shape;287;p9"/>
          <p:cNvGrpSpPr/>
          <p:nvPr/>
        </p:nvGrpSpPr>
        <p:grpSpPr>
          <a:xfrm>
            <a:off x="5501894" y="1240027"/>
            <a:ext cx="2134362" cy="1984375"/>
            <a:chOff x="5501894" y="1240027"/>
            <a:chExt cx="2134362" cy="1984375"/>
          </a:xfrm>
        </p:grpSpPr>
        <p:sp>
          <p:nvSpPr>
            <p:cNvPr id="288" name="Google Shape;288;p9"/>
            <p:cNvSpPr/>
            <p:nvPr/>
          </p:nvSpPr>
          <p:spPr>
            <a:xfrm>
              <a:off x="5502656" y="1240027"/>
              <a:ext cx="2133600" cy="1984375"/>
            </a:xfrm>
            <a:custGeom>
              <a:rect b="b" l="l" r="r" t="t"/>
              <a:pathLst>
                <a:path extrusionOk="0" h="1984375" w="2133600">
                  <a:moveTo>
                    <a:pt x="2133600" y="1984247"/>
                  </a:moveTo>
                  <a:lnTo>
                    <a:pt x="2133600" y="0"/>
                  </a:lnTo>
                  <a:lnTo>
                    <a:pt x="0" y="0"/>
                  </a:lnTo>
                  <a:lnTo>
                    <a:pt x="0" y="1984247"/>
                  </a:lnTo>
                  <a:lnTo>
                    <a:pt x="2133600" y="1984247"/>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9"/>
            <p:cNvSpPr/>
            <p:nvPr/>
          </p:nvSpPr>
          <p:spPr>
            <a:xfrm>
              <a:off x="5501894" y="1240027"/>
              <a:ext cx="2133600" cy="1984375"/>
            </a:xfrm>
            <a:custGeom>
              <a:rect b="b" l="l" r="r" t="t"/>
              <a:pathLst>
                <a:path extrusionOk="0" h="1984375" w="2133600">
                  <a:moveTo>
                    <a:pt x="0" y="0"/>
                  </a:moveTo>
                  <a:lnTo>
                    <a:pt x="0" y="1984247"/>
                  </a:lnTo>
                  <a:lnTo>
                    <a:pt x="2133600" y="1984247"/>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0" name="Google Shape;290;p9"/>
          <p:cNvSpPr txBox="1"/>
          <p:nvPr/>
        </p:nvSpPr>
        <p:spPr>
          <a:xfrm>
            <a:off x="1156969" y="3332019"/>
            <a:ext cx="6346825" cy="34734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None/>
            </a:pPr>
            <a:r>
              <a:rPr baseline="30000" i="1" lang="en-US" sz="3000">
                <a:solidFill>
                  <a:schemeClr val="dk1"/>
                </a:solidFill>
                <a:latin typeface="Arial"/>
                <a:ea typeface="Arial"/>
                <a:cs typeface="Arial"/>
                <a:sym typeface="Arial"/>
              </a:rPr>
              <a:t>deposit</a:t>
            </a:r>
            <a:r>
              <a:rPr i="1" lang="en-US" sz="1300">
                <a:solidFill>
                  <a:schemeClr val="dk1"/>
                </a:solidFill>
                <a:latin typeface="Arial"/>
                <a:ea typeface="Arial"/>
                <a:cs typeface="Arial"/>
                <a:sym typeface="Arial"/>
              </a:rPr>
              <a:t>1 </a:t>
            </a:r>
            <a:r>
              <a:rPr baseline="30000" lang="en-US" sz="3000">
                <a:solidFill>
                  <a:schemeClr val="dk1"/>
                </a:solidFill>
                <a:latin typeface="Arial"/>
                <a:ea typeface="Arial"/>
                <a:cs typeface="Arial"/>
                <a:sym typeface="Arial"/>
              </a:rPr>
              <a:t>= </a:t>
            </a:r>
            <a:r>
              <a:rPr baseline="30000" lang="en-US" sz="3150">
                <a:solidFill>
                  <a:schemeClr val="dk1"/>
                </a:solidFill>
                <a:latin typeface="Noto Sans Symbols"/>
                <a:ea typeface="Noto Sans Symbols"/>
                <a:cs typeface="Noto Sans Symbols"/>
                <a:sym typeface="Noto Sans Symbols"/>
              </a:rPr>
              <a:t>Π</a:t>
            </a:r>
            <a:r>
              <a:rPr i="1" lang="en-US" sz="1300">
                <a:solidFill>
                  <a:schemeClr val="dk1"/>
                </a:solidFill>
                <a:latin typeface="Arial"/>
                <a:ea typeface="Arial"/>
                <a:cs typeface="Arial"/>
                <a:sym typeface="Arial"/>
              </a:rPr>
              <a:t>branch_name, customer_name, tuple_id </a:t>
            </a:r>
            <a:r>
              <a:rPr baseline="30000" lang="en-US" sz="3000">
                <a:solidFill>
                  <a:schemeClr val="dk1"/>
                </a:solidFill>
                <a:latin typeface="Arial"/>
                <a:ea typeface="Arial"/>
                <a:cs typeface="Arial"/>
                <a:sym typeface="Arial"/>
              </a:rPr>
              <a:t>(</a:t>
            </a:r>
            <a:r>
              <a:rPr baseline="30000" i="1" lang="en-US" sz="3000">
                <a:solidFill>
                  <a:schemeClr val="dk1"/>
                </a:solidFill>
                <a:latin typeface="Arial"/>
                <a:ea typeface="Arial"/>
                <a:cs typeface="Arial"/>
                <a:sym typeface="Arial"/>
              </a:rPr>
              <a:t>employee_info </a:t>
            </a:r>
            <a:r>
              <a:rPr baseline="30000" lang="en-US" sz="3000">
                <a:solidFill>
                  <a:schemeClr val="dk1"/>
                </a:solidFill>
                <a:latin typeface="Arial"/>
                <a:ea typeface="Arial"/>
                <a:cs typeface="Arial"/>
                <a:sym typeface="Arial"/>
              </a:rPr>
              <a:t>)</a:t>
            </a:r>
            <a:endParaRPr baseline="30000" sz="3000">
              <a:solidFill>
                <a:schemeClr val="dk1"/>
              </a:solidFill>
              <a:latin typeface="Arial"/>
              <a:ea typeface="Arial"/>
              <a:cs typeface="Arial"/>
              <a:sym typeface="Arial"/>
            </a:endParaRPr>
          </a:p>
        </p:txBody>
      </p:sp>
      <p:sp>
        <p:nvSpPr>
          <p:cNvPr id="291" name="Google Shape;291;p9"/>
          <p:cNvSpPr txBox="1"/>
          <p:nvPr/>
        </p:nvSpPr>
        <p:spPr>
          <a:xfrm>
            <a:off x="6043929" y="770127"/>
            <a:ext cx="916305" cy="24828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1" lang="en-US" sz="2000">
                <a:solidFill>
                  <a:schemeClr val="dk1"/>
                </a:solidFill>
                <a:latin typeface="Arial"/>
                <a:ea typeface="Arial"/>
                <a:cs typeface="Arial"/>
                <a:sym typeface="Arial"/>
              </a:rPr>
              <a:t>tuple_id</a:t>
            </a:r>
            <a:endParaRPr sz="2000">
              <a:solidFill>
                <a:schemeClr val="dk1"/>
              </a:solidFill>
              <a:latin typeface="Arial"/>
              <a:ea typeface="Arial"/>
              <a:cs typeface="Arial"/>
              <a:sym typeface="Arial"/>
            </a:endParaRPr>
          </a:p>
          <a:p>
            <a:pPr indent="0" lvl="0" marL="563245" marR="0" rtl="0" algn="l">
              <a:lnSpc>
                <a:spcPct val="115000"/>
              </a:lnSpc>
              <a:spcBef>
                <a:spcPts val="1535"/>
              </a:spcBef>
              <a:spcAft>
                <a:spcPts val="0"/>
              </a:spcAft>
              <a:buNone/>
            </a:pPr>
            <a:r>
              <a:rPr lang="en-US" sz="2000">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a:p>
            <a:pPr indent="0" lvl="0" marL="563245" marR="0" rtl="0" algn="l">
              <a:lnSpc>
                <a:spcPct val="109000"/>
              </a:lnSpc>
              <a:spcBef>
                <a:spcPts val="0"/>
              </a:spcBef>
              <a:spcAft>
                <a:spcPts val="0"/>
              </a:spcAft>
              <a:buNone/>
            </a:pPr>
            <a:r>
              <a:rPr lang="en-US" sz="2000">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a:p>
            <a:pPr indent="0" lvl="0" marL="563245" marR="0" rtl="0" algn="l">
              <a:lnSpc>
                <a:spcPct val="108250"/>
              </a:lnSpc>
              <a:spcBef>
                <a:spcPts val="0"/>
              </a:spcBef>
              <a:spcAft>
                <a:spcPts val="0"/>
              </a:spcAft>
              <a:buNone/>
            </a:pPr>
            <a:r>
              <a:rPr lang="en-US" sz="2000">
                <a:solidFill>
                  <a:schemeClr val="dk1"/>
                </a:solidFill>
                <a:latin typeface="Arial"/>
                <a:ea typeface="Arial"/>
                <a:cs typeface="Arial"/>
                <a:sym typeface="Arial"/>
              </a:rPr>
              <a:t>3</a:t>
            </a:r>
            <a:endParaRPr sz="2000">
              <a:solidFill>
                <a:schemeClr val="dk1"/>
              </a:solidFill>
              <a:latin typeface="Arial"/>
              <a:ea typeface="Arial"/>
              <a:cs typeface="Arial"/>
              <a:sym typeface="Arial"/>
            </a:endParaRPr>
          </a:p>
          <a:p>
            <a:pPr indent="0" lvl="0" marL="563245" marR="0" rtl="0" algn="l">
              <a:lnSpc>
                <a:spcPct val="108250"/>
              </a:lnSpc>
              <a:spcBef>
                <a:spcPts val="0"/>
              </a:spcBef>
              <a:spcAft>
                <a:spcPts val="0"/>
              </a:spcAft>
              <a:buNone/>
            </a:pPr>
            <a:r>
              <a:rPr lang="en-US" sz="2000">
                <a:solidFill>
                  <a:schemeClr val="dk1"/>
                </a:solidFill>
                <a:latin typeface="Arial"/>
                <a:ea typeface="Arial"/>
                <a:cs typeface="Arial"/>
                <a:sym typeface="Arial"/>
              </a:rPr>
              <a:t>4</a:t>
            </a:r>
            <a:endParaRPr sz="2000">
              <a:solidFill>
                <a:schemeClr val="dk1"/>
              </a:solidFill>
              <a:latin typeface="Arial"/>
              <a:ea typeface="Arial"/>
              <a:cs typeface="Arial"/>
              <a:sym typeface="Arial"/>
            </a:endParaRPr>
          </a:p>
          <a:p>
            <a:pPr indent="0" lvl="0" marL="563245" marR="0" rtl="0" algn="l">
              <a:lnSpc>
                <a:spcPct val="108000"/>
              </a:lnSpc>
              <a:spcBef>
                <a:spcPts val="0"/>
              </a:spcBef>
              <a:spcAft>
                <a:spcPts val="0"/>
              </a:spcAft>
              <a:buNone/>
            </a:pPr>
            <a:r>
              <a:rPr lang="en-US" sz="2000">
                <a:solidFill>
                  <a:schemeClr val="dk1"/>
                </a:solidFill>
                <a:latin typeface="Arial"/>
                <a:ea typeface="Arial"/>
                <a:cs typeface="Arial"/>
                <a:sym typeface="Arial"/>
              </a:rPr>
              <a:t>5</a:t>
            </a:r>
            <a:endParaRPr sz="2000">
              <a:solidFill>
                <a:schemeClr val="dk1"/>
              </a:solidFill>
              <a:latin typeface="Arial"/>
              <a:ea typeface="Arial"/>
              <a:cs typeface="Arial"/>
              <a:sym typeface="Arial"/>
            </a:endParaRPr>
          </a:p>
          <a:p>
            <a:pPr indent="0" lvl="0" marL="563245" marR="0" rtl="0" algn="l">
              <a:lnSpc>
                <a:spcPct val="108250"/>
              </a:lnSpc>
              <a:spcBef>
                <a:spcPts val="0"/>
              </a:spcBef>
              <a:spcAft>
                <a:spcPts val="0"/>
              </a:spcAft>
              <a:buNone/>
            </a:pPr>
            <a:r>
              <a:rPr lang="en-US" sz="2000">
                <a:solidFill>
                  <a:schemeClr val="dk1"/>
                </a:solidFill>
                <a:latin typeface="Arial"/>
                <a:ea typeface="Arial"/>
                <a:cs typeface="Arial"/>
                <a:sym typeface="Arial"/>
              </a:rPr>
              <a:t>6</a:t>
            </a:r>
            <a:endParaRPr sz="2000">
              <a:solidFill>
                <a:schemeClr val="dk1"/>
              </a:solidFill>
              <a:latin typeface="Arial"/>
              <a:ea typeface="Arial"/>
              <a:cs typeface="Arial"/>
              <a:sym typeface="Arial"/>
            </a:endParaRPr>
          </a:p>
          <a:p>
            <a:pPr indent="0" lvl="0" marL="563245" marR="0" rtl="0" algn="l">
              <a:lnSpc>
                <a:spcPct val="114250"/>
              </a:lnSpc>
              <a:spcBef>
                <a:spcPts val="0"/>
              </a:spcBef>
              <a:spcAft>
                <a:spcPts val="0"/>
              </a:spcAft>
              <a:buNone/>
            </a:pPr>
            <a:r>
              <a:rPr lang="en-US" sz="2000">
                <a:solidFill>
                  <a:schemeClr val="dk1"/>
                </a:solidFill>
                <a:latin typeface="Arial"/>
                <a:ea typeface="Arial"/>
                <a:cs typeface="Arial"/>
                <a:sym typeface="Arial"/>
              </a:rPr>
              <a:t>7</a:t>
            </a:r>
            <a:endParaRPr sz="2000">
              <a:solidFill>
                <a:schemeClr val="dk1"/>
              </a:solidFill>
              <a:latin typeface="Arial"/>
              <a:ea typeface="Arial"/>
              <a:cs typeface="Arial"/>
              <a:sym typeface="Arial"/>
            </a:endParaRPr>
          </a:p>
        </p:txBody>
      </p:sp>
      <p:sp>
        <p:nvSpPr>
          <p:cNvPr id="292" name="Google Shape;292;p9"/>
          <p:cNvSpPr txBox="1"/>
          <p:nvPr/>
        </p:nvSpPr>
        <p:spPr>
          <a:xfrm>
            <a:off x="3876761" y="3794476"/>
            <a:ext cx="915669" cy="3302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1" lang="en-US" sz="2000">
                <a:solidFill>
                  <a:schemeClr val="dk1"/>
                </a:solidFill>
                <a:latin typeface="Arial"/>
                <a:ea typeface="Arial"/>
                <a:cs typeface="Arial"/>
                <a:sym typeface="Arial"/>
              </a:rPr>
              <a:t>balance</a:t>
            </a:r>
            <a:endParaRPr sz="2000">
              <a:solidFill>
                <a:schemeClr val="dk1"/>
              </a:solidFill>
              <a:latin typeface="Arial"/>
              <a:ea typeface="Arial"/>
              <a:cs typeface="Arial"/>
              <a:sym typeface="Arial"/>
            </a:endParaRPr>
          </a:p>
        </p:txBody>
      </p:sp>
      <p:grpSp>
        <p:nvGrpSpPr>
          <p:cNvPr id="293" name="Google Shape;293;p9"/>
          <p:cNvGrpSpPr/>
          <p:nvPr/>
        </p:nvGrpSpPr>
        <p:grpSpPr>
          <a:xfrm>
            <a:off x="5444744" y="3727196"/>
            <a:ext cx="2134362" cy="457200"/>
            <a:chOff x="5444744" y="3727196"/>
            <a:chExt cx="2134362" cy="457200"/>
          </a:xfrm>
        </p:grpSpPr>
        <p:sp>
          <p:nvSpPr>
            <p:cNvPr id="294" name="Google Shape;294;p9"/>
            <p:cNvSpPr/>
            <p:nvPr/>
          </p:nvSpPr>
          <p:spPr>
            <a:xfrm>
              <a:off x="5445506" y="3727196"/>
              <a:ext cx="2133600" cy="457200"/>
            </a:xfrm>
            <a:custGeom>
              <a:rect b="b" l="l" r="r" t="t"/>
              <a:pathLst>
                <a:path extrusionOk="0" h="457200" w="2133600">
                  <a:moveTo>
                    <a:pt x="2133600" y="457200"/>
                  </a:moveTo>
                  <a:lnTo>
                    <a:pt x="2133600" y="0"/>
                  </a:lnTo>
                  <a:lnTo>
                    <a:pt x="0" y="0"/>
                  </a:lnTo>
                  <a:lnTo>
                    <a:pt x="0" y="457200"/>
                  </a:lnTo>
                  <a:lnTo>
                    <a:pt x="2133600" y="45720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9"/>
            <p:cNvSpPr/>
            <p:nvPr/>
          </p:nvSpPr>
          <p:spPr>
            <a:xfrm>
              <a:off x="5444744" y="3727196"/>
              <a:ext cx="2133600" cy="457200"/>
            </a:xfrm>
            <a:custGeom>
              <a:rect b="b" l="l" r="r" t="t"/>
              <a:pathLst>
                <a:path extrusionOk="0" h="457200" w="2133600">
                  <a:moveTo>
                    <a:pt x="0" y="0"/>
                  </a:moveTo>
                  <a:lnTo>
                    <a:pt x="0" y="457200"/>
                  </a:lnTo>
                  <a:lnTo>
                    <a:pt x="2133600" y="45720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6" name="Google Shape;296;p9"/>
          <p:cNvSpPr txBox="1"/>
          <p:nvPr/>
        </p:nvSpPr>
        <p:spPr>
          <a:xfrm>
            <a:off x="1298955" y="3765550"/>
            <a:ext cx="5603875" cy="3302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1" lang="en-US" sz="2000">
                <a:solidFill>
                  <a:schemeClr val="dk1"/>
                </a:solidFill>
                <a:latin typeface="Arial"/>
                <a:ea typeface="Arial"/>
                <a:cs typeface="Arial"/>
                <a:sym typeface="Arial"/>
              </a:rPr>
              <a:t>account_number	tuple_id</a:t>
            </a:r>
            <a:endParaRPr sz="2000">
              <a:solidFill>
                <a:schemeClr val="dk1"/>
              </a:solidFill>
              <a:latin typeface="Arial"/>
              <a:ea typeface="Arial"/>
              <a:cs typeface="Arial"/>
              <a:sym typeface="Arial"/>
            </a:endParaRPr>
          </a:p>
        </p:txBody>
      </p:sp>
      <p:grpSp>
        <p:nvGrpSpPr>
          <p:cNvPr id="297" name="Google Shape;297;p9"/>
          <p:cNvGrpSpPr/>
          <p:nvPr/>
        </p:nvGrpSpPr>
        <p:grpSpPr>
          <a:xfrm>
            <a:off x="1177544" y="4222496"/>
            <a:ext cx="4267961" cy="2059178"/>
            <a:chOff x="1177544" y="4222496"/>
            <a:chExt cx="4267961" cy="2059178"/>
          </a:xfrm>
        </p:grpSpPr>
        <p:sp>
          <p:nvSpPr>
            <p:cNvPr id="298" name="Google Shape;298;p9"/>
            <p:cNvSpPr/>
            <p:nvPr/>
          </p:nvSpPr>
          <p:spPr>
            <a:xfrm>
              <a:off x="1178306" y="4229354"/>
              <a:ext cx="2133600" cy="2052320"/>
            </a:xfrm>
            <a:custGeom>
              <a:rect b="b" l="l" r="r" t="t"/>
              <a:pathLst>
                <a:path extrusionOk="0" h="2052320" w="2133600">
                  <a:moveTo>
                    <a:pt x="2133600" y="2052066"/>
                  </a:moveTo>
                  <a:lnTo>
                    <a:pt x="2133599" y="0"/>
                  </a:lnTo>
                  <a:lnTo>
                    <a:pt x="0" y="0"/>
                  </a:lnTo>
                  <a:lnTo>
                    <a:pt x="0" y="2052066"/>
                  </a:lnTo>
                  <a:lnTo>
                    <a:pt x="2133600" y="2052066"/>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9"/>
            <p:cNvSpPr/>
            <p:nvPr/>
          </p:nvSpPr>
          <p:spPr>
            <a:xfrm>
              <a:off x="1177544" y="4229354"/>
              <a:ext cx="2133600" cy="2052320"/>
            </a:xfrm>
            <a:custGeom>
              <a:rect b="b" l="l" r="r" t="t"/>
              <a:pathLst>
                <a:path extrusionOk="0" h="2052320" w="2133600">
                  <a:moveTo>
                    <a:pt x="0" y="0"/>
                  </a:moveTo>
                  <a:lnTo>
                    <a:pt x="0" y="2052066"/>
                  </a:lnTo>
                  <a:lnTo>
                    <a:pt x="2133600" y="2052066"/>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9"/>
            <p:cNvSpPr/>
            <p:nvPr/>
          </p:nvSpPr>
          <p:spPr>
            <a:xfrm>
              <a:off x="3311905" y="4222496"/>
              <a:ext cx="2133600" cy="2049780"/>
            </a:xfrm>
            <a:custGeom>
              <a:rect b="b" l="l" r="r" t="t"/>
              <a:pathLst>
                <a:path extrusionOk="0" h="2049779" w="2133600">
                  <a:moveTo>
                    <a:pt x="2133600" y="2049780"/>
                  </a:moveTo>
                  <a:lnTo>
                    <a:pt x="2133600" y="0"/>
                  </a:lnTo>
                  <a:lnTo>
                    <a:pt x="0" y="0"/>
                  </a:lnTo>
                  <a:lnTo>
                    <a:pt x="0" y="2049780"/>
                  </a:lnTo>
                  <a:lnTo>
                    <a:pt x="2133600" y="204978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9"/>
            <p:cNvSpPr/>
            <p:nvPr/>
          </p:nvSpPr>
          <p:spPr>
            <a:xfrm>
              <a:off x="3311144" y="4222496"/>
              <a:ext cx="2133600" cy="2049780"/>
            </a:xfrm>
            <a:custGeom>
              <a:rect b="b" l="l" r="r" t="t"/>
              <a:pathLst>
                <a:path extrusionOk="0" h="2049779" w="2133600">
                  <a:moveTo>
                    <a:pt x="0" y="0"/>
                  </a:moveTo>
                  <a:lnTo>
                    <a:pt x="0" y="2049780"/>
                  </a:lnTo>
                  <a:lnTo>
                    <a:pt x="2133600" y="204978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2" name="Google Shape;302;p9"/>
          <p:cNvSpPr txBox="1"/>
          <p:nvPr/>
        </p:nvSpPr>
        <p:spPr>
          <a:xfrm>
            <a:off x="3809746" y="4282185"/>
            <a:ext cx="730885" cy="1407795"/>
          </a:xfrm>
          <a:prstGeom prst="rect">
            <a:avLst/>
          </a:prstGeom>
          <a:noFill/>
          <a:ln>
            <a:noFill/>
          </a:ln>
        </p:spPr>
        <p:txBody>
          <a:bodyPr anchorCtr="0" anchor="t" bIns="0" lIns="0" spcFirstLastPara="1" rIns="0" wrap="square" tIns="12050">
            <a:spAutoFit/>
          </a:bodyPr>
          <a:lstStyle/>
          <a:p>
            <a:pPr indent="0" lvl="0" marL="12700" marR="0" rtl="0" algn="l">
              <a:lnSpc>
                <a:spcPct val="111249"/>
              </a:lnSpc>
              <a:spcBef>
                <a:spcPts val="0"/>
              </a:spcBef>
              <a:spcAft>
                <a:spcPts val="0"/>
              </a:spcAft>
              <a:buNone/>
            </a:pPr>
            <a:r>
              <a:rPr lang="en-US" sz="2000">
                <a:solidFill>
                  <a:schemeClr val="dk1"/>
                </a:solidFill>
                <a:latin typeface="Arial"/>
                <a:ea typeface="Arial"/>
                <a:cs typeface="Arial"/>
                <a:sym typeface="Arial"/>
              </a:rPr>
              <a:t>500</a:t>
            </a:r>
            <a:endParaRPr sz="2000">
              <a:solidFill>
                <a:schemeClr val="dk1"/>
              </a:solidFill>
              <a:latin typeface="Arial"/>
              <a:ea typeface="Arial"/>
              <a:cs typeface="Arial"/>
              <a:sym typeface="Arial"/>
            </a:endParaRPr>
          </a:p>
          <a:p>
            <a:pPr indent="0" lvl="0" marL="12700" marR="0" rtl="0" algn="l">
              <a:lnSpc>
                <a:spcPct val="104000"/>
              </a:lnSpc>
              <a:spcBef>
                <a:spcPts val="0"/>
              </a:spcBef>
              <a:spcAft>
                <a:spcPts val="0"/>
              </a:spcAft>
              <a:buNone/>
            </a:pPr>
            <a:r>
              <a:rPr lang="en-US" sz="2000">
                <a:solidFill>
                  <a:schemeClr val="dk1"/>
                </a:solidFill>
                <a:latin typeface="Arial"/>
                <a:ea typeface="Arial"/>
                <a:cs typeface="Arial"/>
                <a:sym typeface="Arial"/>
              </a:rPr>
              <a:t>336</a:t>
            </a:r>
            <a:endParaRPr sz="2000">
              <a:solidFill>
                <a:schemeClr val="dk1"/>
              </a:solidFill>
              <a:latin typeface="Arial"/>
              <a:ea typeface="Arial"/>
              <a:cs typeface="Arial"/>
              <a:sym typeface="Arial"/>
            </a:endParaRPr>
          </a:p>
          <a:p>
            <a:pPr indent="0" lvl="0" marL="12700" marR="0" rtl="0" algn="l">
              <a:lnSpc>
                <a:spcPct val="106750"/>
              </a:lnSpc>
              <a:spcBef>
                <a:spcPts val="0"/>
              </a:spcBef>
              <a:spcAft>
                <a:spcPts val="0"/>
              </a:spcAft>
              <a:buNone/>
            </a:pPr>
            <a:r>
              <a:rPr lang="en-US" sz="2000">
                <a:solidFill>
                  <a:schemeClr val="dk1"/>
                </a:solidFill>
                <a:latin typeface="Arial"/>
                <a:ea typeface="Arial"/>
                <a:cs typeface="Arial"/>
                <a:sym typeface="Arial"/>
              </a:rPr>
              <a:t>205</a:t>
            </a:r>
            <a:endParaRPr sz="2000">
              <a:solidFill>
                <a:schemeClr val="dk1"/>
              </a:solidFill>
              <a:latin typeface="Arial"/>
              <a:ea typeface="Arial"/>
              <a:cs typeface="Arial"/>
              <a:sym typeface="Arial"/>
            </a:endParaRPr>
          </a:p>
          <a:p>
            <a:pPr indent="0" lvl="0" marL="12700" marR="0" rtl="0" algn="l">
              <a:lnSpc>
                <a:spcPct val="108250"/>
              </a:lnSpc>
              <a:spcBef>
                <a:spcPts val="0"/>
              </a:spcBef>
              <a:spcAft>
                <a:spcPts val="0"/>
              </a:spcAft>
              <a:buNone/>
            </a:pPr>
            <a:r>
              <a:rPr lang="en-US" sz="2000">
                <a:solidFill>
                  <a:schemeClr val="dk1"/>
                </a:solidFill>
                <a:latin typeface="Arial"/>
                <a:ea typeface="Arial"/>
                <a:cs typeface="Arial"/>
                <a:sym typeface="Arial"/>
              </a:rPr>
              <a:t>10000</a:t>
            </a:r>
            <a:endParaRPr sz="2000">
              <a:solidFill>
                <a:schemeClr val="dk1"/>
              </a:solidFill>
              <a:latin typeface="Arial"/>
              <a:ea typeface="Arial"/>
              <a:cs typeface="Arial"/>
              <a:sym typeface="Arial"/>
            </a:endParaRPr>
          </a:p>
          <a:p>
            <a:pPr indent="0" lvl="0" marL="12700" marR="0" rtl="0" algn="l">
              <a:lnSpc>
                <a:spcPct val="114250"/>
              </a:lnSpc>
              <a:spcBef>
                <a:spcPts val="0"/>
              </a:spcBef>
              <a:spcAft>
                <a:spcPts val="0"/>
              </a:spcAft>
              <a:buNone/>
            </a:pPr>
            <a:r>
              <a:rPr lang="en-US" sz="2000">
                <a:solidFill>
                  <a:schemeClr val="dk1"/>
                </a:solidFill>
                <a:latin typeface="Arial"/>
                <a:ea typeface="Arial"/>
                <a:cs typeface="Arial"/>
                <a:sym typeface="Arial"/>
              </a:rPr>
              <a:t>62</a:t>
            </a:r>
            <a:endParaRPr sz="2000">
              <a:solidFill>
                <a:schemeClr val="dk1"/>
              </a:solidFill>
              <a:latin typeface="Arial"/>
              <a:ea typeface="Arial"/>
              <a:cs typeface="Arial"/>
              <a:sym typeface="Arial"/>
            </a:endParaRPr>
          </a:p>
        </p:txBody>
      </p:sp>
      <p:grpSp>
        <p:nvGrpSpPr>
          <p:cNvPr id="303" name="Google Shape;303;p9"/>
          <p:cNvGrpSpPr/>
          <p:nvPr/>
        </p:nvGrpSpPr>
        <p:grpSpPr>
          <a:xfrm>
            <a:off x="5444744" y="4232402"/>
            <a:ext cx="2134362" cy="2045970"/>
            <a:chOff x="5444744" y="4232402"/>
            <a:chExt cx="2134362" cy="2045970"/>
          </a:xfrm>
        </p:grpSpPr>
        <p:sp>
          <p:nvSpPr>
            <p:cNvPr id="304" name="Google Shape;304;p9"/>
            <p:cNvSpPr/>
            <p:nvPr/>
          </p:nvSpPr>
          <p:spPr>
            <a:xfrm>
              <a:off x="5445506" y="4232402"/>
              <a:ext cx="2133600" cy="2045970"/>
            </a:xfrm>
            <a:custGeom>
              <a:rect b="b" l="l" r="r" t="t"/>
              <a:pathLst>
                <a:path extrusionOk="0" h="2045970" w="2133600">
                  <a:moveTo>
                    <a:pt x="2133600" y="2045970"/>
                  </a:moveTo>
                  <a:lnTo>
                    <a:pt x="2133600" y="0"/>
                  </a:lnTo>
                  <a:lnTo>
                    <a:pt x="0" y="0"/>
                  </a:lnTo>
                  <a:lnTo>
                    <a:pt x="0" y="2045970"/>
                  </a:lnTo>
                  <a:lnTo>
                    <a:pt x="2133600" y="204597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9"/>
            <p:cNvSpPr/>
            <p:nvPr/>
          </p:nvSpPr>
          <p:spPr>
            <a:xfrm>
              <a:off x="5444744" y="4232402"/>
              <a:ext cx="2133600" cy="2045970"/>
            </a:xfrm>
            <a:custGeom>
              <a:rect b="b" l="l" r="r" t="t"/>
              <a:pathLst>
                <a:path extrusionOk="0" h="2045970" w="2133600">
                  <a:moveTo>
                    <a:pt x="0" y="0"/>
                  </a:moveTo>
                  <a:lnTo>
                    <a:pt x="0" y="2045970"/>
                  </a:lnTo>
                  <a:lnTo>
                    <a:pt x="2133600" y="2045970"/>
                  </a:lnTo>
                  <a:lnTo>
                    <a:pt x="213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6" name="Google Shape;306;p9"/>
          <p:cNvSpPr txBox="1"/>
          <p:nvPr/>
        </p:nvSpPr>
        <p:spPr>
          <a:xfrm>
            <a:off x="6537706" y="4302759"/>
            <a:ext cx="167005" cy="1432560"/>
          </a:xfrm>
          <a:prstGeom prst="rect">
            <a:avLst/>
          </a:prstGeom>
          <a:noFill/>
          <a:ln>
            <a:noFill/>
          </a:ln>
        </p:spPr>
        <p:txBody>
          <a:bodyPr anchorCtr="0" anchor="t" bIns="0" lIns="0" spcFirstLastPara="1" rIns="0" wrap="square" tIns="12050">
            <a:spAutoFit/>
          </a:bodyPr>
          <a:lstStyle/>
          <a:p>
            <a:pPr indent="0" lvl="0" marL="12700" marR="0" rtl="0" algn="l">
              <a:lnSpc>
                <a:spcPct val="115000"/>
              </a:lnSpc>
              <a:spcBef>
                <a:spcPts val="0"/>
              </a:spcBef>
              <a:spcAft>
                <a:spcPts val="0"/>
              </a:spcAft>
              <a:buNone/>
            </a:pPr>
            <a:r>
              <a:rPr lang="en-US" sz="2000">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a:p>
            <a:pPr indent="0" lvl="0" marL="12700" marR="0" rtl="0" algn="l">
              <a:lnSpc>
                <a:spcPct val="109000"/>
              </a:lnSpc>
              <a:spcBef>
                <a:spcPts val="0"/>
              </a:spcBef>
              <a:spcAft>
                <a:spcPts val="0"/>
              </a:spcAft>
              <a:buNone/>
            </a:pPr>
            <a:r>
              <a:rPr lang="en-US" sz="2000">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a:p>
            <a:pPr indent="0" lvl="0" marL="12700" marR="0" rtl="0" algn="l">
              <a:lnSpc>
                <a:spcPct val="108250"/>
              </a:lnSpc>
              <a:spcBef>
                <a:spcPts val="0"/>
              </a:spcBef>
              <a:spcAft>
                <a:spcPts val="0"/>
              </a:spcAft>
              <a:buNone/>
            </a:pPr>
            <a:r>
              <a:rPr lang="en-US" sz="2000">
                <a:solidFill>
                  <a:schemeClr val="dk1"/>
                </a:solidFill>
                <a:latin typeface="Arial"/>
                <a:ea typeface="Arial"/>
                <a:cs typeface="Arial"/>
                <a:sym typeface="Arial"/>
              </a:rPr>
              <a:t>3</a:t>
            </a:r>
            <a:endParaRPr sz="2000">
              <a:solidFill>
                <a:schemeClr val="dk1"/>
              </a:solidFill>
              <a:latin typeface="Arial"/>
              <a:ea typeface="Arial"/>
              <a:cs typeface="Arial"/>
              <a:sym typeface="Arial"/>
            </a:endParaRPr>
          </a:p>
          <a:p>
            <a:pPr indent="0" lvl="0" marL="12700" marR="0" rtl="0" algn="l">
              <a:lnSpc>
                <a:spcPct val="108250"/>
              </a:lnSpc>
              <a:spcBef>
                <a:spcPts val="0"/>
              </a:spcBef>
              <a:spcAft>
                <a:spcPts val="0"/>
              </a:spcAft>
              <a:buNone/>
            </a:pPr>
            <a:r>
              <a:rPr lang="en-US" sz="2000">
                <a:solidFill>
                  <a:schemeClr val="dk1"/>
                </a:solidFill>
                <a:latin typeface="Arial"/>
                <a:ea typeface="Arial"/>
                <a:cs typeface="Arial"/>
                <a:sym typeface="Arial"/>
              </a:rPr>
              <a:t>4</a:t>
            </a:r>
            <a:endParaRPr sz="2000">
              <a:solidFill>
                <a:schemeClr val="dk1"/>
              </a:solidFill>
              <a:latin typeface="Arial"/>
              <a:ea typeface="Arial"/>
              <a:cs typeface="Arial"/>
              <a:sym typeface="Arial"/>
            </a:endParaRPr>
          </a:p>
          <a:p>
            <a:pPr indent="0" lvl="0" marL="12700" marR="0" rtl="0" algn="l">
              <a:lnSpc>
                <a:spcPct val="114000"/>
              </a:lnSpc>
              <a:spcBef>
                <a:spcPts val="0"/>
              </a:spcBef>
              <a:spcAft>
                <a:spcPts val="0"/>
              </a:spcAft>
              <a:buNone/>
            </a:pPr>
            <a:r>
              <a:rPr lang="en-US" sz="2000">
                <a:solidFill>
                  <a:schemeClr val="dk1"/>
                </a:solidFill>
                <a:latin typeface="Arial"/>
                <a:ea typeface="Arial"/>
                <a:cs typeface="Arial"/>
                <a:sym typeface="Arial"/>
              </a:rPr>
              <a:t>5</a:t>
            </a:r>
            <a:endParaRPr sz="2000">
              <a:solidFill>
                <a:schemeClr val="dk1"/>
              </a:solidFill>
              <a:latin typeface="Arial"/>
              <a:ea typeface="Arial"/>
              <a:cs typeface="Arial"/>
              <a:sym typeface="Arial"/>
            </a:endParaRPr>
          </a:p>
        </p:txBody>
      </p:sp>
      <p:sp>
        <p:nvSpPr>
          <p:cNvPr id="307" name="Google Shape;307;p9"/>
          <p:cNvSpPr txBox="1"/>
          <p:nvPr/>
        </p:nvSpPr>
        <p:spPr>
          <a:xfrm>
            <a:off x="1804835" y="4292610"/>
            <a:ext cx="703580" cy="1433195"/>
          </a:xfrm>
          <a:prstGeom prst="rect">
            <a:avLst/>
          </a:prstGeom>
          <a:noFill/>
          <a:ln>
            <a:noFill/>
          </a:ln>
        </p:spPr>
        <p:txBody>
          <a:bodyPr anchorCtr="0" anchor="t" bIns="0" lIns="0" spcFirstLastPara="1" rIns="0" wrap="square" tIns="41275">
            <a:spAutoFit/>
          </a:bodyPr>
          <a:lstStyle/>
          <a:p>
            <a:pPr indent="0" lvl="0" marL="12700" marR="5080" rtl="0" algn="just">
              <a:lnSpc>
                <a:spcPct val="90500"/>
              </a:lnSpc>
              <a:spcBef>
                <a:spcPts val="0"/>
              </a:spcBef>
              <a:spcAft>
                <a:spcPts val="0"/>
              </a:spcAft>
              <a:buNone/>
            </a:pPr>
            <a:r>
              <a:rPr lang="en-US" sz="2000">
                <a:solidFill>
                  <a:schemeClr val="dk1"/>
                </a:solidFill>
                <a:latin typeface="Arial"/>
                <a:ea typeface="Arial"/>
                <a:cs typeface="Arial"/>
                <a:sym typeface="Arial"/>
              </a:rPr>
              <a:t>A-305  A-226  A-177  A-402  A-155</a:t>
            </a:r>
            <a:endParaRPr sz="2000">
              <a:solidFill>
                <a:schemeClr val="dk1"/>
              </a:solidFill>
              <a:latin typeface="Arial"/>
              <a:ea typeface="Arial"/>
              <a:cs typeface="Arial"/>
              <a:sym typeface="Arial"/>
            </a:endParaRPr>
          </a:p>
        </p:txBody>
      </p:sp>
      <p:graphicFrame>
        <p:nvGraphicFramePr>
          <p:cNvPr id="308" name="Google Shape;308;p9"/>
          <p:cNvGraphicFramePr/>
          <p:nvPr/>
        </p:nvGraphicFramePr>
        <p:xfrm>
          <a:off x="1785785" y="5696509"/>
          <a:ext cx="3000000" cy="3000000"/>
        </p:xfrm>
        <a:graphic>
          <a:graphicData uri="http://schemas.openxmlformats.org/drawingml/2006/table">
            <a:tbl>
              <a:tblPr bandRow="1" firstRow="1">
                <a:noFill/>
                <a:tableStyleId>{238F50DE-9F34-42CF-AE87-9CA27A57FAC5}</a:tableStyleId>
              </a:tblPr>
              <a:tblGrid>
                <a:gridCol w="1372875"/>
                <a:gridCol w="2310125"/>
                <a:gridCol w="1254750"/>
              </a:tblGrid>
              <a:tr h="291450">
                <a:tc>
                  <a:txBody>
                    <a:bodyPr/>
                    <a:lstStyle/>
                    <a:p>
                      <a:pPr indent="0" lvl="0" marL="31750" marR="0" rtl="0" algn="l">
                        <a:lnSpc>
                          <a:spcPct val="109750"/>
                        </a:lnSpc>
                        <a:spcBef>
                          <a:spcPts val="0"/>
                        </a:spcBef>
                        <a:spcAft>
                          <a:spcPts val="0"/>
                        </a:spcAft>
                        <a:buNone/>
                      </a:pPr>
                      <a:r>
                        <a:rPr lang="en-US" sz="2000" u="none" cap="none" strike="noStrike">
                          <a:latin typeface="Arial"/>
                          <a:ea typeface="Arial"/>
                          <a:cs typeface="Arial"/>
                          <a:sym typeface="Arial"/>
                        </a:rPr>
                        <a:t>A-408</a:t>
                      </a:r>
                      <a:endParaRPr sz="2000" u="none" cap="none" strike="noStrike">
                        <a:latin typeface="Arial"/>
                        <a:ea typeface="Arial"/>
                        <a:cs typeface="Arial"/>
                        <a:sym typeface="Arial"/>
                      </a:endParaRPr>
                    </a:p>
                  </a:txBody>
                  <a:tcPr marT="0" marB="0" marR="0" marL="0">
                    <a:solidFill>
                      <a:srgbClr val="FFFFFF"/>
                    </a:solidFill>
                  </a:tcPr>
                </a:tc>
                <a:tc>
                  <a:txBody>
                    <a:bodyPr/>
                    <a:lstStyle/>
                    <a:p>
                      <a:pPr indent="0" lvl="0" marL="663575" marR="0" rtl="0" algn="l">
                        <a:lnSpc>
                          <a:spcPct val="109750"/>
                        </a:lnSpc>
                        <a:spcBef>
                          <a:spcPts val="0"/>
                        </a:spcBef>
                        <a:spcAft>
                          <a:spcPts val="0"/>
                        </a:spcAft>
                        <a:buNone/>
                      </a:pPr>
                      <a:r>
                        <a:rPr lang="en-US" sz="2000" u="none" cap="none" strike="noStrike">
                          <a:latin typeface="Arial"/>
                          <a:ea typeface="Arial"/>
                          <a:cs typeface="Arial"/>
                          <a:sym typeface="Arial"/>
                        </a:rPr>
                        <a:t>1123</a:t>
                      </a:r>
                      <a:endParaRPr sz="2000" u="none" cap="none" strike="noStrike">
                        <a:latin typeface="Arial"/>
                        <a:ea typeface="Arial"/>
                        <a:cs typeface="Arial"/>
                        <a:sym typeface="Arial"/>
                      </a:endParaRPr>
                    </a:p>
                  </a:txBody>
                  <a:tcPr marT="0" marB="0" marR="0" marL="0">
                    <a:solidFill>
                      <a:srgbClr val="FFFFFF"/>
                    </a:solidFill>
                  </a:tcPr>
                </a:tc>
                <a:tc>
                  <a:txBody>
                    <a:bodyPr/>
                    <a:lstStyle/>
                    <a:p>
                      <a:pPr indent="0" lvl="0" marL="0" marR="24130" rtl="0" algn="r">
                        <a:lnSpc>
                          <a:spcPct val="109750"/>
                        </a:lnSpc>
                        <a:spcBef>
                          <a:spcPts val="0"/>
                        </a:spcBef>
                        <a:spcAft>
                          <a:spcPts val="0"/>
                        </a:spcAft>
                        <a:buNone/>
                      </a:pPr>
                      <a:r>
                        <a:rPr lang="en-US" sz="2000" u="none" cap="none" strike="noStrike">
                          <a:latin typeface="Arial"/>
                          <a:ea typeface="Arial"/>
                          <a:cs typeface="Arial"/>
                          <a:sym typeface="Arial"/>
                        </a:rPr>
                        <a:t>6</a:t>
                      </a:r>
                      <a:endParaRPr sz="2000" u="none" cap="none" strike="noStrike">
                        <a:latin typeface="Arial"/>
                        <a:ea typeface="Arial"/>
                        <a:cs typeface="Arial"/>
                        <a:sym typeface="Arial"/>
                      </a:endParaRPr>
                    </a:p>
                  </a:txBody>
                  <a:tcPr marT="0" marB="0" marR="0" marL="0">
                    <a:solidFill>
                      <a:srgbClr val="FFFFFF"/>
                    </a:solidFill>
                  </a:tcPr>
                </a:tc>
              </a:tr>
              <a:tr h="293450">
                <a:tc>
                  <a:txBody>
                    <a:bodyPr/>
                    <a:lstStyle/>
                    <a:p>
                      <a:pPr indent="0" lvl="0" marL="31750" marR="0" rtl="0" algn="l">
                        <a:lnSpc>
                          <a:spcPct val="108000"/>
                        </a:lnSpc>
                        <a:spcBef>
                          <a:spcPts val="0"/>
                        </a:spcBef>
                        <a:spcAft>
                          <a:spcPts val="0"/>
                        </a:spcAft>
                        <a:buNone/>
                      </a:pPr>
                      <a:r>
                        <a:rPr lang="en-US" sz="2000" u="none" cap="none" strike="noStrike">
                          <a:latin typeface="Arial"/>
                          <a:ea typeface="Arial"/>
                          <a:cs typeface="Arial"/>
                          <a:sym typeface="Arial"/>
                        </a:rPr>
                        <a:t>A-639</a:t>
                      </a:r>
                      <a:endParaRPr sz="2000" u="none" cap="none" strike="noStrike">
                        <a:latin typeface="Arial"/>
                        <a:ea typeface="Arial"/>
                        <a:cs typeface="Arial"/>
                        <a:sym typeface="Arial"/>
                      </a:endParaRPr>
                    </a:p>
                  </a:txBody>
                  <a:tcPr marT="0" marB="0" marR="0" marL="0">
                    <a:solidFill>
                      <a:srgbClr val="FFFFFF"/>
                    </a:solidFill>
                  </a:tcPr>
                </a:tc>
                <a:tc>
                  <a:txBody>
                    <a:bodyPr/>
                    <a:lstStyle/>
                    <a:p>
                      <a:pPr indent="0" lvl="0" marL="663575" marR="0" rtl="0" algn="l">
                        <a:lnSpc>
                          <a:spcPct val="105499"/>
                        </a:lnSpc>
                        <a:spcBef>
                          <a:spcPts val="0"/>
                        </a:spcBef>
                        <a:spcAft>
                          <a:spcPts val="0"/>
                        </a:spcAft>
                        <a:buNone/>
                      </a:pPr>
                      <a:r>
                        <a:rPr lang="en-US" sz="2000" u="none" cap="none" strike="noStrike">
                          <a:latin typeface="Arial"/>
                          <a:ea typeface="Arial"/>
                          <a:cs typeface="Arial"/>
                          <a:sym typeface="Arial"/>
                        </a:rPr>
                        <a:t>750</a:t>
                      </a:r>
                      <a:endParaRPr sz="2000" u="none" cap="none" strike="noStrike">
                        <a:latin typeface="Arial"/>
                        <a:ea typeface="Arial"/>
                        <a:cs typeface="Arial"/>
                        <a:sym typeface="Arial"/>
                      </a:endParaRPr>
                    </a:p>
                  </a:txBody>
                  <a:tcPr marT="0" marB="0" marR="0" marL="0">
                    <a:solidFill>
                      <a:srgbClr val="FFFFFF"/>
                    </a:solidFill>
                  </a:tcPr>
                </a:tc>
                <a:tc>
                  <a:txBody>
                    <a:bodyPr/>
                    <a:lstStyle/>
                    <a:p>
                      <a:pPr indent="0" lvl="0" marL="0" marR="24130" rtl="0" algn="r">
                        <a:lnSpc>
                          <a:spcPct val="110500"/>
                        </a:lnSpc>
                        <a:spcBef>
                          <a:spcPts val="0"/>
                        </a:spcBef>
                        <a:spcAft>
                          <a:spcPts val="0"/>
                        </a:spcAft>
                        <a:buNone/>
                      </a:pPr>
                      <a:r>
                        <a:rPr lang="en-US" sz="2000" u="none" cap="none" strike="noStrike">
                          <a:latin typeface="Arial"/>
                          <a:ea typeface="Arial"/>
                          <a:cs typeface="Arial"/>
                          <a:sym typeface="Arial"/>
                        </a:rPr>
                        <a:t>7</a:t>
                      </a:r>
                      <a:endParaRPr sz="2000" u="none" cap="none" strike="noStrike">
                        <a:latin typeface="Arial"/>
                        <a:ea typeface="Arial"/>
                        <a:cs typeface="Arial"/>
                        <a:sym typeface="Arial"/>
                      </a:endParaRPr>
                    </a:p>
                  </a:txBody>
                  <a:tcPr marT="0" marB="0" marR="0" marL="0">
                    <a:solidFill>
                      <a:srgbClr val="FFFFFF"/>
                    </a:solidFill>
                  </a:tcPr>
                </a:tc>
              </a:tr>
            </a:tbl>
          </a:graphicData>
        </a:graphic>
      </p:graphicFrame>
      <p:sp>
        <p:nvSpPr>
          <p:cNvPr id="309" name="Google Shape;309;p9"/>
          <p:cNvSpPr txBox="1"/>
          <p:nvPr/>
        </p:nvSpPr>
        <p:spPr>
          <a:xfrm>
            <a:off x="765212" y="6312963"/>
            <a:ext cx="5960745" cy="34734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None/>
            </a:pPr>
            <a:r>
              <a:rPr baseline="30000" i="1" lang="en-US" sz="3000">
                <a:solidFill>
                  <a:schemeClr val="dk1"/>
                </a:solidFill>
                <a:latin typeface="Arial"/>
                <a:ea typeface="Arial"/>
                <a:cs typeface="Arial"/>
                <a:sym typeface="Arial"/>
              </a:rPr>
              <a:t>deposit</a:t>
            </a:r>
            <a:r>
              <a:rPr i="1" lang="en-US" sz="1300">
                <a:solidFill>
                  <a:schemeClr val="dk1"/>
                </a:solidFill>
                <a:latin typeface="Arial"/>
                <a:ea typeface="Arial"/>
                <a:cs typeface="Arial"/>
                <a:sym typeface="Arial"/>
              </a:rPr>
              <a:t>2 </a:t>
            </a:r>
            <a:r>
              <a:rPr baseline="30000" lang="en-US" sz="3000">
                <a:solidFill>
                  <a:schemeClr val="dk1"/>
                </a:solidFill>
                <a:latin typeface="Arial"/>
                <a:ea typeface="Arial"/>
                <a:cs typeface="Arial"/>
                <a:sym typeface="Arial"/>
              </a:rPr>
              <a:t>= </a:t>
            </a:r>
            <a:r>
              <a:rPr baseline="30000" lang="en-US" sz="3150">
                <a:solidFill>
                  <a:schemeClr val="dk1"/>
                </a:solidFill>
                <a:latin typeface="Noto Sans Symbols"/>
                <a:ea typeface="Noto Sans Symbols"/>
                <a:cs typeface="Noto Sans Symbols"/>
                <a:sym typeface="Noto Sans Symbols"/>
              </a:rPr>
              <a:t>Π</a:t>
            </a:r>
            <a:r>
              <a:rPr i="1" lang="en-US" sz="1300">
                <a:solidFill>
                  <a:schemeClr val="dk1"/>
                </a:solidFill>
                <a:latin typeface="Arial"/>
                <a:ea typeface="Arial"/>
                <a:cs typeface="Arial"/>
                <a:sym typeface="Arial"/>
              </a:rPr>
              <a:t>account_number, balance, tuple_id </a:t>
            </a:r>
            <a:r>
              <a:rPr baseline="30000" lang="en-US" sz="3000">
                <a:solidFill>
                  <a:schemeClr val="dk1"/>
                </a:solidFill>
                <a:latin typeface="Arial"/>
                <a:ea typeface="Arial"/>
                <a:cs typeface="Arial"/>
                <a:sym typeface="Arial"/>
              </a:rPr>
              <a:t>(</a:t>
            </a:r>
            <a:r>
              <a:rPr baseline="30000" i="1" lang="en-US" sz="3000">
                <a:solidFill>
                  <a:schemeClr val="dk1"/>
                </a:solidFill>
                <a:latin typeface="Arial"/>
                <a:ea typeface="Arial"/>
                <a:cs typeface="Arial"/>
                <a:sym typeface="Arial"/>
              </a:rPr>
              <a:t>employee_info </a:t>
            </a:r>
            <a:r>
              <a:rPr baseline="30000" lang="en-US" sz="3000">
                <a:solidFill>
                  <a:schemeClr val="dk1"/>
                </a:solidFill>
                <a:latin typeface="Arial"/>
                <a:ea typeface="Arial"/>
                <a:cs typeface="Arial"/>
                <a:sym typeface="Arial"/>
              </a:rPr>
              <a:t>)</a:t>
            </a:r>
            <a:endParaRPr baseline="30000" sz="3000">
              <a:solidFill>
                <a:schemeClr val="dk1"/>
              </a:solidFill>
              <a:latin typeface="Arial"/>
              <a:ea typeface="Arial"/>
              <a:cs typeface="Arial"/>
              <a:sym typeface="Arial"/>
            </a:endParaRPr>
          </a:p>
        </p:txBody>
      </p:sp>
      <p:sp>
        <p:nvSpPr>
          <p:cNvPr id="310" name="Google Shape;310;p9"/>
          <p:cNvSpPr txBox="1"/>
          <p:nvPr/>
        </p:nvSpPr>
        <p:spPr>
          <a:xfrm>
            <a:off x="1005023" y="221376"/>
            <a:ext cx="8638974"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accent2"/>
              </a:buClr>
              <a:buSzPts val="2400"/>
              <a:buFont typeface="Arial Rounded"/>
              <a:buNone/>
            </a:pPr>
            <a:r>
              <a:rPr b="1" lang="en-US" sz="2400">
                <a:solidFill>
                  <a:schemeClr val="accent2"/>
                </a:solidFill>
                <a:latin typeface="Arial Rounded"/>
                <a:ea typeface="Arial Rounded"/>
                <a:cs typeface="Arial Rounded"/>
                <a:sym typeface="Arial Rounded"/>
              </a:rPr>
              <a:t>Vertical Fragmentation of </a:t>
            </a:r>
            <a:r>
              <a:rPr b="1" i="1" lang="en-US" sz="2400">
                <a:solidFill>
                  <a:schemeClr val="accent2"/>
                </a:solidFill>
                <a:latin typeface="Arial Rounded"/>
                <a:ea typeface="Arial Rounded"/>
                <a:cs typeface="Arial Rounded"/>
                <a:sym typeface="Arial Rounded"/>
              </a:rPr>
              <a:t>employee_info </a:t>
            </a:r>
            <a:r>
              <a:rPr b="1" lang="en-US" sz="2400">
                <a:solidFill>
                  <a:schemeClr val="accent2"/>
                </a:solidFill>
                <a:latin typeface="Arial Rounded"/>
                <a:ea typeface="Arial Rounded"/>
                <a:cs typeface="Arial Rounded"/>
                <a:sym typeface="Arial Rounded"/>
              </a:rPr>
              <a:t>Relation</a:t>
            </a:r>
            <a:endParaRPr b="1" sz="2400">
              <a:solidFill>
                <a:schemeClr val="accent2"/>
              </a:solidFill>
              <a:latin typeface="Arial Rounded"/>
              <a:ea typeface="Arial Rounded"/>
              <a:cs typeface="Arial Rounded"/>
              <a:sym typeface="Arial Round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0"/>
          <p:cNvSpPr txBox="1"/>
          <p:nvPr/>
        </p:nvSpPr>
        <p:spPr>
          <a:xfrm>
            <a:off x="2267452" y="226817"/>
            <a:ext cx="7092858" cy="44371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800"/>
              <a:buFont typeface="Arial Rounded"/>
              <a:buNone/>
            </a:pPr>
            <a:r>
              <a:rPr b="1" lang="en-US" sz="2800">
                <a:solidFill>
                  <a:schemeClr val="dk1"/>
                </a:solidFill>
                <a:latin typeface="Arial Rounded"/>
                <a:ea typeface="Arial Rounded"/>
                <a:cs typeface="Arial Rounded"/>
                <a:sym typeface="Arial Rounded"/>
              </a:rPr>
              <a:t>Advantages of Fragmentation</a:t>
            </a:r>
            <a:endParaRPr/>
          </a:p>
        </p:txBody>
      </p:sp>
      <p:sp>
        <p:nvSpPr>
          <p:cNvPr id="316" name="Google Shape;316;p10"/>
          <p:cNvSpPr txBox="1"/>
          <p:nvPr/>
        </p:nvSpPr>
        <p:spPr>
          <a:xfrm>
            <a:off x="893572" y="1047963"/>
            <a:ext cx="11180441" cy="4776308"/>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Horizontal:</a:t>
            </a:r>
            <a:endParaRPr b="1" sz="2000">
              <a:solidFill>
                <a:schemeClr val="dk1"/>
              </a:solidFill>
              <a:latin typeface="Arial Rounded"/>
              <a:ea typeface="Arial Rounded"/>
              <a:cs typeface="Arial Rounded"/>
              <a:sym typeface="Arial Rounded"/>
            </a:endParaRPr>
          </a:p>
          <a:p>
            <a:pPr indent="-285750" lvl="1" marL="755650" marR="0"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allows parallel processing on fragments of a relation</a:t>
            </a:r>
            <a:endParaRPr b="1" i="0" sz="2000" u="none" cap="none" strike="noStrike">
              <a:solidFill>
                <a:schemeClr val="dk1"/>
              </a:solidFill>
              <a:latin typeface="Arial Rounded"/>
              <a:ea typeface="Arial Rounded"/>
              <a:cs typeface="Arial Rounded"/>
              <a:sym typeface="Arial Rounded"/>
            </a:endParaRPr>
          </a:p>
          <a:p>
            <a:pPr indent="-285750" lvl="1" marL="755650" marR="55244" rtl="0" algn="l">
              <a:lnSpc>
                <a:spcPct val="100000"/>
              </a:lnSpc>
              <a:spcBef>
                <a:spcPts val="76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allows a relation to be split so that tuples are located where they are  most frequently accessed</a:t>
            </a:r>
            <a:endParaRPr b="1" i="0" sz="2000" u="none" cap="none" strike="noStrike">
              <a:solidFill>
                <a:schemeClr val="dk1"/>
              </a:solidFill>
              <a:latin typeface="Arial Rounded"/>
              <a:ea typeface="Arial Rounded"/>
              <a:cs typeface="Arial Rounded"/>
              <a:sym typeface="Arial Rounded"/>
            </a:endParaRPr>
          </a:p>
          <a:p>
            <a:pPr indent="-342900" lvl="0" marL="355600" marR="0" rtl="0" algn="l">
              <a:lnSpc>
                <a:spcPct val="100000"/>
              </a:lnSpc>
              <a:spcBef>
                <a:spcPts val="77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Vertical:</a:t>
            </a:r>
            <a:endParaRPr b="1" sz="2000">
              <a:solidFill>
                <a:schemeClr val="dk1"/>
              </a:solidFill>
              <a:latin typeface="Arial Rounded"/>
              <a:ea typeface="Arial Rounded"/>
              <a:cs typeface="Arial Rounded"/>
              <a:sym typeface="Arial Rounded"/>
            </a:endParaRPr>
          </a:p>
          <a:p>
            <a:pPr indent="-285750" lvl="1" marL="755650" marR="5080" rtl="0" algn="l">
              <a:lnSpc>
                <a:spcPct val="110000"/>
              </a:lnSpc>
              <a:spcBef>
                <a:spcPts val="725"/>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allows tuples to be split so that each part of the tuple is stored where  it is most frequently accessed</a:t>
            </a:r>
            <a:endParaRPr b="1" i="0" sz="2000" u="none" cap="none" strike="noStrike">
              <a:solidFill>
                <a:schemeClr val="dk1"/>
              </a:solidFill>
              <a:latin typeface="Arial Rounded"/>
              <a:ea typeface="Arial Rounded"/>
              <a:cs typeface="Arial Rounded"/>
              <a:sym typeface="Arial Rounded"/>
            </a:endParaRPr>
          </a:p>
          <a:p>
            <a:pPr indent="-285750" lvl="1" marL="755650" marR="0" rtl="0" algn="l">
              <a:lnSpc>
                <a:spcPct val="100000"/>
              </a:lnSpc>
              <a:spcBef>
                <a:spcPts val="80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tuple-id attribute allows efficient joining of vertical fragments</a:t>
            </a:r>
            <a:endParaRPr b="1" i="0" sz="2000" u="none" cap="none" strike="noStrike">
              <a:solidFill>
                <a:schemeClr val="dk1"/>
              </a:solidFill>
              <a:latin typeface="Arial Rounded"/>
              <a:ea typeface="Arial Rounded"/>
              <a:cs typeface="Arial Rounded"/>
              <a:sym typeface="Arial Rounded"/>
            </a:endParaRPr>
          </a:p>
          <a:p>
            <a:pPr indent="-285750" lvl="1" marL="755650" marR="0" rtl="0" algn="l">
              <a:lnSpc>
                <a:spcPct val="100000"/>
              </a:lnSpc>
              <a:spcBef>
                <a:spcPts val="765"/>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allows parallel processing on a relation</a:t>
            </a:r>
            <a:endParaRPr b="1" i="0" sz="2000" u="none" cap="none" strike="noStrike">
              <a:solidFill>
                <a:schemeClr val="dk1"/>
              </a:solidFill>
              <a:latin typeface="Arial Rounded"/>
              <a:ea typeface="Arial Rounded"/>
              <a:cs typeface="Arial Rounded"/>
              <a:sym typeface="Arial Rounded"/>
            </a:endParaRPr>
          </a:p>
          <a:p>
            <a:pPr indent="-186973" lvl="1" marL="755650" marR="0" rtl="0" algn="l">
              <a:lnSpc>
                <a:spcPct val="100000"/>
              </a:lnSpc>
              <a:spcBef>
                <a:spcPts val="765"/>
              </a:spcBef>
              <a:spcAft>
                <a:spcPts val="0"/>
              </a:spcAft>
              <a:buClr>
                <a:srgbClr val="FF9A00"/>
              </a:buClr>
              <a:buSzPts val="1556"/>
              <a:buFont typeface="Noto Sans Symbols"/>
              <a:buNone/>
            </a:pPr>
            <a:r>
              <a:t/>
            </a:r>
            <a:endParaRPr b="1" i="0" sz="2000" u="none" cap="none" strike="noStrike">
              <a:solidFill>
                <a:schemeClr val="dk1"/>
              </a:solidFill>
              <a:latin typeface="Arial Rounded"/>
              <a:ea typeface="Arial Rounded"/>
              <a:cs typeface="Arial Rounded"/>
              <a:sym typeface="Arial Rounded"/>
            </a:endParaRPr>
          </a:p>
          <a:p>
            <a:pPr indent="-342900" lvl="0" marL="355600" marR="0" rtl="0" algn="l">
              <a:lnSpc>
                <a:spcPct val="100000"/>
              </a:lnSpc>
              <a:spcBef>
                <a:spcPts val="765"/>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Vertical and horizontal fragmentation can be mixed.</a:t>
            </a:r>
            <a:endParaRPr b="1" sz="2000">
              <a:solidFill>
                <a:schemeClr val="dk1"/>
              </a:solidFill>
              <a:latin typeface="Arial Rounded"/>
              <a:ea typeface="Arial Rounded"/>
              <a:cs typeface="Arial Rounded"/>
              <a:sym typeface="Arial Rounded"/>
            </a:endParaRPr>
          </a:p>
          <a:p>
            <a:pPr indent="-285750" lvl="1" marL="755650" marR="0" rtl="0" algn="l">
              <a:lnSpc>
                <a:spcPct val="100000"/>
              </a:lnSpc>
              <a:spcBef>
                <a:spcPts val="765"/>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Fragments may be successively fragmented to an arbitrary depth.</a:t>
            </a:r>
            <a:endParaRPr b="1" i="0" sz="20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1"/>
          <p:cNvSpPr txBox="1"/>
          <p:nvPr/>
        </p:nvSpPr>
        <p:spPr>
          <a:xfrm>
            <a:off x="2391653" y="157469"/>
            <a:ext cx="7440605"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Calibri"/>
              <a:buNone/>
            </a:pPr>
            <a:r>
              <a:rPr b="1" lang="en-US" sz="4400">
                <a:solidFill>
                  <a:schemeClr val="accent2"/>
                </a:solidFill>
                <a:latin typeface="Calibri"/>
                <a:ea typeface="Calibri"/>
                <a:cs typeface="Calibri"/>
                <a:sym typeface="Calibri"/>
              </a:rPr>
              <a:t>Distributed Transactions</a:t>
            </a:r>
            <a:endParaRPr/>
          </a:p>
        </p:txBody>
      </p:sp>
      <p:sp>
        <p:nvSpPr>
          <p:cNvPr id="322" name="Google Shape;322;p11"/>
          <p:cNvSpPr txBox="1"/>
          <p:nvPr/>
        </p:nvSpPr>
        <p:spPr>
          <a:xfrm>
            <a:off x="881379" y="1029208"/>
            <a:ext cx="10730517" cy="5048177"/>
          </a:xfrm>
          <a:prstGeom prst="rect">
            <a:avLst/>
          </a:prstGeom>
          <a:noFill/>
          <a:ln>
            <a:noFill/>
          </a:ln>
        </p:spPr>
        <p:txBody>
          <a:bodyPr anchorCtr="0" anchor="t" bIns="0" lIns="0" spcFirstLastPara="1" rIns="0" wrap="square" tIns="109850">
            <a:spAutoFit/>
          </a:bodyPr>
          <a:lstStyle/>
          <a:p>
            <a:pPr indent="-342900" lvl="0" marL="355600" marR="0" rtl="0" algn="just">
              <a:lnSpc>
                <a:spcPct val="100000"/>
              </a:lnSpc>
              <a:spcBef>
                <a:spcPts val="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Transaction may access data at several sites.</a:t>
            </a:r>
            <a:endParaRPr b="1" sz="2000">
              <a:solidFill>
                <a:schemeClr val="dk1"/>
              </a:solidFill>
              <a:latin typeface="Arial Rounded"/>
              <a:ea typeface="Arial Rounded"/>
              <a:cs typeface="Arial Rounded"/>
              <a:sym typeface="Arial Rounded"/>
            </a:endParaRPr>
          </a:p>
          <a:p>
            <a:pPr indent="-230012" lvl="0" marL="355600" marR="0" rtl="0" algn="just">
              <a:lnSpc>
                <a:spcPct val="100000"/>
              </a:lnSpc>
              <a:spcBef>
                <a:spcPts val="865"/>
              </a:spcBef>
              <a:spcAft>
                <a:spcPts val="0"/>
              </a:spcAft>
              <a:buClr>
                <a:srgbClr val="CC3300"/>
              </a:buClr>
              <a:buSzPts val="1778"/>
              <a:buFont typeface="Noto Sans Symbols"/>
              <a:buNone/>
            </a:pPr>
            <a:r>
              <a:t/>
            </a:r>
            <a:endParaRPr b="1" sz="2000">
              <a:solidFill>
                <a:schemeClr val="dk1"/>
              </a:solidFill>
              <a:latin typeface="Arial Rounded"/>
              <a:ea typeface="Arial Rounded"/>
              <a:cs typeface="Arial Rounded"/>
              <a:sym typeface="Arial Rounded"/>
            </a:endParaRPr>
          </a:p>
          <a:p>
            <a:pPr indent="-342900" lvl="0" marL="355600" marR="0" rtl="0" algn="just">
              <a:lnSpc>
                <a:spcPct val="100000"/>
              </a:lnSpc>
              <a:spcBef>
                <a:spcPts val="77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Each site has a local </a:t>
            </a:r>
            <a:r>
              <a:rPr b="1" lang="en-US" sz="2000">
                <a:solidFill>
                  <a:srgbClr val="CC3300"/>
                </a:solidFill>
                <a:latin typeface="Arial Rounded"/>
                <a:ea typeface="Arial Rounded"/>
                <a:cs typeface="Arial Rounded"/>
                <a:sym typeface="Arial Rounded"/>
              </a:rPr>
              <a:t>transaction manager </a:t>
            </a:r>
            <a:r>
              <a:rPr b="1" lang="en-US" sz="2000">
                <a:solidFill>
                  <a:schemeClr val="dk1"/>
                </a:solidFill>
                <a:latin typeface="Arial Rounded"/>
                <a:ea typeface="Arial Rounded"/>
                <a:cs typeface="Arial Rounded"/>
                <a:sym typeface="Arial Rounded"/>
              </a:rPr>
              <a:t>responsible for:</a:t>
            </a:r>
            <a:endParaRPr b="1" sz="2000">
              <a:solidFill>
                <a:schemeClr val="dk1"/>
              </a:solidFill>
              <a:latin typeface="Arial Rounded"/>
              <a:ea typeface="Arial Rounded"/>
              <a:cs typeface="Arial Rounded"/>
              <a:sym typeface="Arial Rounded"/>
            </a:endParaRPr>
          </a:p>
          <a:p>
            <a:pPr indent="-286385" lvl="1" marL="755650" marR="0" rtl="0" algn="just">
              <a:lnSpc>
                <a:spcPct val="100000"/>
              </a:lnSpc>
              <a:spcBef>
                <a:spcPts val="76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Maintaining a log for recovery purposes</a:t>
            </a:r>
            <a:endParaRPr b="1" i="0" sz="2000" u="none" cap="none" strike="noStrike">
              <a:solidFill>
                <a:schemeClr val="dk1"/>
              </a:solidFill>
              <a:latin typeface="Arial Rounded"/>
              <a:ea typeface="Arial Rounded"/>
              <a:cs typeface="Arial Rounded"/>
              <a:sym typeface="Arial Rounded"/>
            </a:endParaRPr>
          </a:p>
          <a:p>
            <a:pPr indent="-285750" lvl="1" marL="755650" marR="652145" rtl="0" algn="just">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Participating in coordinating the concurrent execution of the  transactions executing at that site.</a:t>
            </a:r>
            <a:endParaRPr b="1" i="0" sz="2000" u="none" cap="none" strike="noStrike">
              <a:solidFill>
                <a:schemeClr val="dk1"/>
              </a:solidFill>
              <a:latin typeface="Arial Rounded"/>
              <a:ea typeface="Arial Rounded"/>
              <a:cs typeface="Arial Rounded"/>
              <a:sym typeface="Arial Rounded"/>
            </a:endParaRPr>
          </a:p>
          <a:p>
            <a:pPr indent="-186973" lvl="1" marL="755650" marR="652145" rtl="0" algn="just">
              <a:lnSpc>
                <a:spcPct val="100000"/>
              </a:lnSpc>
              <a:spcBef>
                <a:spcPts val="770"/>
              </a:spcBef>
              <a:spcAft>
                <a:spcPts val="0"/>
              </a:spcAft>
              <a:buClr>
                <a:srgbClr val="FF9A00"/>
              </a:buClr>
              <a:buSzPts val="1556"/>
              <a:buFont typeface="Noto Sans Symbols"/>
              <a:buNone/>
            </a:pPr>
            <a:r>
              <a:t/>
            </a:r>
            <a:endParaRPr b="1" i="0" sz="2000" u="none" cap="none" strike="noStrike">
              <a:solidFill>
                <a:schemeClr val="dk1"/>
              </a:solidFill>
              <a:latin typeface="Arial Rounded"/>
              <a:ea typeface="Arial Rounded"/>
              <a:cs typeface="Arial Rounded"/>
              <a:sym typeface="Arial Rounded"/>
            </a:endParaRPr>
          </a:p>
          <a:p>
            <a:pPr indent="-342900" lvl="0" marL="355600" marR="0" rtl="0" algn="just">
              <a:lnSpc>
                <a:spcPct val="100000"/>
              </a:lnSpc>
              <a:spcBef>
                <a:spcPts val="77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Each site has a </a:t>
            </a:r>
            <a:r>
              <a:rPr b="1" lang="en-US" sz="2000">
                <a:solidFill>
                  <a:srgbClr val="CC3300"/>
                </a:solidFill>
                <a:latin typeface="Arial Rounded"/>
                <a:ea typeface="Arial Rounded"/>
                <a:cs typeface="Arial Rounded"/>
                <a:sym typeface="Arial Rounded"/>
              </a:rPr>
              <a:t>transaction coordinator, </a:t>
            </a:r>
            <a:r>
              <a:rPr b="1" lang="en-US" sz="2000">
                <a:solidFill>
                  <a:schemeClr val="dk1"/>
                </a:solidFill>
                <a:latin typeface="Arial Rounded"/>
                <a:ea typeface="Arial Rounded"/>
                <a:cs typeface="Arial Rounded"/>
                <a:sym typeface="Arial Rounded"/>
              </a:rPr>
              <a:t>which is responsible for:</a:t>
            </a:r>
            <a:endParaRPr/>
          </a:p>
          <a:p>
            <a:pPr indent="-285750" lvl="1" marL="755650" marR="0" rtl="0" algn="just">
              <a:lnSpc>
                <a:spcPct val="100000"/>
              </a:lnSpc>
              <a:spcBef>
                <a:spcPts val="76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Starting the execution of transactions that originate at the site.</a:t>
            </a:r>
            <a:endParaRPr b="1" i="0" sz="2000" u="none" cap="none" strike="noStrike">
              <a:solidFill>
                <a:schemeClr val="dk1"/>
              </a:solidFill>
              <a:latin typeface="Arial Rounded"/>
              <a:ea typeface="Arial Rounded"/>
              <a:cs typeface="Arial Rounded"/>
              <a:sym typeface="Arial Rounded"/>
            </a:endParaRPr>
          </a:p>
          <a:p>
            <a:pPr indent="-285750" lvl="1" marL="755650" marR="0" rtl="0" algn="just">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Distributing subtransactions at appropriate sites for execution.</a:t>
            </a:r>
            <a:endParaRPr b="1" i="0" sz="2000" u="none" cap="none" strike="noStrike">
              <a:solidFill>
                <a:schemeClr val="dk1"/>
              </a:solidFill>
              <a:latin typeface="Arial Rounded"/>
              <a:ea typeface="Arial Rounded"/>
              <a:cs typeface="Arial Rounded"/>
              <a:sym typeface="Arial Rounded"/>
            </a:endParaRPr>
          </a:p>
          <a:p>
            <a:pPr indent="-285750" lvl="1" marL="755650" marR="5080" rtl="0" algn="just">
              <a:lnSpc>
                <a:spcPct val="100000"/>
              </a:lnSpc>
              <a:spcBef>
                <a:spcPts val="76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Coordinating the termination of each transaction that originates at  the site, which may result in the transaction being committed at all  sites or aborted at all sites.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2"/>
          <p:cNvSpPr txBox="1"/>
          <p:nvPr/>
        </p:nvSpPr>
        <p:spPr>
          <a:xfrm>
            <a:off x="1640026" y="668747"/>
            <a:ext cx="7916929"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Calibri"/>
              <a:buNone/>
            </a:pPr>
            <a:r>
              <a:rPr b="1" lang="en-US" sz="4400">
                <a:solidFill>
                  <a:schemeClr val="accent2"/>
                </a:solidFill>
                <a:latin typeface="Calibri"/>
                <a:ea typeface="Calibri"/>
                <a:cs typeface="Calibri"/>
                <a:sym typeface="Calibri"/>
              </a:rPr>
              <a:t>Transaction System Architecture</a:t>
            </a:r>
            <a:endParaRPr/>
          </a:p>
        </p:txBody>
      </p:sp>
      <p:grpSp>
        <p:nvGrpSpPr>
          <p:cNvPr id="328" name="Google Shape;328;p12"/>
          <p:cNvGrpSpPr/>
          <p:nvPr/>
        </p:nvGrpSpPr>
        <p:grpSpPr>
          <a:xfrm>
            <a:off x="1640026" y="2320691"/>
            <a:ext cx="6957059" cy="3747770"/>
            <a:chOff x="1369060" y="1121155"/>
            <a:chExt cx="6957059" cy="3747770"/>
          </a:xfrm>
        </p:grpSpPr>
        <p:pic>
          <p:nvPicPr>
            <p:cNvPr id="329" name="Google Shape;329;p12"/>
            <p:cNvPicPr preferRelativeResize="0"/>
            <p:nvPr/>
          </p:nvPicPr>
          <p:blipFill rotWithShape="1">
            <a:blip r:embed="rId3">
              <a:alphaModFix/>
            </a:blip>
            <a:srcRect b="0" l="0" r="0" t="0"/>
            <a:stretch/>
          </p:blipFill>
          <p:spPr>
            <a:xfrm>
              <a:off x="1406906" y="1159255"/>
              <a:ext cx="6881621" cy="3671315"/>
            </a:xfrm>
            <a:prstGeom prst="rect">
              <a:avLst/>
            </a:prstGeom>
            <a:noFill/>
            <a:ln>
              <a:noFill/>
            </a:ln>
          </p:spPr>
        </p:pic>
        <p:sp>
          <p:nvSpPr>
            <p:cNvPr id="330" name="Google Shape;330;p12"/>
            <p:cNvSpPr/>
            <p:nvPr/>
          </p:nvSpPr>
          <p:spPr>
            <a:xfrm>
              <a:off x="1369060" y="1121155"/>
              <a:ext cx="6957059" cy="3747770"/>
            </a:xfrm>
            <a:custGeom>
              <a:rect b="b" l="l" r="r" t="t"/>
              <a:pathLst>
                <a:path extrusionOk="0" h="3747770" w="6957059">
                  <a:moveTo>
                    <a:pt x="6932930" y="25146"/>
                  </a:moveTo>
                  <a:lnTo>
                    <a:pt x="6918960" y="25146"/>
                  </a:lnTo>
                  <a:lnTo>
                    <a:pt x="6918960" y="3709416"/>
                  </a:lnTo>
                  <a:lnTo>
                    <a:pt x="38100" y="3709416"/>
                  </a:lnTo>
                  <a:lnTo>
                    <a:pt x="38100" y="38100"/>
                  </a:lnTo>
                  <a:lnTo>
                    <a:pt x="6918947" y="38100"/>
                  </a:lnTo>
                  <a:lnTo>
                    <a:pt x="6918947" y="25146"/>
                  </a:lnTo>
                  <a:lnTo>
                    <a:pt x="38100" y="25146"/>
                  </a:lnTo>
                  <a:lnTo>
                    <a:pt x="25400" y="25146"/>
                  </a:lnTo>
                  <a:lnTo>
                    <a:pt x="25400" y="3722370"/>
                  </a:lnTo>
                  <a:lnTo>
                    <a:pt x="6932930" y="3722370"/>
                  </a:lnTo>
                  <a:lnTo>
                    <a:pt x="6932930" y="25146"/>
                  </a:lnTo>
                  <a:close/>
                </a:path>
                <a:path extrusionOk="0" h="3747770" w="6957059">
                  <a:moveTo>
                    <a:pt x="6957060" y="0"/>
                  </a:moveTo>
                  <a:lnTo>
                    <a:pt x="6944360" y="0"/>
                  </a:lnTo>
                  <a:lnTo>
                    <a:pt x="6944360" y="3734574"/>
                  </a:lnTo>
                  <a:lnTo>
                    <a:pt x="12700" y="3734574"/>
                  </a:lnTo>
                  <a:lnTo>
                    <a:pt x="12700" y="12954"/>
                  </a:lnTo>
                  <a:lnTo>
                    <a:pt x="6944347" y="12954"/>
                  </a:lnTo>
                  <a:lnTo>
                    <a:pt x="6944347" y="0"/>
                  </a:lnTo>
                  <a:lnTo>
                    <a:pt x="12700" y="0"/>
                  </a:lnTo>
                  <a:lnTo>
                    <a:pt x="0" y="0"/>
                  </a:lnTo>
                  <a:lnTo>
                    <a:pt x="0" y="3747516"/>
                  </a:lnTo>
                  <a:lnTo>
                    <a:pt x="12700" y="3747516"/>
                  </a:lnTo>
                  <a:lnTo>
                    <a:pt x="6944360" y="3747516"/>
                  </a:lnTo>
                  <a:lnTo>
                    <a:pt x="6944614" y="3747516"/>
                  </a:lnTo>
                  <a:lnTo>
                    <a:pt x="6957060" y="3747516"/>
                  </a:lnTo>
                  <a:lnTo>
                    <a:pt x="6957060" y="0"/>
                  </a:lnTo>
                  <a:close/>
                </a:path>
              </a:pathLst>
            </a:custGeom>
            <a:solidFill>
              <a:srgbClr val="CC33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3"/>
          <p:cNvSpPr txBox="1"/>
          <p:nvPr/>
        </p:nvSpPr>
        <p:spPr>
          <a:xfrm>
            <a:off x="3032495" y="157469"/>
            <a:ext cx="6298318"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Calibri"/>
              <a:buNone/>
            </a:pPr>
            <a:r>
              <a:rPr b="1" lang="en-US" sz="4400">
                <a:solidFill>
                  <a:schemeClr val="accent2"/>
                </a:solidFill>
                <a:latin typeface="Calibri"/>
                <a:ea typeface="Calibri"/>
                <a:cs typeface="Calibri"/>
                <a:sym typeface="Calibri"/>
              </a:rPr>
              <a:t>Commit Protocols</a:t>
            </a:r>
            <a:endParaRPr/>
          </a:p>
        </p:txBody>
      </p:sp>
      <p:sp>
        <p:nvSpPr>
          <p:cNvPr id="336" name="Google Shape;336;p13"/>
          <p:cNvSpPr txBox="1"/>
          <p:nvPr/>
        </p:nvSpPr>
        <p:spPr>
          <a:xfrm>
            <a:off x="892973" y="1334008"/>
            <a:ext cx="10406053" cy="4009431"/>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Commit protocols are used to ensure atomicity across sites</a:t>
            </a:r>
            <a:endParaRPr/>
          </a:p>
          <a:p>
            <a:pPr indent="-285750" lvl="1" marL="755015" marR="272415" rtl="0" algn="l">
              <a:lnSpc>
                <a:spcPct val="100000"/>
              </a:lnSpc>
              <a:spcBef>
                <a:spcPts val="770"/>
              </a:spcBef>
              <a:spcAft>
                <a:spcPts val="0"/>
              </a:spcAft>
              <a:buClr>
                <a:srgbClr val="FF9A00"/>
              </a:buClr>
              <a:buSzPts val="1711"/>
              <a:buFont typeface="Noto Sans Symbols"/>
              <a:buChar char="●"/>
            </a:pPr>
            <a:r>
              <a:rPr b="1" i="0" lang="en-US" sz="2200" u="none" cap="none" strike="noStrike">
                <a:solidFill>
                  <a:schemeClr val="dk1"/>
                </a:solidFill>
                <a:latin typeface="Arial Rounded"/>
                <a:ea typeface="Arial Rounded"/>
                <a:cs typeface="Arial Rounded"/>
                <a:sym typeface="Arial Rounded"/>
              </a:rPr>
              <a:t>a transaction which executes at multiple sites must either be  committed at all the sites, or aborted at all the sites.</a:t>
            </a:r>
            <a:endParaRPr/>
          </a:p>
          <a:p>
            <a:pPr indent="-285750" lvl="1" marL="755650" marR="5080" rtl="0" algn="l">
              <a:lnSpc>
                <a:spcPct val="100000"/>
              </a:lnSpc>
              <a:spcBef>
                <a:spcPts val="770"/>
              </a:spcBef>
              <a:spcAft>
                <a:spcPts val="0"/>
              </a:spcAft>
              <a:buClr>
                <a:srgbClr val="FF9A00"/>
              </a:buClr>
              <a:buSzPts val="1711"/>
              <a:buFont typeface="Noto Sans Symbols"/>
              <a:buChar char="●"/>
            </a:pPr>
            <a:r>
              <a:rPr b="1" i="0" lang="en-US" sz="2200" u="none" cap="none" strike="noStrike">
                <a:solidFill>
                  <a:schemeClr val="dk1"/>
                </a:solidFill>
                <a:latin typeface="Arial Rounded"/>
                <a:ea typeface="Arial Rounded"/>
                <a:cs typeface="Arial Rounded"/>
                <a:sym typeface="Arial Rounded"/>
              </a:rPr>
              <a:t>not acceptable to have a transaction committed at one site and  aborted at another</a:t>
            </a:r>
            <a:endParaRPr b="1" i="0" sz="2200" u="none" cap="none" strike="noStrike">
              <a:solidFill>
                <a:schemeClr val="dk1"/>
              </a:solidFill>
              <a:latin typeface="Arial Rounded"/>
              <a:ea typeface="Arial Rounded"/>
              <a:cs typeface="Arial Rounded"/>
              <a:sym typeface="Arial Rounded"/>
            </a:endParaRPr>
          </a:p>
          <a:p>
            <a:pPr indent="-177095" lvl="1" marL="755650" marR="5080" rtl="0" algn="l">
              <a:lnSpc>
                <a:spcPct val="100000"/>
              </a:lnSpc>
              <a:spcBef>
                <a:spcPts val="770"/>
              </a:spcBef>
              <a:spcAft>
                <a:spcPts val="0"/>
              </a:spcAft>
              <a:buClr>
                <a:srgbClr val="FF9A00"/>
              </a:buClr>
              <a:buSzPts val="1711"/>
              <a:buFont typeface="Noto Sans Symbols"/>
              <a:buNone/>
            </a:pPr>
            <a:r>
              <a:t/>
            </a:r>
            <a:endParaRPr b="1" i="0" sz="2200" u="none" cap="none" strike="noStrike">
              <a:solidFill>
                <a:schemeClr val="dk1"/>
              </a:solidFill>
              <a:latin typeface="Arial Rounded"/>
              <a:ea typeface="Arial Rounded"/>
              <a:cs typeface="Arial Rounded"/>
              <a:sym typeface="Arial Rounded"/>
            </a:endParaRPr>
          </a:p>
          <a:p>
            <a:pPr indent="-342900" lvl="0" marL="355600" marR="0" rtl="0" algn="l">
              <a:lnSpc>
                <a:spcPct val="100000"/>
              </a:lnSpc>
              <a:spcBef>
                <a:spcPts val="765"/>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The </a:t>
            </a:r>
            <a:r>
              <a:rPr b="1" i="1" lang="en-US" sz="2200">
                <a:solidFill>
                  <a:schemeClr val="dk1"/>
                </a:solidFill>
                <a:latin typeface="Arial Rounded"/>
                <a:ea typeface="Arial Rounded"/>
                <a:cs typeface="Arial Rounded"/>
                <a:sym typeface="Arial Rounded"/>
              </a:rPr>
              <a:t>two-phase commit </a:t>
            </a:r>
            <a:r>
              <a:rPr b="1" lang="en-US" sz="2200">
                <a:solidFill>
                  <a:schemeClr val="dk1"/>
                </a:solidFill>
                <a:latin typeface="Arial Rounded"/>
                <a:ea typeface="Arial Rounded"/>
                <a:cs typeface="Arial Rounded"/>
                <a:sym typeface="Arial Rounded"/>
              </a:rPr>
              <a:t>(2PC) protocol is widely used</a:t>
            </a:r>
            <a:endParaRPr b="1" sz="2200">
              <a:solidFill>
                <a:schemeClr val="dk1"/>
              </a:solidFill>
              <a:latin typeface="Arial Rounded"/>
              <a:ea typeface="Arial Rounded"/>
              <a:cs typeface="Arial Rounded"/>
              <a:sym typeface="Arial Rounded"/>
            </a:endParaRPr>
          </a:p>
          <a:p>
            <a:pPr indent="-342900" lvl="0" marL="355600" marR="26669" rtl="0" algn="l">
              <a:lnSpc>
                <a:spcPct val="100000"/>
              </a:lnSpc>
              <a:spcBef>
                <a:spcPts val="765"/>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The </a:t>
            </a:r>
            <a:r>
              <a:rPr b="1" i="1" lang="en-US" sz="2200">
                <a:solidFill>
                  <a:schemeClr val="dk1"/>
                </a:solidFill>
                <a:latin typeface="Arial Rounded"/>
                <a:ea typeface="Arial Rounded"/>
                <a:cs typeface="Arial Rounded"/>
                <a:sym typeface="Arial Rounded"/>
              </a:rPr>
              <a:t>three-phase commit </a:t>
            </a:r>
            <a:r>
              <a:rPr b="1" lang="en-US" sz="2200">
                <a:solidFill>
                  <a:schemeClr val="dk1"/>
                </a:solidFill>
                <a:latin typeface="Arial Rounded"/>
                <a:ea typeface="Arial Rounded"/>
                <a:cs typeface="Arial Rounded"/>
                <a:sym typeface="Arial Rounded"/>
              </a:rPr>
              <a:t>(3PC) protocol is more complicated and  more expensive, but avoids some drawbacks of two-phase commit  protocol. This protocol is not used in practice.</a:t>
            </a:r>
            <a:endParaRPr b="1" sz="2200">
              <a:solidFill>
                <a:schemeClr val="dk1"/>
              </a:solidFill>
              <a:latin typeface="Arial Rounded"/>
              <a:ea typeface="Arial Rounded"/>
              <a:cs typeface="Arial Rounded"/>
              <a:sym typeface="Arial Rounde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4"/>
          <p:cNvSpPr txBox="1"/>
          <p:nvPr/>
        </p:nvSpPr>
        <p:spPr>
          <a:xfrm>
            <a:off x="1442201" y="157469"/>
            <a:ext cx="9796070"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Arial Rounded"/>
              <a:buNone/>
            </a:pPr>
            <a:r>
              <a:rPr b="1" lang="en-US" sz="4400">
                <a:solidFill>
                  <a:schemeClr val="accent2"/>
                </a:solidFill>
                <a:latin typeface="Arial Rounded"/>
                <a:ea typeface="Arial Rounded"/>
                <a:cs typeface="Arial Rounded"/>
                <a:sym typeface="Arial Rounded"/>
              </a:rPr>
              <a:t>Two Phase Commit Protocol (2PC)</a:t>
            </a:r>
            <a:endParaRPr/>
          </a:p>
        </p:txBody>
      </p:sp>
      <p:sp>
        <p:nvSpPr>
          <p:cNvPr id="342" name="Google Shape;342;p14"/>
          <p:cNvSpPr txBox="1"/>
          <p:nvPr/>
        </p:nvSpPr>
        <p:spPr>
          <a:xfrm>
            <a:off x="817053" y="1431544"/>
            <a:ext cx="10557894" cy="4262705"/>
          </a:xfrm>
          <a:prstGeom prst="rect">
            <a:avLst/>
          </a:prstGeom>
          <a:noFill/>
          <a:ln>
            <a:noFill/>
          </a:ln>
        </p:spPr>
        <p:txBody>
          <a:bodyPr anchorCtr="0" anchor="t" bIns="0" lIns="0" spcFirstLastPara="1" rIns="0" wrap="square" tIns="12700">
            <a:spAutoFit/>
          </a:bodyPr>
          <a:lstStyle/>
          <a:p>
            <a:pPr indent="-342900" lvl="0" marL="381000" marR="42545" rtl="0" algn="l">
              <a:lnSpc>
                <a:spcPct val="100000"/>
              </a:lnSpc>
              <a:spcBef>
                <a:spcPts val="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Assumes </a:t>
            </a:r>
            <a:r>
              <a:rPr b="1" lang="en-US" sz="2200">
                <a:solidFill>
                  <a:srgbClr val="CC3300"/>
                </a:solidFill>
                <a:latin typeface="Arial Rounded"/>
                <a:ea typeface="Arial Rounded"/>
                <a:cs typeface="Arial Rounded"/>
                <a:sym typeface="Arial Rounded"/>
              </a:rPr>
              <a:t>fail-stop </a:t>
            </a:r>
            <a:r>
              <a:rPr b="1" lang="en-US" sz="2200">
                <a:solidFill>
                  <a:schemeClr val="dk1"/>
                </a:solidFill>
                <a:latin typeface="Arial Rounded"/>
                <a:ea typeface="Arial Rounded"/>
                <a:cs typeface="Arial Rounded"/>
                <a:sym typeface="Arial Rounded"/>
              </a:rPr>
              <a:t>model – failed sites simply stop working, and do  not cause any other harm, such as sending incorrect messages to  other sites.</a:t>
            </a:r>
            <a:endParaRPr b="1" sz="2200">
              <a:solidFill>
                <a:schemeClr val="dk1"/>
              </a:solidFill>
              <a:latin typeface="Arial Rounded"/>
              <a:ea typeface="Arial Rounded"/>
              <a:cs typeface="Arial Rounded"/>
              <a:sym typeface="Arial Rounded"/>
            </a:endParaRPr>
          </a:p>
          <a:p>
            <a:pPr indent="-218723" lvl="0" marL="381000" marR="42545" rtl="0" algn="l">
              <a:lnSpc>
                <a:spcPct val="100000"/>
              </a:lnSpc>
              <a:spcBef>
                <a:spcPts val="100"/>
              </a:spcBef>
              <a:spcAft>
                <a:spcPts val="0"/>
              </a:spcAft>
              <a:buClr>
                <a:srgbClr val="CC3300"/>
              </a:buClr>
              <a:buSzPts val="1956"/>
              <a:buFont typeface="Noto Sans Symbols"/>
              <a:buNone/>
            </a:pPr>
            <a:r>
              <a:t/>
            </a:r>
            <a:endParaRPr b="1" sz="2200">
              <a:solidFill>
                <a:schemeClr val="dk1"/>
              </a:solidFill>
              <a:latin typeface="Arial Rounded"/>
              <a:ea typeface="Arial Rounded"/>
              <a:cs typeface="Arial Rounded"/>
              <a:sym typeface="Arial Rounded"/>
            </a:endParaRPr>
          </a:p>
          <a:p>
            <a:pPr indent="-342900" lvl="0" marL="381000" marR="30480" rtl="0" algn="l">
              <a:lnSpc>
                <a:spcPct val="100000"/>
              </a:lnSpc>
              <a:spcBef>
                <a:spcPts val="775"/>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Execution of the protocol is initiated by the coordinator after the last  step of the transaction has been reached.</a:t>
            </a:r>
            <a:endParaRPr b="1" sz="2200">
              <a:solidFill>
                <a:schemeClr val="dk1"/>
              </a:solidFill>
              <a:latin typeface="Arial Rounded"/>
              <a:ea typeface="Arial Rounded"/>
              <a:cs typeface="Arial Rounded"/>
              <a:sym typeface="Arial Rounded"/>
            </a:endParaRPr>
          </a:p>
          <a:p>
            <a:pPr indent="-218723" lvl="0" marL="381000" marR="30480" rtl="0" algn="l">
              <a:lnSpc>
                <a:spcPct val="100000"/>
              </a:lnSpc>
              <a:spcBef>
                <a:spcPts val="775"/>
              </a:spcBef>
              <a:spcAft>
                <a:spcPts val="0"/>
              </a:spcAft>
              <a:buClr>
                <a:srgbClr val="CC3300"/>
              </a:buClr>
              <a:buSzPts val="1956"/>
              <a:buFont typeface="Noto Sans Symbols"/>
              <a:buNone/>
            </a:pPr>
            <a:r>
              <a:t/>
            </a:r>
            <a:endParaRPr b="1" sz="2200">
              <a:solidFill>
                <a:schemeClr val="dk1"/>
              </a:solidFill>
              <a:latin typeface="Arial Rounded"/>
              <a:ea typeface="Arial Rounded"/>
              <a:cs typeface="Arial Rounded"/>
              <a:sym typeface="Arial Rounded"/>
            </a:endParaRPr>
          </a:p>
          <a:p>
            <a:pPr indent="-342900" lvl="0" marL="381000" marR="471805" rtl="0" algn="l">
              <a:lnSpc>
                <a:spcPct val="100000"/>
              </a:lnSpc>
              <a:spcBef>
                <a:spcPts val="765"/>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The protocol involves all the local sites at which the transaction  executed</a:t>
            </a:r>
            <a:endParaRPr b="1" sz="2200">
              <a:solidFill>
                <a:schemeClr val="dk1"/>
              </a:solidFill>
              <a:latin typeface="Arial Rounded"/>
              <a:ea typeface="Arial Rounded"/>
              <a:cs typeface="Arial Rounded"/>
              <a:sym typeface="Arial Rounded"/>
            </a:endParaRPr>
          </a:p>
          <a:p>
            <a:pPr indent="-218723" lvl="0" marL="381000" marR="471805" rtl="0" algn="l">
              <a:lnSpc>
                <a:spcPct val="100000"/>
              </a:lnSpc>
              <a:spcBef>
                <a:spcPts val="765"/>
              </a:spcBef>
              <a:spcAft>
                <a:spcPts val="0"/>
              </a:spcAft>
              <a:buClr>
                <a:srgbClr val="CC3300"/>
              </a:buClr>
              <a:buSzPts val="1956"/>
              <a:buFont typeface="Noto Sans Symbols"/>
              <a:buNone/>
            </a:pPr>
            <a:r>
              <a:t/>
            </a:r>
            <a:endParaRPr b="1" sz="2200">
              <a:solidFill>
                <a:schemeClr val="dk1"/>
              </a:solidFill>
              <a:latin typeface="Arial Rounded"/>
              <a:ea typeface="Arial Rounded"/>
              <a:cs typeface="Arial Rounded"/>
              <a:sym typeface="Arial Rounded"/>
            </a:endParaRPr>
          </a:p>
          <a:p>
            <a:pPr indent="-342900" lvl="0" marL="380365" marR="476884" rtl="0" algn="l">
              <a:lnSpc>
                <a:spcPct val="100000"/>
              </a:lnSpc>
              <a:spcBef>
                <a:spcPts val="76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Let </a:t>
            </a:r>
            <a:r>
              <a:rPr b="1" i="1" lang="en-US" sz="2200">
                <a:solidFill>
                  <a:schemeClr val="dk1"/>
                </a:solidFill>
                <a:latin typeface="Arial Rounded"/>
                <a:ea typeface="Arial Rounded"/>
                <a:cs typeface="Arial Rounded"/>
                <a:sym typeface="Arial Rounded"/>
              </a:rPr>
              <a:t>T </a:t>
            </a:r>
            <a:r>
              <a:rPr b="1" lang="en-US" sz="2200">
                <a:solidFill>
                  <a:schemeClr val="dk1"/>
                </a:solidFill>
                <a:latin typeface="Arial Rounded"/>
                <a:ea typeface="Arial Rounded"/>
                <a:cs typeface="Arial Rounded"/>
                <a:sym typeface="Arial Rounded"/>
              </a:rPr>
              <a:t>be a transaction initiated at site </a:t>
            </a:r>
            <a:r>
              <a:rPr b="1" i="1" lang="en-US" sz="2200">
                <a:solidFill>
                  <a:schemeClr val="dk1"/>
                </a:solidFill>
                <a:latin typeface="Arial Rounded"/>
                <a:ea typeface="Arial Rounded"/>
                <a:cs typeface="Arial Rounded"/>
                <a:sym typeface="Arial Rounded"/>
              </a:rPr>
              <a:t>S</a:t>
            </a:r>
            <a:r>
              <a:rPr b="1" baseline="-25000" i="1" lang="en-US" sz="2200">
                <a:solidFill>
                  <a:schemeClr val="dk1"/>
                </a:solidFill>
                <a:latin typeface="Arial Rounded"/>
                <a:ea typeface="Arial Rounded"/>
                <a:cs typeface="Arial Rounded"/>
                <a:sym typeface="Arial Rounded"/>
              </a:rPr>
              <a:t>i</a:t>
            </a:r>
            <a:r>
              <a:rPr b="1" i="1" lang="en-US" sz="2200">
                <a:solidFill>
                  <a:schemeClr val="dk1"/>
                </a:solidFill>
                <a:latin typeface="Arial Rounded"/>
                <a:ea typeface="Arial Rounded"/>
                <a:cs typeface="Arial Rounded"/>
                <a:sym typeface="Arial Rounded"/>
              </a:rPr>
              <a:t>, </a:t>
            </a:r>
            <a:r>
              <a:rPr b="1" lang="en-US" sz="2200">
                <a:solidFill>
                  <a:schemeClr val="dk1"/>
                </a:solidFill>
                <a:latin typeface="Arial Rounded"/>
                <a:ea typeface="Arial Rounded"/>
                <a:cs typeface="Arial Rounded"/>
                <a:sym typeface="Arial Rounded"/>
              </a:rPr>
              <a:t>and let the transaction  coordinator at </a:t>
            </a:r>
            <a:r>
              <a:rPr b="1" i="1" lang="en-US" sz="2200">
                <a:solidFill>
                  <a:schemeClr val="dk1"/>
                </a:solidFill>
                <a:latin typeface="Arial Rounded"/>
                <a:ea typeface="Arial Rounded"/>
                <a:cs typeface="Arial Rounded"/>
                <a:sym typeface="Arial Rounded"/>
              </a:rPr>
              <a:t>S</a:t>
            </a:r>
            <a:r>
              <a:rPr b="1" baseline="-25000" i="1" lang="en-US" sz="2200">
                <a:solidFill>
                  <a:schemeClr val="dk1"/>
                </a:solidFill>
                <a:latin typeface="Arial Rounded"/>
                <a:ea typeface="Arial Rounded"/>
                <a:cs typeface="Arial Rounded"/>
                <a:sym typeface="Arial Rounded"/>
              </a:rPr>
              <a:t>i </a:t>
            </a:r>
            <a:r>
              <a:rPr b="1" lang="en-US" sz="2200">
                <a:solidFill>
                  <a:schemeClr val="dk1"/>
                </a:solidFill>
                <a:latin typeface="Arial Rounded"/>
                <a:ea typeface="Arial Rounded"/>
                <a:cs typeface="Arial Rounded"/>
                <a:sym typeface="Arial Rounded"/>
              </a:rPr>
              <a:t>be </a:t>
            </a:r>
            <a:r>
              <a:rPr b="1" i="1" lang="en-US" sz="2200">
                <a:solidFill>
                  <a:schemeClr val="dk1"/>
                </a:solidFill>
                <a:latin typeface="Arial Rounded"/>
                <a:ea typeface="Arial Rounded"/>
                <a:cs typeface="Arial Rounded"/>
                <a:sym typeface="Arial Rounded"/>
              </a:rPr>
              <a:t>C</a:t>
            </a:r>
            <a:r>
              <a:rPr b="1" baseline="-25000" i="1" lang="en-US" sz="2200">
                <a:solidFill>
                  <a:schemeClr val="dk1"/>
                </a:solidFill>
                <a:latin typeface="Arial Rounded"/>
                <a:ea typeface="Arial Rounded"/>
                <a:cs typeface="Arial Rounded"/>
                <a:sym typeface="Arial Rounded"/>
              </a:rPr>
              <a:t>i</a:t>
            </a:r>
            <a:endParaRPr b="1" baseline="-25000" sz="2200">
              <a:solidFill>
                <a:schemeClr val="dk1"/>
              </a:solidFill>
              <a:latin typeface="Arial Rounded"/>
              <a:ea typeface="Arial Rounded"/>
              <a:cs typeface="Arial Rounded"/>
              <a:sym typeface="Arial Rounde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5"/>
          <p:cNvSpPr txBox="1"/>
          <p:nvPr/>
        </p:nvSpPr>
        <p:spPr>
          <a:xfrm>
            <a:off x="1872730" y="698243"/>
            <a:ext cx="7959527"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Phase 1: Obtaining a Decision</a:t>
            </a:r>
            <a:endParaRPr/>
          </a:p>
        </p:txBody>
      </p:sp>
      <p:sp>
        <p:nvSpPr>
          <p:cNvPr id="348" name="Google Shape;348;p15"/>
          <p:cNvSpPr txBox="1"/>
          <p:nvPr/>
        </p:nvSpPr>
        <p:spPr>
          <a:xfrm>
            <a:off x="924805" y="1530653"/>
            <a:ext cx="10569105" cy="4419800"/>
          </a:xfrm>
          <a:prstGeom prst="rect">
            <a:avLst/>
          </a:prstGeom>
          <a:noFill/>
          <a:ln>
            <a:noFill/>
          </a:ln>
        </p:spPr>
        <p:txBody>
          <a:bodyPr anchorCtr="0" anchor="t" bIns="0" lIns="0" spcFirstLastPara="1" rIns="0" wrap="square" tIns="109850">
            <a:spAutoFit/>
          </a:bodyPr>
          <a:lstStyle/>
          <a:p>
            <a:pPr indent="-342900" lvl="0" marL="381000" marR="0" rtl="0" algn="l">
              <a:lnSpc>
                <a:spcPct val="100000"/>
              </a:lnSpc>
              <a:spcBef>
                <a:spcPts val="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Coordinator asks all participants to </a:t>
            </a:r>
            <a:r>
              <a:rPr b="1" i="1" lang="en-US" sz="2000">
                <a:solidFill>
                  <a:srgbClr val="CC3300"/>
                </a:solidFill>
                <a:latin typeface="Arial Rounded"/>
                <a:ea typeface="Arial Rounded"/>
                <a:cs typeface="Arial Rounded"/>
                <a:sym typeface="Arial Rounded"/>
              </a:rPr>
              <a:t>prepare </a:t>
            </a:r>
            <a:r>
              <a:rPr b="1" lang="en-US" sz="2000">
                <a:solidFill>
                  <a:schemeClr val="dk1"/>
                </a:solidFill>
                <a:latin typeface="Arial Rounded"/>
                <a:ea typeface="Arial Rounded"/>
                <a:cs typeface="Arial Rounded"/>
                <a:sym typeface="Arial Rounded"/>
              </a:rPr>
              <a:t>to commit transaction </a:t>
            </a:r>
            <a:r>
              <a:rPr b="1" i="1" lang="en-US" sz="2000">
                <a:solidFill>
                  <a:schemeClr val="dk1"/>
                </a:solidFill>
                <a:latin typeface="Arial Rounded"/>
                <a:ea typeface="Arial Rounded"/>
                <a:cs typeface="Arial Rounded"/>
                <a:sym typeface="Arial Rounded"/>
              </a:rPr>
              <a:t>T</a:t>
            </a:r>
            <a:r>
              <a:rPr b="1" baseline="-25000" i="1" lang="en-US" sz="2000">
                <a:solidFill>
                  <a:schemeClr val="dk1"/>
                </a:solidFill>
                <a:latin typeface="Arial Rounded"/>
                <a:ea typeface="Arial Rounded"/>
                <a:cs typeface="Arial Rounded"/>
                <a:sym typeface="Arial Rounded"/>
              </a:rPr>
              <a:t>i</a:t>
            </a:r>
            <a:r>
              <a:rPr b="1" lang="en-US" sz="2000">
                <a:solidFill>
                  <a:schemeClr val="dk1"/>
                </a:solidFill>
                <a:latin typeface="Arial Rounded"/>
                <a:ea typeface="Arial Rounded"/>
                <a:cs typeface="Arial Rounded"/>
                <a:sym typeface="Arial Rounded"/>
              </a:rPr>
              <a:t>.</a:t>
            </a:r>
            <a:endParaRPr b="1" sz="2000">
              <a:solidFill>
                <a:schemeClr val="dk1"/>
              </a:solidFill>
              <a:latin typeface="Arial Rounded"/>
              <a:ea typeface="Arial Rounded"/>
              <a:cs typeface="Arial Rounded"/>
              <a:sym typeface="Arial Rounded"/>
            </a:endParaRPr>
          </a:p>
          <a:p>
            <a:pPr indent="-285750" lvl="1" marL="780415" marR="492759"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C</a:t>
            </a:r>
            <a:r>
              <a:rPr b="1" baseline="-25000" i="0" lang="en-US" sz="2000" u="none" cap="none" strike="noStrike">
                <a:solidFill>
                  <a:schemeClr val="dk1"/>
                </a:solidFill>
                <a:latin typeface="Arial Rounded"/>
                <a:ea typeface="Arial Rounded"/>
                <a:cs typeface="Arial Rounded"/>
                <a:sym typeface="Arial Rounded"/>
              </a:rPr>
              <a:t>i </a:t>
            </a:r>
            <a:r>
              <a:rPr b="1" i="0" lang="en-US" sz="2000" u="none" cap="none" strike="noStrike">
                <a:solidFill>
                  <a:schemeClr val="dk1"/>
                </a:solidFill>
                <a:latin typeface="Arial Rounded"/>
                <a:ea typeface="Arial Rounded"/>
                <a:cs typeface="Arial Rounded"/>
                <a:sym typeface="Arial Rounded"/>
              </a:rPr>
              <a:t>adds the records &lt;prepare </a:t>
            </a:r>
            <a:r>
              <a:rPr b="1" i="1" lang="en-US" sz="2000" u="none" cap="none" strike="noStrike">
                <a:solidFill>
                  <a:schemeClr val="dk1"/>
                </a:solidFill>
                <a:latin typeface="Arial Rounded"/>
                <a:ea typeface="Arial Rounded"/>
                <a:cs typeface="Arial Rounded"/>
                <a:sym typeface="Arial Rounded"/>
              </a:rPr>
              <a:t>T</a:t>
            </a:r>
            <a:r>
              <a:rPr b="1" i="0" lang="en-US" sz="2000" u="none" cap="none" strike="noStrike">
                <a:solidFill>
                  <a:schemeClr val="dk1"/>
                </a:solidFill>
                <a:latin typeface="Arial Rounded"/>
                <a:ea typeface="Arial Rounded"/>
                <a:cs typeface="Arial Rounded"/>
                <a:sym typeface="Arial Rounded"/>
              </a:rPr>
              <a:t>&gt; to the log and forces log to  stable storage</a:t>
            </a:r>
            <a:endParaRPr b="1" i="0" sz="2000" u="none" cap="none" strike="noStrike">
              <a:solidFill>
                <a:schemeClr val="dk1"/>
              </a:solidFill>
              <a:latin typeface="Arial Rounded"/>
              <a:ea typeface="Arial Rounded"/>
              <a:cs typeface="Arial Rounded"/>
              <a:sym typeface="Arial Rounded"/>
            </a:endParaRPr>
          </a:p>
          <a:p>
            <a:pPr indent="-286385" lvl="1" marL="781050" marR="0"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sends prepare </a:t>
            </a:r>
            <a:r>
              <a:rPr b="1" i="1" lang="en-US" sz="2000" u="none" cap="none" strike="noStrike">
                <a:solidFill>
                  <a:schemeClr val="dk1"/>
                </a:solidFill>
                <a:latin typeface="Arial Rounded"/>
                <a:ea typeface="Arial Rounded"/>
                <a:cs typeface="Arial Rounded"/>
                <a:sym typeface="Arial Rounded"/>
              </a:rPr>
              <a:t>T </a:t>
            </a:r>
            <a:r>
              <a:rPr b="1" i="0" lang="en-US" sz="2000" u="none" cap="none" strike="noStrike">
                <a:solidFill>
                  <a:schemeClr val="dk1"/>
                </a:solidFill>
                <a:latin typeface="Arial Rounded"/>
                <a:ea typeface="Arial Rounded"/>
                <a:cs typeface="Arial Rounded"/>
                <a:sym typeface="Arial Rounded"/>
              </a:rPr>
              <a:t>messages to all sites at which </a:t>
            </a:r>
            <a:r>
              <a:rPr b="1" i="1" lang="en-US" sz="2000" u="none" cap="none" strike="noStrike">
                <a:solidFill>
                  <a:schemeClr val="dk1"/>
                </a:solidFill>
                <a:latin typeface="Arial Rounded"/>
                <a:ea typeface="Arial Rounded"/>
                <a:cs typeface="Arial Rounded"/>
                <a:sym typeface="Arial Rounded"/>
              </a:rPr>
              <a:t>T </a:t>
            </a:r>
            <a:r>
              <a:rPr b="1" i="0" lang="en-US" sz="2000" u="none" cap="none" strike="noStrike">
                <a:solidFill>
                  <a:schemeClr val="dk1"/>
                </a:solidFill>
                <a:latin typeface="Arial Rounded"/>
                <a:ea typeface="Arial Rounded"/>
                <a:cs typeface="Arial Rounded"/>
                <a:sym typeface="Arial Rounded"/>
              </a:rPr>
              <a:t>executed</a:t>
            </a:r>
            <a:endParaRPr b="1" i="0" sz="2000" u="none" cap="none" strike="noStrike">
              <a:solidFill>
                <a:schemeClr val="dk1"/>
              </a:solidFill>
              <a:latin typeface="Arial Rounded"/>
              <a:ea typeface="Arial Rounded"/>
              <a:cs typeface="Arial Rounded"/>
              <a:sym typeface="Arial Rounded"/>
            </a:endParaRPr>
          </a:p>
          <a:p>
            <a:pPr indent="-187608" lvl="1" marL="781050" marR="0" rtl="0" algn="l">
              <a:lnSpc>
                <a:spcPct val="100000"/>
              </a:lnSpc>
              <a:spcBef>
                <a:spcPts val="770"/>
              </a:spcBef>
              <a:spcAft>
                <a:spcPts val="0"/>
              </a:spcAft>
              <a:buClr>
                <a:srgbClr val="FF9A00"/>
              </a:buClr>
              <a:buSzPts val="1556"/>
              <a:buFont typeface="Noto Sans Symbols"/>
              <a:buNone/>
            </a:pPr>
            <a:r>
              <a:t/>
            </a:r>
            <a:endParaRPr b="1" i="0" sz="2000" u="none" cap="none" strike="noStrike">
              <a:solidFill>
                <a:schemeClr val="dk1"/>
              </a:solidFill>
              <a:latin typeface="Arial Rounded"/>
              <a:ea typeface="Arial Rounded"/>
              <a:cs typeface="Arial Rounded"/>
              <a:sym typeface="Arial Rounded"/>
            </a:endParaRPr>
          </a:p>
          <a:p>
            <a:pPr indent="-342900" lvl="0" marL="381000" marR="38735" rtl="0" algn="l">
              <a:lnSpc>
                <a:spcPct val="100000"/>
              </a:lnSpc>
              <a:spcBef>
                <a:spcPts val="76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Upon receiving message, transaction manager at site determines if it  can commit the transaction</a:t>
            </a:r>
            <a:endParaRPr b="1" sz="2000">
              <a:solidFill>
                <a:schemeClr val="dk1"/>
              </a:solidFill>
              <a:latin typeface="Arial Rounded"/>
              <a:ea typeface="Arial Rounded"/>
              <a:cs typeface="Arial Rounded"/>
              <a:sym typeface="Arial Rounded"/>
            </a:endParaRPr>
          </a:p>
          <a:p>
            <a:pPr indent="-286385" lvl="1" marL="781050" marR="30480"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if not, add a record &lt;no </a:t>
            </a:r>
            <a:r>
              <a:rPr b="1" i="1" lang="en-US" sz="2000" u="none" cap="none" strike="noStrike">
                <a:solidFill>
                  <a:schemeClr val="dk1"/>
                </a:solidFill>
                <a:latin typeface="Arial Rounded"/>
                <a:ea typeface="Arial Rounded"/>
                <a:cs typeface="Arial Rounded"/>
                <a:sym typeface="Arial Rounded"/>
              </a:rPr>
              <a:t>T</a:t>
            </a:r>
            <a:r>
              <a:rPr b="1" i="0" lang="en-US" sz="2000" u="none" cap="none" strike="noStrike">
                <a:solidFill>
                  <a:schemeClr val="dk1"/>
                </a:solidFill>
                <a:latin typeface="Arial Rounded"/>
                <a:ea typeface="Arial Rounded"/>
                <a:cs typeface="Arial Rounded"/>
                <a:sym typeface="Arial Rounded"/>
              </a:rPr>
              <a:t>&gt; to the log and send abort </a:t>
            </a:r>
            <a:r>
              <a:rPr b="1" i="1" lang="en-US" sz="2000" u="none" cap="none" strike="noStrike">
                <a:solidFill>
                  <a:schemeClr val="dk1"/>
                </a:solidFill>
                <a:latin typeface="Arial Rounded"/>
                <a:ea typeface="Arial Rounded"/>
                <a:cs typeface="Arial Rounded"/>
                <a:sym typeface="Arial Rounded"/>
              </a:rPr>
              <a:t>T </a:t>
            </a:r>
            <a:r>
              <a:rPr b="1" i="0" lang="en-US" sz="2000" u="none" cap="none" strike="noStrike">
                <a:solidFill>
                  <a:schemeClr val="dk1"/>
                </a:solidFill>
                <a:latin typeface="Arial Rounded"/>
                <a:ea typeface="Arial Rounded"/>
                <a:cs typeface="Arial Rounded"/>
                <a:sym typeface="Arial Rounded"/>
              </a:rPr>
              <a:t>message  to </a:t>
            </a:r>
            <a:r>
              <a:rPr b="1" i="1" lang="en-US" sz="2000" u="none" cap="none" strike="noStrike">
                <a:solidFill>
                  <a:schemeClr val="dk1"/>
                </a:solidFill>
                <a:latin typeface="Arial Rounded"/>
                <a:ea typeface="Arial Rounded"/>
                <a:cs typeface="Arial Rounded"/>
                <a:sym typeface="Arial Rounded"/>
              </a:rPr>
              <a:t>C</a:t>
            </a:r>
            <a:r>
              <a:rPr b="1" baseline="-25000" i="1" lang="en-US" sz="2000" u="none" cap="none" strike="noStrike">
                <a:solidFill>
                  <a:schemeClr val="dk1"/>
                </a:solidFill>
                <a:latin typeface="Arial Rounded"/>
                <a:ea typeface="Arial Rounded"/>
                <a:cs typeface="Arial Rounded"/>
                <a:sym typeface="Arial Rounded"/>
              </a:rPr>
              <a:t>i</a:t>
            </a:r>
            <a:endParaRPr b="1" baseline="-25000" i="0" sz="2000" u="none" cap="none" strike="noStrike">
              <a:solidFill>
                <a:schemeClr val="dk1"/>
              </a:solidFill>
              <a:latin typeface="Arial Rounded"/>
              <a:ea typeface="Arial Rounded"/>
              <a:cs typeface="Arial Rounded"/>
              <a:sym typeface="Arial Rounded"/>
            </a:endParaRPr>
          </a:p>
          <a:p>
            <a:pPr indent="-285750" lvl="1" marL="781050" marR="0" rtl="0" algn="l">
              <a:lnSpc>
                <a:spcPct val="100000"/>
              </a:lnSpc>
              <a:spcBef>
                <a:spcPts val="765"/>
              </a:spcBef>
              <a:spcAft>
                <a:spcPts val="0"/>
              </a:spcAft>
              <a:buClr>
                <a:srgbClr val="FF9A00"/>
              </a:buClr>
              <a:buSzPts val="1667"/>
              <a:buFont typeface="Noto Sans Symbols"/>
              <a:buChar char="●"/>
            </a:pPr>
            <a:r>
              <a:rPr b="1" i="0" lang="en-US" sz="2000" u="none" cap="none" strike="noStrike">
                <a:solidFill>
                  <a:schemeClr val="dk1"/>
                </a:solidFill>
                <a:latin typeface="Arial Rounded"/>
                <a:ea typeface="Arial Rounded"/>
                <a:cs typeface="Arial Rounded"/>
                <a:sym typeface="Arial Rounded"/>
              </a:rPr>
              <a:t>if the transaction can be committed, then:</a:t>
            </a:r>
            <a:endParaRPr/>
          </a:p>
          <a:p>
            <a:pPr indent="-285750" lvl="1" marL="781050" marR="0" rtl="0" algn="l">
              <a:lnSpc>
                <a:spcPct val="100000"/>
              </a:lnSpc>
              <a:spcBef>
                <a:spcPts val="770"/>
              </a:spcBef>
              <a:spcAft>
                <a:spcPts val="0"/>
              </a:spcAft>
              <a:buClr>
                <a:srgbClr val="FF9A00"/>
              </a:buClr>
              <a:buSzPts val="1667"/>
              <a:buFont typeface="Noto Sans Symbols"/>
              <a:buChar char="●"/>
            </a:pPr>
            <a:r>
              <a:rPr b="1" i="0" lang="en-US" sz="2000" u="none" cap="none" strike="noStrike">
                <a:solidFill>
                  <a:schemeClr val="dk1"/>
                </a:solidFill>
                <a:latin typeface="Arial Rounded"/>
                <a:ea typeface="Arial Rounded"/>
                <a:cs typeface="Arial Rounded"/>
                <a:sym typeface="Arial Rounded"/>
              </a:rPr>
              <a:t>add the record &lt;ready </a:t>
            </a:r>
            <a:r>
              <a:rPr b="1" i="1" lang="en-US" sz="2000" u="none" cap="none" strike="noStrike">
                <a:solidFill>
                  <a:schemeClr val="dk1"/>
                </a:solidFill>
                <a:latin typeface="Arial Rounded"/>
                <a:ea typeface="Arial Rounded"/>
                <a:cs typeface="Arial Rounded"/>
                <a:sym typeface="Arial Rounded"/>
              </a:rPr>
              <a:t>T</a:t>
            </a:r>
            <a:r>
              <a:rPr b="1" i="0" lang="en-US" sz="2000" u="none" cap="none" strike="noStrike">
                <a:solidFill>
                  <a:schemeClr val="dk1"/>
                </a:solidFill>
                <a:latin typeface="Arial Rounded"/>
                <a:ea typeface="Arial Rounded"/>
                <a:cs typeface="Arial Rounded"/>
                <a:sym typeface="Arial Rounded"/>
              </a:rPr>
              <a:t>&gt; to the log</a:t>
            </a:r>
            <a:endParaRPr b="1" i="0" sz="2000" u="none" cap="none" strike="noStrike">
              <a:solidFill>
                <a:schemeClr val="dk1"/>
              </a:solidFill>
              <a:latin typeface="Arial Rounded"/>
              <a:ea typeface="Arial Rounded"/>
              <a:cs typeface="Arial Rounded"/>
              <a:sym typeface="Arial Rounded"/>
            </a:endParaRPr>
          </a:p>
          <a:p>
            <a:pPr indent="-285750" lvl="1" marL="781050" marR="0" rtl="0" algn="l">
              <a:lnSpc>
                <a:spcPct val="100000"/>
              </a:lnSpc>
              <a:spcBef>
                <a:spcPts val="760"/>
              </a:spcBef>
              <a:spcAft>
                <a:spcPts val="0"/>
              </a:spcAft>
              <a:buClr>
                <a:srgbClr val="FF9A00"/>
              </a:buClr>
              <a:buSzPts val="1667"/>
              <a:buFont typeface="Noto Sans Symbols"/>
              <a:buChar char="●"/>
            </a:pPr>
            <a:r>
              <a:rPr b="1" i="0" lang="en-US" sz="2000" u="none" cap="none" strike="noStrike">
                <a:solidFill>
                  <a:schemeClr val="dk1"/>
                </a:solidFill>
                <a:latin typeface="Arial Rounded"/>
                <a:ea typeface="Arial Rounded"/>
                <a:cs typeface="Arial Rounded"/>
                <a:sym typeface="Arial Rounded"/>
              </a:rPr>
              <a:t>force </a:t>
            </a:r>
            <a:r>
              <a:rPr b="1" i="1" lang="en-US" sz="2000" u="none" cap="none" strike="noStrike">
                <a:solidFill>
                  <a:schemeClr val="dk1"/>
                </a:solidFill>
                <a:latin typeface="Arial Rounded"/>
                <a:ea typeface="Arial Rounded"/>
                <a:cs typeface="Arial Rounded"/>
                <a:sym typeface="Arial Rounded"/>
              </a:rPr>
              <a:t>all records </a:t>
            </a:r>
            <a:r>
              <a:rPr b="1" i="0" lang="en-US" sz="2000" u="none" cap="none" strike="noStrike">
                <a:solidFill>
                  <a:schemeClr val="dk1"/>
                </a:solidFill>
                <a:latin typeface="Arial Rounded"/>
                <a:ea typeface="Arial Rounded"/>
                <a:cs typeface="Arial Rounded"/>
                <a:sym typeface="Arial Rounded"/>
              </a:rPr>
              <a:t>for </a:t>
            </a:r>
            <a:r>
              <a:rPr b="1" i="1" lang="en-US" sz="2000" u="none" cap="none" strike="noStrike">
                <a:solidFill>
                  <a:schemeClr val="dk1"/>
                </a:solidFill>
                <a:latin typeface="Arial Rounded"/>
                <a:ea typeface="Arial Rounded"/>
                <a:cs typeface="Arial Rounded"/>
                <a:sym typeface="Arial Rounded"/>
              </a:rPr>
              <a:t>T </a:t>
            </a:r>
            <a:r>
              <a:rPr b="1" i="0" lang="en-US" sz="2000" u="none" cap="none" strike="noStrike">
                <a:solidFill>
                  <a:schemeClr val="dk1"/>
                </a:solidFill>
                <a:latin typeface="Arial Rounded"/>
                <a:ea typeface="Arial Rounded"/>
                <a:cs typeface="Arial Rounded"/>
                <a:sym typeface="Arial Rounded"/>
              </a:rPr>
              <a:t>to stable storage</a:t>
            </a:r>
            <a:endParaRPr b="1" i="0" sz="2000" u="none" cap="none" strike="noStrike">
              <a:solidFill>
                <a:schemeClr val="dk1"/>
              </a:solidFill>
              <a:latin typeface="Arial Rounded"/>
              <a:ea typeface="Arial Rounded"/>
              <a:cs typeface="Arial Rounded"/>
              <a:sym typeface="Arial Rounded"/>
            </a:endParaRPr>
          </a:p>
          <a:p>
            <a:pPr indent="-285750" lvl="1" marL="781050" marR="0" rtl="0" algn="l">
              <a:lnSpc>
                <a:spcPct val="100000"/>
              </a:lnSpc>
              <a:spcBef>
                <a:spcPts val="770"/>
              </a:spcBef>
              <a:spcAft>
                <a:spcPts val="0"/>
              </a:spcAft>
              <a:buClr>
                <a:srgbClr val="FF9A00"/>
              </a:buClr>
              <a:buSzPts val="1667"/>
              <a:buFont typeface="Noto Sans Symbols"/>
              <a:buChar char="●"/>
            </a:pPr>
            <a:r>
              <a:rPr b="1" i="0" lang="en-US" sz="2000" u="none" cap="none" strike="noStrike">
                <a:solidFill>
                  <a:schemeClr val="dk1"/>
                </a:solidFill>
                <a:latin typeface="Arial Rounded"/>
                <a:ea typeface="Arial Rounded"/>
                <a:cs typeface="Arial Rounded"/>
                <a:sym typeface="Arial Rounded"/>
              </a:rPr>
              <a:t>send ready </a:t>
            </a:r>
            <a:r>
              <a:rPr b="1" i="1" lang="en-US" sz="2000" u="none" cap="none" strike="noStrike">
                <a:solidFill>
                  <a:schemeClr val="dk1"/>
                </a:solidFill>
                <a:latin typeface="Arial Rounded"/>
                <a:ea typeface="Arial Rounded"/>
                <a:cs typeface="Arial Rounded"/>
                <a:sym typeface="Arial Rounded"/>
              </a:rPr>
              <a:t>T </a:t>
            </a:r>
            <a:r>
              <a:rPr b="1" i="0" lang="en-US" sz="2000" u="none" cap="none" strike="noStrike">
                <a:solidFill>
                  <a:schemeClr val="dk1"/>
                </a:solidFill>
                <a:latin typeface="Arial Rounded"/>
                <a:ea typeface="Arial Rounded"/>
                <a:cs typeface="Arial Rounded"/>
                <a:sym typeface="Arial Rounded"/>
              </a:rPr>
              <a:t>message to C</a:t>
            </a:r>
            <a:r>
              <a:rPr b="1" baseline="-25000" i="1" lang="en-US" sz="2000" u="none" cap="none" strike="noStrike">
                <a:solidFill>
                  <a:schemeClr val="dk1"/>
                </a:solidFill>
                <a:latin typeface="Arial Rounded"/>
                <a:ea typeface="Arial Rounded"/>
                <a:cs typeface="Arial Rounded"/>
                <a:sym typeface="Arial Rounded"/>
              </a:rPr>
              <a:t>i</a:t>
            </a:r>
            <a:endParaRPr b="1" baseline="-25000" i="0" sz="20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6"/>
          <p:cNvSpPr txBox="1"/>
          <p:nvPr/>
        </p:nvSpPr>
        <p:spPr>
          <a:xfrm>
            <a:off x="1624318" y="157469"/>
            <a:ext cx="8365255"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Phase 2: Recording the Decision</a:t>
            </a:r>
            <a:endParaRPr sz="4400">
              <a:solidFill>
                <a:schemeClr val="dk1"/>
              </a:solidFill>
              <a:latin typeface="Calibri"/>
              <a:ea typeface="Calibri"/>
              <a:cs typeface="Calibri"/>
              <a:sym typeface="Calibri"/>
            </a:endParaRPr>
          </a:p>
        </p:txBody>
      </p:sp>
      <p:sp>
        <p:nvSpPr>
          <p:cNvPr id="354" name="Google Shape;354;p16"/>
          <p:cNvSpPr txBox="1"/>
          <p:nvPr/>
        </p:nvSpPr>
        <p:spPr>
          <a:xfrm>
            <a:off x="811580" y="1586427"/>
            <a:ext cx="10568839" cy="3416320"/>
          </a:xfrm>
          <a:prstGeom prst="rect">
            <a:avLst/>
          </a:prstGeom>
          <a:noFill/>
          <a:ln>
            <a:noFill/>
          </a:ln>
        </p:spPr>
        <p:txBody>
          <a:bodyPr anchorCtr="0" anchor="t" bIns="0" lIns="0" spcFirstLastPara="1" rIns="0" wrap="square" tIns="12700">
            <a:spAutoFit/>
          </a:bodyPr>
          <a:lstStyle/>
          <a:p>
            <a:pPr indent="-343535" lvl="0" marL="429894" marR="365125" rtl="0" algn="l">
              <a:lnSpc>
                <a:spcPct val="100000"/>
              </a:lnSpc>
              <a:spcBef>
                <a:spcPts val="0"/>
              </a:spcBef>
              <a:spcAft>
                <a:spcPts val="0"/>
              </a:spcAft>
              <a:buClr>
                <a:srgbClr val="CC3300"/>
              </a:buClr>
              <a:buSzPts val="1956"/>
              <a:buFont typeface="Noto Sans Symbols"/>
              <a:buChar char="■"/>
            </a:pPr>
            <a:r>
              <a:rPr b="1" i="1" lang="en-US" sz="2200">
                <a:solidFill>
                  <a:schemeClr val="dk1"/>
                </a:solidFill>
                <a:latin typeface="Arial Rounded"/>
                <a:ea typeface="Arial Rounded"/>
                <a:cs typeface="Arial Rounded"/>
                <a:sym typeface="Arial Rounded"/>
              </a:rPr>
              <a:t>T </a:t>
            </a:r>
            <a:r>
              <a:rPr b="1" lang="en-US" sz="2200">
                <a:solidFill>
                  <a:schemeClr val="dk1"/>
                </a:solidFill>
                <a:latin typeface="Arial Rounded"/>
                <a:ea typeface="Arial Rounded"/>
                <a:cs typeface="Arial Rounded"/>
                <a:sym typeface="Arial Rounded"/>
              </a:rPr>
              <a:t>can be committed of </a:t>
            </a:r>
            <a:r>
              <a:rPr b="1" i="1" lang="en-US" sz="2200">
                <a:solidFill>
                  <a:schemeClr val="dk1"/>
                </a:solidFill>
                <a:latin typeface="Arial Rounded"/>
                <a:ea typeface="Arial Rounded"/>
                <a:cs typeface="Arial Rounded"/>
                <a:sym typeface="Arial Rounded"/>
              </a:rPr>
              <a:t>C</a:t>
            </a:r>
            <a:r>
              <a:rPr b="1" baseline="-25000" i="1" lang="en-US" sz="2200">
                <a:solidFill>
                  <a:schemeClr val="dk1"/>
                </a:solidFill>
                <a:latin typeface="Arial Rounded"/>
                <a:ea typeface="Arial Rounded"/>
                <a:cs typeface="Arial Rounded"/>
                <a:sym typeface="Arial Rounded"/>
              </a:rPr>
              <a:t>i  </a:t>
            </a:r>
            <a:r>
              <a:rPr b="1" i="1" lang="en-US" sz="2200">
                <a:solidFill>
                  <a:schemeClr val="dk1"/>
                </a:solidFill>
                <a:latin typeface="Arial Rounded"/>
                <a:ea typeface="Arial Rounded"/>
                <a:cs typeface="Arial Rounded"/>
                <a:sym typeface="Arial Rounded"/>
              </a:rPr>
              <a:t> </a:t>
            </a:r>
            <a:r>
              <a:rPr b="1" lang="en-US" sz="2200">
                <a:solidFill>
                  <a:schemeClr val="dk1"/>
                </a:solidFill>
                <a:latin typeface="Arial Rounded"/>
                <a:ea typeface="Arial Rounded"/>
                <a:cs typeface="Arial Rounded"/>
                <a:sym typeface="Arial Rounded"/>
              </a:rPr>
              <a:t>received a ready </a:t>
            </a:r>
            <a:r>
              <a:rPr b="1" i="1" lang="en-US" sz="2200">
                <a:solidFill>
                  <a:schemeClr val="dk1"/>
                </a:solidFill>
                <a:latin typeface="Arial Rounded"/>
                <a:ea typeface="Arial Rounded"/>
                <a:cs typeface="Arial Rounded"/>
                <a:sym typeface="Arial Rounded"/>
              </a:rPr>
              <a:t>T </a:t>
            </a:r>
            <a:r>
              <a:rPr b="1" lang="en-US" sz="2200">
                <a:solidFill>
                  <a:schemeClr val="dk1"/>
                </a:solidFill>
                <a:latin typeface="Arial Rounded"/>
                <a:ea typeface="Arial Rounded"/>
                <a:cs typeface="Arial Rounded"/>
                <a:sym typeface="Arial Rounded"/>
              </a:rPr>
              <a:t>message from all the  participating sites: otherwise </a:t>
            </a:r>
            <a:r>
              <a:rPr b="1" i="1" lang="en-US" sz="2200">
                <a:solidFill>
                  <a:schemeClr val="dk1"/>
                </a:solidFill>
                <a:latin typeface="Arial Rounded"/>
                <a:ea typeface="Arial Rounded"/>
                <a:cs typeface="Arial Rounded"/>
                <a:sym typeface="Arial Rounded"/>
              </a:rPr>
              <a:t>T </a:t>
            </a:r>
            <a:r>
              <a:rPr b="1" lang="en-US" sz="2200">
                <a:solidFill>
                  <a:schemeClr val="dk1"/>
                </a:solidFill>
                <a:latin typeface="Arial Rounded"/>
                <a:ea typeface="Arial Rounded"/>
                <a:cs typeface="Arial Rounded"/>
                <a:sym typeface="Arial Rounded"/>
              </a:rPr>
              <a:t>must be aborted.</a:t>
            </a:r>
            <a:endParaRPr b="1" sz="2200">
              <a:solidFill>
                <a:schemeClr val="dk1"/>
              </a:solidFill>
              <a:latin typeface="Arial Rounded"/>
              <a:ea typeface="Arial Rounded"/>
              <a:cs typeface="Arial Rounded"/>
              <a:sym typeface="Arial Rounded"/>
            </a:endParaRPr>
          </a:p>
          <a:p>
            <a:pPr indent="-219358" lvl="0" marL="429894" marR="365125" rtl="0" algn="l">
              <a:lnSpc>
                <a:spcPct val="100000"/>
              </a:lnSpc>
              <a:spcBef>
                <a:spcPts val="100"/>
              </a:spcBef>
              <a:spcAft>
                <a:spcPts val="0"/>
              </a:spcAft>
              <a:buClr>
                <a:srgbClr val="CC3300"/>
              </a:buClr>
              <a:buSzPts val="1956"/>
              <a:buFont typeface="Noto Sans Symbols"/>
              <a:buNone/>
            </a:pPr>
            <a:r>
              <a:t/>
            </a:r>
            <a:endParaRPr b="1" baseline="-25000" i="1" sz="2200">
              <a:solidFill>
                <a:schemeClr val="dk1"/>
              </a:solidFill>
              <a:latin typeface="Arial Rounded"/>
              <a:ea typeface="Arial Rounded"/>
              <a:cs typeface="Arial Rounded"/>
              <a:sym typeface="Arial Rounded"/>
            </a:endParaRPr>
          </a:p>
          <a:p>
            <a:pPr indent="-219358" lvl="0" marL="429894" marR="365125" rtl="0" algn="l">
              <a:lnSpc>
                <a:spcPct val="100000"/>
              </a:lnSpc>
              <a:spcBef>
                <a:spcPts val="100"/>
              </a:spcBef>
              <a:spcAft>
                <a:spcPts val="0"/>
              </a:spcAft>
              <a:buClr>
                <a:srgbClr val="CC3300"/>
              </a:buClr>
              <a:buSzPts val="1956"/>
              <a:buFont typeface="Noto Sans Symbols"/>
              <a:buNone/>
            </a:pPr>
            <a:r>
              <a:t/>
            </a:r>
            <a:endParaRPr b="1" baseline="-25000" i="1" sz="2200">
              <a:solidFill>
                <a:schemeClr val="dk1"/>
              </a:solidFill>
              <a:latin typeface="Arial Rounded"/>
              <a:ea typeface="Arial Rounded"/>
              <a:cs typeface="Arial Rounded"/>
              <a:sym typeface="Arial Rounded"/>
            </a:endParaRPr>
          </a:p>
          <a:p>
            <a:pPr indent="-343535" lvl="0" marL="429894" marR="365125" rtl="0" algn="l">
              <a:lnSpc>
                <a:spcPct val="100000"/>
              </a:lnSpc>
              <a:spcBef>
                <a:spcPts val="10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Coordinator adds a decision record, &lt;commit </a:t>
            </a:r>
            <a:r>
              <a:rPr b="1" i="1" lang="en-US" sz="2200">
                <a:solidFill>
                  <a:schemeClr val="dk1"/>
                </a:solidFill>
                <a:latin typeface="Arial Rounded"/>
                <a:ea typeface="Arial Rounded"/>
                <a:cs typeface="Arial Rounded"/>
                <a:sym typeface="Arial Rounded"/>
              </a:rPr>
              <a:t>T</a:t>
            </a:r>
            <a:r>
              <a:rPr b="1" lang="en-US" sz="2200">
                <a:solidFill>
                  <a:schemeClr val="dk1"/>
                </a:solidFill>
                <a:latin typeface="Arial Rounded"/>
                <a:ea typeface="Arial Rounded"/>
                <a:cs typeface="Arial Rounded"/>
                <a:sym typeface="Arial Rounded"/>
              </a:rPr>
              <a:t>&gt; or &lt;abort </a:t>
            </a:r>
            <a:r>
              <a:rPr b="1" i="1" lang="en-US" sz="2200">
                <a:solidFill>
                  <a:schemeClr val="dk1"/>
                </a:solidFill>
                <a:latin typeface="Arial Rounded"/>
                <a:ea typeface="Arial Rounded"/>
                <a:cs typeface="Arial Rounded"/>
                <a:sym typeface="Arial Rounded"/>
              </a:rPr>
              <a:t>T</a:t>
            </a:r>
            <a:r>
              <a:rPr b="1" lang="en-US" sz="2200">
                <a:solidFill>
                  <a:schemeClr val="dk1"/>
                </a:solidFill>
                <a:latin typeface="Arial Rounded"/>
                <a:ea typeface="Arial Rounded"/>
                <a:cs typeface="Arial Rounded"/>
                <a:sym typeface="Arial Rounded"/>
              </a:rPr>
              <a:t>&gt;, to the  log and forces record onto stable storage. Once the record stable  storage it is irrevocable (even if failures occur)</a:t>
            </a:r>
            <a:endParaRPr/>
          </a:p>
          <a:p>
            <a:pPr indent="-342900" lvl="0" marL="429894" marR="273050" rtl="0" algn="l">
              <a:lnSpc>
                <a:spcPct val="100000"/>
              </a:lnSpc>
              <a:spcBef>
                <a:spcPts val="775"/>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Coordinator sends a message to each participant informing it of the  decision (commit or abort)</a:t>
            </a:r>
            <a:endParaRPr/>
          </a:p>
          <a:p>
            <a:pPr indent="-342900" lvl="0" marL="429894" marR="0" rtl="0" algn="l">
              <a:lnSpc>
                <a:spcPct val="100000"/>
              </a:lnSpc>
              <a:spcBef>
                <a:spcPts val="76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Participants take appropriate action locally.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17"/>
          <p:cNvPicPr preferRelativeResize="0"/>
          <p:nvPr>
            <p:ph idx="1" type="body"/>
          </p:nvPr>
        </p:nvPicPr>
        <p:blipFill rotWithShape="1">
          <a:blip r:embed="rId3">
            <a:alphaModFix/>
          </a:blip>
          <a:srcRect b="0" l="0" r="0" t="0"/>
          <a:stretch/>
        </p:blipFill>
        <p:spPr>
          <a:xfrm>
            <a:off x="1311910" y="153035"/>
            <a:ext cx="9740900" cy="65519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65" name="Google Shape;365;p18"/>
          <p:cNvPicPr preferRelativeResize="0"/>
          <p:nvPr>
            <p:ph idx="1" type="body"/>
          </p:nvPr>
        </p:nvPicPr>
        <p:blipFill rotWithShape="1">
          <a:blip r:embed="rId3">
            <a:alphaModFix/>
          </a:blip>
          <a:srcRect b="0" l="0" r="0" t="0"/>
          <a:stretch/>
        </p:blipFill>
        <p:spPr>
          <a:xfrm>
            <a:off x="580104" y="145456"/>
            <a:ext cx="10670192" cy="64877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1" name="Google Shape;371;p19"/>
          <p:cNvPicPr preferRelativeResize="0"/>
          <p:nvPr>
            <p:ph idx="1" type="body"/>
          </p:nvPr>
        </p:nvPicPr>
        <p:blipFill rotWithShape="1">
          <a:blip r:embed="rId3">
            <a:alphaModFix/>
          </a:blip>
          <a:srcRect b="0" l="0" r="0" t="0"/>
          <a:stretch/>
        </p:blipFill>
        <p:spPr>
          <a:xfrm>
            <a:off x="838200" y="181610"/>
            <a:ext cx="10407650" cy="649795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7" name="Google Shape;377;p20"/>
          <p:cNvPicPr preferRelativeResize="0"/>
          <p:nvPr>
            <p:ph idx="1" type="body"/>
          </p:nvPr>
        </p:nvPicPr>
        <p:blipFill rotWithShape="1">
          <a:blip r:embed="rId3">
            <a:alphaModFix/>
          </a:blip>
          <a:srcRect b="0" l="0" r="0" t="0"/>
          <a:stretch/>
        </p:blipFill>
        <p:spPr>
          <a:xfrm>
            <a:off x="838200" y="151765"/>
            <a:ext cx="10515600" cy="647319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1"/>
          <p:cNvSpPr txBox="1"/>
          <p:nvPr>
            <p:ph type="title"/>
          </p:nvPr>
        </p:nvSpPr>
        <p:spPr>
          <a:xfrm>
            <a:off x="902970" y="20415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Two Phase Commit (2PC) protocol aborts the transaction, if any of the participating sites are not ready for a commit.</a:t>
            </a:r>
            <a:br>
              <a:rPr lang="en-US"/>
            </a:br>
            <a:br>
              <a:rPr lang="en-US"/>
            </a:br>
            <a:r>
              <a:rPr lang="en-US"/>
              <a:t>Following are the steps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88" name="Google Shape;388;p22"/>
          <p:cNvPicPr preferRelativeResize="0"/>
          <p:nvPr>
            <p:ph idx="1" type="body"/>
          </p:nvPr>
        </p:nvPicPr>
        <p:blipFill rotWithShape="1">
          <a:blip r:embed="rId3">
            <a:alphaModFix/>
          </a:blip>
          <a:srcRect b="0" l="0" r="0" t="0"/>
          <a:stretch/>
        </p:blipFill>
        <p:spPr>
          <a:xfrm>
            <a:off x="838200" y="188595"/>
            <a:ext cx="10113010" cy="644017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4" name="Google Shape;394;p23"/>
          <p:cNvPicPr preferRelativeResize="0"/>
          <p:nvPr>
            <p:ph idx="1" type="body"/>
          </p:nvPr>
        </p:nvPicPr>
        <p:blipFill rotWithShape="1">
          <a:blip r:embed="rId3">
            <a:alphaModFix/>
          </a:blip>
          <a:srcRect b="0" l="0" r="0" t="0"/>
          <a:stretch/>
        </p:blipFill>
        <p:spPr>
          <a:xfrm>
            <a:off x="838200" y="149225"/>
            <a:ext cx="10515600" cy="655066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00" name="Google Shape;400;p24"/>
          <p:cNvPicPr preferRelativeResize="0"/>
          <p:nvPr>
            <p:ph idx="1" type="body"/>
          </p:nvPr>
        </p:nvPicPr>
        <p:blipFill rotWithShape="1">
          <a:blip r:embed="rId3">
            <a:alphaModFix/>
          </a:blip>
          <a:srcRect b="0" l="0" r="0" t="0"/>
          <a:stretch/>
        </p:blipFill>
        <p:spPr>
          <a:xfrm>
            <a:off x="838200" y="198755"/>
            <a:ext cx="10515600" cy="640588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06" name="Google Shape;406;p25"/>
          <p:cNvPicPr preferRelativeResize="0"/>
          <p:nvPr>
            <p:ph idx="1" type="body"/>
          </p:nvPr>
        </p:nvPicPr>
        <p:blipFill rotWithShape="1">
          <a:blip r:embed="rId3">
            <a:alphaModFix/>
          </a:blip>
          <a:srcRect b="0" l="0" r="0" t="0"/>
          <a:stretch/>
        </p:blipFill>
        <p:spPr>
          <a:xfrm>
            <a:off x="838200" y="159385"/>
            <a:ext cx="10515600" cy="649986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does 2PC protocol handles failures in distributed database?</a:t>
            </a:r>
            <a:endParaRPr/>
          </a:p>
        </p:txBody>
      </p:sp>
      <p:sp>
        <p:nvSpPr>
          <p:cNvPr id="412" name="Google Shape;412;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Failure of a participating site</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Failure of a coordinator</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Network partition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Failure of a participating site</a:t>
            </a:r>
            <a:endParaRPr/>
          </a:p>
        </p:txBody>
      </p:sp>
      <p:sp>
        <p:nvSpPr>
          <p:cNvPr id="418" name="Google Shape;418;p27"/>
          <p:cNvSpPr txBox="1"/>
          <p:nvPr>
            <p:ph idx="1" type="body"/>
          </p:nvPr>
        </p:nvSpPr>
        <p:spPr>
          <a:xfrm>
            <a:off x="838200" y="1825625"/>
            <a:ext cx="10515600" cy="49085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two things we need to look into to handle such failure:-</a:t>
            </a:r>
            <a:endParaRPr/>
          </a:p>
          <a:p>
            <a:pPr indent="0" lvl="0" marL="0" rtl="0" algn="l">
              <a:lnSpc>
                <a:spcPct val="90000"/>
              </a:lnSpc>
              <a:spcBef>
                <a:spcPts val="1000"/>
              </a:spcBef>
              <a:spcAft>
                <a:spcPts val="0"/>
              </a:spcAft>
              <a:buClr>
                <a:schemeClr val="dk1"/>
              </a:buClr>
              <a:buSzPts val="2800"/>
              <a:buNone/>
            </a:pPr>
            <a:r>
              <a:rPr lang="en-US"/>
              <a:t>1. The response of the Transaction Coordinator of transaction T.</a:t>
            </a:r>
            <a:endParaRPr/>
          </a:p>
          <a:p>
            <a:pPr indent="0" lvl="0" marL="0" rtl="0" algn="l">
              <a:lnSpc>
                <a:spcPct val="90000"/>
              </a:lnSpc>
              <a:spcBef>
                <a:spcPts val="1000"/>
              </a:spcBef>
              <a:spcAft>
                <a:spcPts val="0"/>
              </a:spcAft>
              <a:buClr>
                <a:schemeClr val="dk1"/>
              </a:buClr>
              <a:buSzPts val="2800"/>
              <a:buNone/>
            </a:pPr>
            <a:r>
              <a:rPr lang="en-US"/>
              <a:t>If the failed site have not sent any &lt;ready T&gt; message, the TC cannot decide to commit the transaction. Hence, the transaction T should be aborted and other participating sites to be informed.</a:t>
            </a:r>
            <a:endParaRPr/>
          </a:p>
          <a:p>
            <a:pPr indent="0" lvl="0" marL="0" rtl="0" algn="l">
              <a:lnSpc>
                <a:spcPct val="90000"/>
              </a:lnSpc>
              <a:spcBef>
                <a:spcPts val="1000"/>
              </a:spcBef>
              <a:spcAft>
                <a:spcPts val="0"/>
              </a:spcAft>
              <a:buClr>
                <a:schemeClr val="dk1"/>
              </a:buClr>
              <a:buSzPts val="2800"/>
              <a:buNone/>
            </a:pPr>
            <a:r>
              <a:rPr lang="en-US"/>
              <a:t>          If the failed site have sent a &lt;ready T&gt; message, the TC can assume that the failed site also was ready to commit, hence the transaction can be committed by TC and the other sites will be informed to commit. In this case, the site which recovers from failure has to execute the 2PC protocol to set its local database up-to-date.</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Failure of a participating site</a:t>
            </a:r>
            <a:endParaRPr/>
          </a:p>
        </p:txBody>
      </p:sp>
      <p:sp>
        <p:nvSpPr>
          <p:cNvPr id="424" name="Google Shape;424;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2. The response of the failed site when it recovers.</a:t>
            </a:r>
            <a:endParaRPr/>
          </a:p>
          <a:p>
            <a:pPr indent="0" lvl="0" marL="0" rtl="0" algn="l">
              <a:lnSpc>
                <a:spcPct val="90000"/>
              </a:lnSpc>
              <a:spcBef>
                <a:spcPts val="1000"/>
              </a:spcBef>
              <a:spcAft>
                <a:spcPts val="0"/>
              </a:spcAft>
              <a:buClr>
                <a:schemeClr val="dk1"/>
              </a:buClr>
              <a:buSzPts val="2800"/>
              <a:buNone/>
            </a:pPr>
            <a:r>
              <a:rPr lang="en-US"/>
              <a:t>The recovering site Si must identify the fate of the transactions which were going on during the failure of Si. This can be done by examining the log file entries of site Si.</a:t>
            </a:r>
            <a:endParaRPr/>
          </a:p>
          <a:p>
            <a:pPr indent="0" lvl="0" marL="0" rtl="0" algn="l">
              <a:lnSpc>
                <a:spcPct val="90000"/>
              </a:lnSpc>
              <a:spcBef>
                <a:spcPts val="1000"/>
              </a:spcBef>
              <a:spcAft>
                <a:spcPts val="0"/>
              </a:spcAft>
              <a:buClr>
                <a:schemeClr val="dk1"/>
              </a:buClr>
              <a:buSzPts val="2800"/>
              <a:buNone/>
            </a:pPr>
            <a:r>
              <a:rPr lang="en-US"/>
              <a:t>The following are the possible cases and relevant actions:-</a:t>
            </a:r>
            <a:endParaRPr/>
          </a:p>
          <a:p>
            <a:pPr indent="0" lvl="0" marL="0" rtl="0" algn="l">
              <a:lnSpc>
                <a:spcPct val="90000"/>
              </a:lnSpc>
              <a:spcBef>
                <a:spcPts val="1000"/>
              </a:spcBef>
              <a:spcAft>
                <a:spcPts val="0"/>
              </a:spcAft>
              <a:buClr>
                <a:schemeClr val="dk1"/>
              </a:buClr>
              <a:buSzPts val="2800"/>
              <a:buNone/>
            </a:pPr>
            <a:r>
              <a:rPr lang="en-US"/>
              <a:t>A) If the log contains a &lt;commit T&gt; entry - It means that all the other sites including Si have responded with &lt;ready T&gt; message to TC and TC must have send &lt;commit T&gt; to all the participants. Because, the participating sites are not allowed to insert &lt;commit T&gt; message in the log file without the coordinator’s decision. Hence, the recovered site Si can perform redo(T). That is, T is executed once again locally by Si.</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9"/>
          <p:cNvSpPr txBox="1"/>
          <p:nvPr>
            <p:ph type="title"/>
          </p:nvPr>
        </p:nvSpPr>
        <p:spPr>
          <a:xfrm>
            <a:off x="838200" y="1397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Failure of a participating site</a:t>
            </a:r>
            <a:endParaRPr/>
          </a:p>
        </p:txBody>
      </p:sp>
      <p:sp>
        <p:nvSpPr>
          <p:cNvPr id="430" name="Google Shape;430;p29"/>
          <p:cNvSpPr txBox="1"/>
          <p:nvPr>
            <p:ph idx="1" type="body"/>
          </p:nvPr>
        </p:nvSpPr>
        <p:spPr>
          <a:xfrm>
            <a:off x="420370" y="1283335"/>
            <a:ext cx="11395075" cy="536130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B) If the log contains an &lt;abort T&gt; entry – Any site can have &lt;abort T&gt; message in its entry, if the decision taken by the coordinator TC is to abort the transaction T. Hence, site Si executes undo(T).</a:t>
            </a:r>
            <a:endParaRPr/>
          </a:p>
          <a:p>
            <a:pPr indent="0" lvl="0" marL="0" rtl="0" algn="l">
              <a:lnSpc>
                <a:spcPct val="90000"/>
              </a:lnSpc>
              <a:spcBef>
                <a:spcPts val="1000"/>
              </a:spcBef>
              <a:spcAft>
                <a:spcPts val="0"/>
              </a:spcAft>
              <a:buClr>
                <a:schemeClr val="dk1"/>
              </a:buClr>
              <a:buSzPts val="2000"/>
              <a:buNone/>
            </a:pPr>
            <a:r>
              <a:rPr lang="en-US" sz="2000"/>
              <a:t>C)  If the log contains a &lt;ready T&gt; entry – This means that the site Si failed immediately after sending its own status on transaction T. Now, it has contact the TC or other sites for deciding the fate of the transaction T.</a:t>
            </a:r>
            <a:endParaRPr/>
          </a:p>
          <a:p>
            <a:pPr indent="0" lvl="0" marL="0" rtl="0" algn="l">
              <a:lnSpc>
                <a:spcPct val="90000"/>
              </a:lnSpc>
              <a:spcBef>
                <a:spcPts val="1000"/>
              </a:spcBef>
              <a:spcAft>
                <a:spcPts val="0"/>
              </a:spcAft>
              <a:buClr>
                <a:schemeClr val="dk1"/>
              </a:buClr>
              <a:buSzPts val="2000"/>
              <a:buNone/>
            </a:pPr>
            <a:r>
              <a:rPr lang="en-US" sz="2000"/>
              <a:t>          The first choice is to contact the TC of transaction T. If the TC have an entry &lt;commit T&gt;, then according to the above discussions, it is clear that the Si have to perform redo(T). If the TC have an entry &lt;abort T&gt;, then Si performs undo(T).</a:t>
            </a:r>
            <a:endParaRPr/>
          </a:p>
          <a:p>
            <a:pPr indent="0" lvl="0" marL="0" rtl="0" algn="l">
              <a:lnSpc>
                <a:spcPct val="90000"/>
              </a:lnSpc>
              <a:spcBef>
                <a:spcPts val="1000"/>
              </a:spcBef>
              <a:spcAft>
                <a:spcPts val="0"/>
              </a:spcAft>
              <a:buClr>
                <a:schemeClr val="dk1"/>
              </a:buClr>
              <a:buSzPts val="2000"/>
              <a:buNone/>
            </a:pPr>
            <a:r>
              <a:rPr lang="en-US" sz="2000"/>
              <a:t>          The second choice is to contact the other sites which have participated in transaction T (this choice is chosen only if TC is not available). Then the decision can be taken based on the other sites’ log entries.</a:t>
            </a:r>
            <a:endParaRPr/>
          </a:p>
          <a:p>
            <a:pPr indent="0" lvl="0" marL="0" rtl="0" algn="l">
              <a:lnSpc>
                <a:spcPct val="90000"/>
              </a:lnSpc>
              <a:spcBef>
                <a:spcPts val="1000"/>
              </a:spcBef>
              <a:spcAft>
                <a:spcPts val="0"/>
              </a:spcAft>
              <a:buClr>
                <a:schemeClr val="dk1"/>
              </a:buClr>
              <a:buSzPts val="2000"/>
              <a:buNone/>
            </a:pPr>
            <a:r>
              <a:rPr lang="en-US" sz="2000"/>
              <a:t>D) If the log contains no control messages, i.e, no &lt;abort T&gt;, &lt;commit T&gt;, or &lt;ready T&gt; - It clearly shows that the site Si has failed well before responding to the &lt;prepare T&gt; message. Hence, the TC must have aborted the transaction. So, Si needs to execute a undo(T).</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lang="en-US" sz="2000"/>
              <a:t>This is how the 2PC handles the failure of a participating Site.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0"/>
          <p:cNvSpPr txBox="1"/>
          <p:nvPr>
            <p:ph type="title"/>
          </p:nvPr>
        </p:nvSpPr>
        <p:spPr>
          <a:xfrm>
            <a:off x="1557262" y="69364"/>
            <a:ext cx="8589627" cy="689291"/>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chemeClr val="accent2"/>
              </a:buClr>
              <a:buSzPts val="4400"/>
              <a:buFont typeface="Calibri"/>
              <a:buNone/>
            </a:pPr>
            <a:r>
              <a:rPr b="1" lang="en-US">
                <a:solidFill>
                  <a:schemeClr val="accent2"/>
                </a:solidFill>
              </a:rPr>
              <a:t>Handling of Failures - Site Failure</a:t>
            </a:r>
            <a:endParaRPr/>
          </a:p>
        </p:txBody>
      </p:sp>
      <p:sp>
        <p:nvSpPr>
          <p:cNvPr id="436" name="Google Shape;436;p30"/>
          <p:cNvSpPr txBox="1"/>
          <p:nvPr/>
        </p:nvSpPr>
        <p:spPr>
          <a:xfrm>
            <a:off x="710854" y="1116780"/>
            <a:ext cx="11205843" cy="4944174"/>
          </a:xfrm>
          <a:prstGeom prst="rect">
            <a:avLst/>
          </a:prstGeom>
          <a:noFill/>
          <a:ln>
            <a:noFill/>
          </a:ln>
        </p:spPr>
        <p:txBody>
          <a:bodyPr anchorCtr="0" anchor="t" bIns="0" lIns="0" spcFirstLastPara="1" rIns="0" wrap="square" tIns="12700">
            <a:spAutoFit/>
          </a:bodyPr>
          <a:lstStyle/>
          <a:p>
            <a:pPr indent="-634" lvl="0" marL="38100" marR="848994" rtl="0" algn="l">
              <a:lnSpc>
                <a:spcPct val="135600"/>
              </a:lnSpc>
              <a:spcBef>
                <a:spcPts val="0"/>
              </a:spcBef>
              <a:spcAft>
                <a:spcPts val="0"/>
              </a:spcAft>
              <a:buNone/>
            </a:pPr>
            <a:r>
              <a:rPr b="1" lang="en-US" sz="2100">
                <a:solidFill>
                  <a:schemeClr val="dk1"/>
                </a:solidFill>
                <a:latin typeface="Arial Rounded"/>
                <a:ea typeface="Arial Rounded"/>
                <a:cs typeface="Arial Rounded"/>
                <a:sym typeface="Arial Rounded"/>
              </a:rPr>
              <a:t>When site </a:t>
            </a:r>
            <a:r>
              <a:rPr b="1" i="1" lang="en-US" sz="2100">
                <a:solidFill>
                  <a:schemeClr val="dk1"/>
                </a:solidFill>
                <a:latin typeface="Arial Rounded"/>
                <a:ea typeface="Arial Rounded"/>
                <a:cs typeface="Arial Rounded"/>
                <a:sym typeface="Arial Rounded"/>
              </a:rPr>
              <a:t>S</a:t>
            </a:r>
            <a:r>
              <a:rPr b="1" baseline="-25000" i="1" lang="en-US" sz="2100">
                <a:solidFill>
                  <a:schemeClr val="dk1"/>
                </a:solidFill>
                <a:latin typeface="Arial Rounded"/>
                <a:ea typeface="Arial Rounded"/>
                <a:cs typeface="Arial Rounded"/>
                <a:sym typeface="Arial Rounded"/>
              </a:rPr>
              <a:t>i </a:t>
            </a:r>
            <a:r>
              <a:rPr b="1" lang="en-US" sz="2100">
                <a:solidFill>
                  <a:schemeClr val="dk1"/>
                </a:solidFill>
                <a:latin typeface="Arial Rounded"/>
                <a:ea typeface="Arial Rounded"/>
                <a:cs typeface="Arial Rounded"/>
                <a:sym typeface="Arial Rounded"/>
              </a:rPr>
              <a:t>recovers, it examines its log to determine the fate of  transactions active at the time of the failure.</a:t>
            </a:r>
            <a:endParaRPr b="1" sz="2100">
              <a:solidFill>
                <a:schemeClr val="dk1"/>
              </a:solidFill>
              <a:latin typeface="Arial Rounded"/>
              <a:ea typeface="Arial Rounded"/>
              <a:cs typeface="Arial Rounded"/>
              <a:sym typeface="Arial Rounded"/>
            </a:endParaRPr>
          </a:p>
          <a:p>
            <a:pPr indent="-342900" lvl="0" marL="381000" marR="0" rtl="0" algn="l">
              <a:lnSpc>
                <a:spcPct val="100000"/>
              </a:lnSpc>
              <a:spcBef>
                <a:spcPts val="76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Log contain &lt;commit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&gt; record: site executes redo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a:t>
            </a:r>
            <a:endParaRPr b="1" sz="2100">
              <a:solidFill>
                <a:schemeClr val="dk1"/>
              </a:solidFill>
              <a:latin typeface="Arial Rounded"/>
              <a:ea typeface="Arial Rounded"/>
              <a:cs typeface="Arial Rounded"/>
              <a:sym typeface="Arial Rounded"/>
            </a:endParaRPr>
          </a:p>
          <a:p>
            <a:pPr indent="-342900" lvl="0" marL="381000" marR="0" rtl="0" algn="l">
              <a:lnSpc>
                <a:spcPct val="100000"/>
              </a:lnSpc>
              <a:spcBef>
                <a:spcPts val="77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Log contains &lt;abort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&gt; record: site executes undo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a:t>
            </a:r>
            <a:endParaRPr b="1" sz="2100">
              <a:solidFill>
                <a:schemeClr val="dk1"/>
              </a:solidFill>
              <a:latin typeface="Arial Rounded"/>
              <a:ea typeface="Arial Rounded"/>
              <a:cs typeface="Arial Rounded"/>
              <a:sym typeface="Arial Rounded"/>
            </a:endParaRPr>
          </a:p>
          <a:p>
            <a:pPr indent="-342900" lvl="0" marL="381000" marR="112395" rtl="0" algn="l">
              <a:lnSpc>
                <a:spcPct val="100000"/>
              </a:lnSpc>
              <a:spcBef>
                <a:spcPts val="76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Log contains &lt;ready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&gt; record: site must consult C</a:t>
            </a:r>
            <a:r>
              <a:rPr b="1" baseline="-25000" i="1" lang="en-US" sz="2100">
                <a:solidFill>
                  <a:schemeClr val="dk1"/>
                </a:solidFill>
                <a:latin typeface="Arial Rounded"/>
                <a:ea typeface="Arial Rounded"/>
                <a:cs typeface="Arial Rounded"/>
                <a:sym typeface="Arial Rounded"/>
              </a:rPr>
              <a:t>i </a:t>
            </a:r>
            <a:r>
              <a:rPr b="1" lang="en-US" sz="2100">
                <a:solidFill>
                  <a:schemeClr val="dk1"/>
                </a:solidFill>
                <a:latin typeface="Arial Rounded"/>
                <a:ea typeface="Arial Rounded"/>
                <a:cs typeface="Arial Rounded"/>
                <a:sym typeface="Arial Rounded"/>
              </a:rPr>
              <a:t>to determine the  fate of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a:t>
            </a:r>
            <a:endParaRPr b="1" sz="2100">
              <a:solidFill>
                <a:schemeClr val="dk1"/>
              </a:solidFill>
              <a:latin typeface="Arial Rounded"/>
              <a:ea typeface="Arial Rounded"/>
              <a:cs typeface="Arial Rounded"/>
              <a:sym typeface="Arial Rounded"/>
            </a:endParaRPr>
          </a:p>
          <a:p>
            <a:pPr indent="-285750" lvl="1" marL="781050" marR="0" rtl="0" algn="l">
              <a:lnSpc>
                <a:spcPct val="100000"/>
              </a:lnSpc>
              <a:spcBef>
                <a:spcPts val="770"/>
              </a:spcBef>
              <a:spcAft>
                <a:spcPts val="0"/>
              </a:spcAft>
              <a:buClr>
                <a:srgbClr val="FF9A00"/>
              </a:buClr>
              <a:buSzPts val="1633"/>
              <a:buFont typeface="Noto Sans Symbols"/>
              <a:buChar char="●"/>
            </a:pPr>
            <a:r>
              <a:rPr b="1" i="0" lang="en-US" sz="2100" u="none" cap="none" strike="noStrike">
                <a:solidFill>
                  <a:schemeClr val="dk1"/>
                </a:solidFill>
                <a:latin typeface="Arial Rounded"/>
                <a:ea typeface="Arial Rounded"/>
                <a:cs typeface="Arial Rounded"/>
                <a:sym typeface="Arial Rounded"/>
              </a:rPr>
              <a:t>If </a:t>
            </a:r>
            <a:r>
              <a:rPr b="1" i="1" lang="en-US" sz="2100" u="none" cap="none" strike="noStrike">
                <a:solidFill>
                  <a:schemeClr val="dk1"/>
                </a:solidFill>
                <a:latin typeface="Arial Rounded"/>
                <a:ea typeface="Arial Rounded"/>
                <a:cs typeface="Arial Rounded"/>
                <a:sym typeface="Arial Rounded"/>
              </a:rPr>
              <a:t>T </a:t>
            </a:r>
            <a:r>
              <a:rPr b="1" i="0" lang="en-US" sz="2100" u="none" cap="none" strike="noStrike">
                <a:solidFill>
                  <a:schemeClr val="dk1"/>
                </a:solidFill>
                <a:latin typeface="Arial Rounded"/>
                <a:ea typeface="Arial Rounded"/>
                <a:cs typeface="Arial Rounded"/>
                <a:sym typeface="Arial Rounded"/>
              </a:rPr>
              <a:t>committed, redo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a:t>
            </a:r>
            <a:endParaRPr b="1" i="0" sz="2100" u="none" cap="none" strike="noStrike">
              <a:solidFill>
                <a:schemeClr val="dk1"/>
              </a:solidFill>
              <a:latin typeface="Arial Rounded"/>
              <a:ea typeface="Arial Rounded"/>
              <a:cs typeface="Arial Rounded"/>
              <a:sym typeface="Arial Rounded"/>
            </a:endParaRPr>
          </a:p>
          <a:p>
            <a:pPr indent="-285750" lvl="1" marL="781050" marR="0" rtl="0" algn="l">
              <a:lnSpc>
                <a:spcPct val="100000"/>
              </a:lnSpc>
              <a:spcBef>
                <a:spcPts val="765"/>
              </a:spcBef>
              <a:spcAft>
                <a:spcPts val="0"/>
              </a:spcAft>
              <a:buClr>
                <a:srgbClr val="FF9A00"/>
              </a:buClr>
              <a:buSzPts val="1633"/>
              <a:buFont typeface="Noto Sans Symbols"/>
              <a:buChar char="●"/>
            </a:pPr>
            <a:r>
              <a:rPr b="1" i="0" lang="en-US" sz="2100" u="none" cap="none" strike="noStrike">
                <a:solidFill>
                  <a:schemeClr val="dk1"/>
                </a:solidFill>
                <a:latin typeface="Arial Rounded"/>
                <a:ea typeface="Arial Rounded"/>
                <a:cs typeface="Arial Rounded"/>
                <a:sym typeface="Arial Rounded"/>
              </a:rPr>
              <a:t>If </a:t>
            </a:r>
            <a:r>
              <a:rPr b="1" i="1" lang="en-US" sz="2100" u="none" cap="none" strike="noStrike">
                <a:solidFill>
                  <a:schemeClr val="dk1"/>
                </a:solidFill>
                <a:latin typeface="Arial Rounded"/>
                <a:ea typeface="Arial Rounded"/>
                <a:cs typeface="Arial Rounded"/>
                <a:sym typeface="Arial Rounded"/>
              </a:rPr>
              <a:t>T </a:t>
            </a:r>
            <a:r>
              <a:rPr b="1" i="0" lang="en-US" sz="2100" u="none" cap="none" strike="noStrike">
                <a:solidFill>
                  <a:schemeClr val="dk1"/>
                </a:solidFill>
                <a:latin typeface="Arial Rounded"/>
                <a:ea typeface="Arial Rounded"/>
                <a:cs typeface="Arial Rounded"/>
                <a:sym typeface="Arial Rounded"/>
              </a:rPr>
              <a:t>aborted, undo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a:t>
            </a:r>
            <a:endParaRPr/>
          </a:p>
          <a:p>
            <a:pPr indent="-342900" lvl="0" marL="380365" marR="30480" rtl="0" algn="l">
              <a:lnSpc>
                <a:spcPct val="100000"/>
              </a:lnSpc>
              <a:spcBef>
                <a:spcPts val="765"/>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The log contains no control records concerning </a:t>
            </a:r>
            <a:r>
              <a:rPr b="1" i="1" lang="en-US" sz="2100">
                <a:solidFill>
                  <a:schemeClr val="dk1"/>
                </a:solidFill>
                <a:latin typeface="Arial Rounded"/>
                <a:ea typeface="Arial Rounded"/>
                <a:cs typeface="Arial Rounded"/>
                <a:sym typeface="Arial Rounded"/>
              </a:rPr>
              <a:t>T </a:t>
            </a:r>
            <a:r>
              <a:rPr b="1" lang="en-US" sz="2100">
                <a:solidFill>
                  <a:schemeClr val="dk1"/>
                </a:solidFill>
                <a:latin typeface="Arial Rounded"/>
                <a:ea typeface="Arial Rounded"/>
                <a:cs typeface="Arial Rounded"/>
                <a:sym typeface="Arial Rounded"/>
              </a:rPr>
              <a:t>replies that S</a:t>
            </a:r>
            <a:r>
              <a:rPr b="1" baseline="-25000" lang="en-US" sz="2100">
                <a:solidFill>
                  <a:schemeClr val="dk1"/>
                </a:solidFill>
                <a:latin typeface="Arial Rounded"/>
                <a:ea typeface="Arial Rounded"/>
                <a:cs typeface="Arial Rounded"/>
                <a:sym typeface="Arial Rounded"/>
              </a:rPr>
              <a:t>k </a:t>
            </a:r>
            <a:r>
              <a:rPr b="1" lang="en-US" sz="2100">
                <a:solidFill>
                  <a:schemeClr val="dk1"/>
                </a:solidFill>
                <a:latin typeface="Arial Rounded"/>
                <a:ea typeface="Arial Rounded"/>
                <a:cs typeface="Arial Rounded"/>
                <a:sym typeface="Arial Rounded"/>
              </a:rPr>
              <a:t>failed  before responding to the prepare </a:t>
            </a:r>
            <a:r>
              <a:rPr b="1" i="1" lang="en-US" sz="2100">
                <a:solidFill>
                  <a:schemeClr val="dk1"/>
                </a:solidFill>
                <a:latin typeface="Arial Rounded"/>
                <a:ea typeface="Arial Rounded"/>
                <a:cs typeface="Arial Rounded"/>
                <a:sym typeface="Arial Rounded"/>
              </a:rPr>
              <a:t>T </a:t>
            </a:r>
            <a:r>
              <a:rPr b="1" lang="en-US" sz="2100">
                <a:solidFill>
                  <a:schemeClr val="dk1"/>
                </a:solidFill>
                <a:latin typeface="Arial Rounded"/>
                <a:ea typeface="Arial Rounded"/>
                <a:cs typeface="Arial Rounded"/>
                <a:sym typeface="Arial Rounded"/>
              </a:rPr>
              <a:t>message from C</a:t>
            </a:r>
            <a:r>
              <a:rPr b="1" baseline="-25000" lang="en-US" sz="2100">
                <a:solidFill>
                  <a:schemeClr val="dk1"/>
                </a:solidFill>
                <a:latin typeface="Arial Rounded"/>
                <a:ea typeface="Arial Rounded"/>
                <a:cs typeface="Arial Rounded"/>
                <a:sym typeface="Arial Rounded"/>
              </a:rPr>
              <a:t>i</a:t>
            </a:r>
            <a:endParaRPr b="1" baseline="-25000" sz="2100">
              <a:solidFill>
                <a:schemeClr val="dk1"/>
              </a:solidFill>
              <a:latin typeface="Arial Rounded"/>
              <a:ea typeface="Arial Rounded"/>
              <a:cs typeface="Arial Rounded"/>
              <a:sym typeface="Arial Rounded"/>
            </a:endParaRPr>
          </a:p>
          <a:p>
            <a:pPr indent="-285750" lvl="1" marL="780415" marR="1252855" rtl="0" algn="l">
              <a:lnSpc>
                <a:spcPct val="100000"/>
              </a:lnSpc>
              <a:spcBef>
                <a:spcPts val="765"/>
              </a:spcBef>
              <a:spcAft>
                <a:spcPts val="0"/>
              </a:spcAft>
              <a:buClr>
                <a:srgbClr val="FF9A00"/>
              </a:buClr>
              <a:buSzPts val="1633"/>
              <a:buFont typeface="Noto Sans Symbols"/>
              <a:buChar char="●"/>
            </a:pPr>
            <a:r>
              <a:rPr b="1" i="0" lang="en-US" sz="2100" u="none" cap="none" strike="noStrike">
                <a:solidFill>
                  <a:schemeClr val="dk1"/>
                </a:solidFill>
                <a:latin typeface="Arial Rounded"/>
                <a:ea typeface="Arial Rounded"/>
                <a:cs typeface="Arial Rounded"/>
                <a:sym typeface="Arial Rounded"/>
              </a:rPr>
              <a:t>since the failure of </a:t>
            </a:r>
            <a:r>
              <a:rPr b="1" i="1" lang="en-US" sz="2100" u="none" cap="none" strike="noStrike">
                <a:solidFill>
                  <a:schemeClr val="dk1"/>
                </a:solidFill>
                <a:latin typeface="Arial Rounded"/>
                <a:ea typeface="Arial Rounded"/>
                <a:cs typeface="Arial Rounded"/>
                <a:sym typeface="Arial Rounded"/>
              </a:rPr>
              <a:t>S</a:t>
            </a:r>
            <a:r>
              <a:rPr b="1" baseline="-25000" i="1" lang="en-US" sz="2100" u="none" cap="none" strike="noStrike">
                <a:solidFill>
                  <a:schemeClr val="dk1"/>
                </a:solidFill>
                <a:latin typeface="Arial Rounded"/>
                <a:ea typeface="Arial Rounded"/>
                <a:cs typeface="Arial Rounded"/>
                <a:sym typeface="Arial Rounded"/>
              </a:rPr>
              <a:t>k </a:t>
            </a:r>
            <a:r>
              <a:rPr b="1" i="0" lang="en-US" sz="2100" u="none" cap="none" strike="noStrike">
                <a:solidFill>
                  <a:schemeClr val="dk1"/>
                </a:solidFill>
                <a:latin typeface="Arial Rounded"/>
                <a:ea typeface="Arial Rounded"/>
                <a:cs typeface="Arial Rounded"/>
                <a:sym typeface="Arial Rounded"/>
              </a:rPr>
              <a:t>precludes the sending of such a  response </a:t>
            </a:r>
            <a:r>
              <a:rPr b="1" i="1" lang="en-US" sz="2100" u="none" cap="none" strike="noStrike">
                <a:solidFill>
                  <a:schemeClr val="dk1"/>
                </a:solidFill>
                <a:latin typeface="Arial Rounded"/>
                <a:ea typeface="Arial Rounded"/>
                <a:cs typeface="Arial Rounded"/>
                <a:sym typeface="Arial Rounded"/>
              </a:rPr>
              <a:t>C</a:t>
            </a:r>
            <a:r>
              <a:rPr b="1" baseline="-25000" i="1" lang="en-US" sz="2100" u="none" cap="none" strike="noStrike">
                <a:solidFill>
                  <a:schemeClr val="dk1"/>
                </a:solidFill>
                <a:latin typeface="Arial Rounded"/>
                <a:ea typeface="Arial Rounded"/>
                <a:cs typeface="Arial Rounded"/>
                <a:sym typeface="Arial Rounded"/>
              </a:rPr>
              <a:t>1 </a:t>
            </a:r>
            <a:r>
              <a:rPr b="1" i="0" lang="en-US" sz="2100" u="none" cap="none" strike="noStrike">
                <a:solidFill>
                  <a:schemeClr val="dk1"/>
                </a:solidFill>
                <a:latin typeface="Arial Rounded"/>
                <a:ea typeface="Arial Rounded"/>
                <a:cs typeface="Arial Rounded"/>
                <a:sym typeface="Arial Rounded"/>
              </a:rPr>
              <a:t>must abort </a:t>
            </a:r>
            <a:r>
              <a:rPr b="1" i="1" lang="en-US" sz="2100" u="none" cap="none" strike="noStrike">
                <a:solidFill>
                  <a:schemeClr val="dk1"/>
                </a:solidFill>
                <a:latin typeface="Arial Rounded"/>
                <a:ea typeface="Arial Rounded"/>
                <a:cs typeface="Arial Rounded"/>
                <a:sym typeface="Arial Rounded"/>
              </a:rPr>
              <a:t>T</a:t>
            </a:r>
            <a:endParaRPr b="1" i="0" sz="2100" u="none" cap="none" strike="noStrike">
              <a:solidFill>
                <a:schemeClr val="dk1"/>
              </a:solidFill>
              <a:latin typeface="Arial Rounded"/>
              <a:ea typeface="Arial Rounded"/>
              <a:cs typeface="Arial Rounded"/>
              <a:sym typeface="Arial Rounded"/>
            </a:endParaRPr>
          </a:p>
          <a:p>
            <a:pPr indent="-285750" lvl="1" marL="781050" marR="0" rtl="0" algn="l">
              <a:lnSpc>
                <a:spcPct val="100000"/>
              </a:lnSpc>
              <a:spcBef>
                <a:spcPts val="770"/>
              </a:spcBef>
              <a:spcAft>
                <a:spcPts val="0"/>
              </a:spcAft>
              <a:buClr>
                <a:srgbClr val="FF9A00"/>
              </a:buClr>
              <a:buSzPts val="1633"/>
              <a:buFont typeface="Noto Sans Symbols"/>
              <a:buChar char="●"/>
            </a:pPr>
            <a:r>
              <a:rPr b="1" i="1" lang="en-US" sz="2100" u="none" cap="none" strike="noStrike">
                <a:solidFill>
                  <a:schemeClr val="dk1"/>
                </a:solidFill>
                <a:latin typeface="Arial Rounded"/>
                <a:ea typeface="Arial Rounded"/>
                <a:cs typeface="Arial Rounded"/>
                <a:sym typeface="Arial Rounded"/>
              </a:rPr>
              <a:t>S</a:t>
            </a:r>
            <a:r>
              <a:rPr b="1" baseline="-25000" i="1" lang="en-US" sz="2100" u="none" cap="none" strike="noStrike">
                <a:solidFill>
                  <a:schemeClr val="dk1"/>
                </a:solidFill>
                <a:latin typeface="Arial Rounded"/>
                <a:ea typeface="Arial Rounded"/>
                <a:cs typeface="Arial Rounded"/>
                <a:sym typeface="Arial Rounded"/>
              </a:rPr>
              <a:t>k </a:t>
            </a:r>
            <a:r>
              <a:rPr b="1" i="0" lang="en-US" sz="2100" u="none" cap="none" strike="noStrike">
                <a:solidFill>
                  <a:schemeClr val="dk1"/>
                </a:solidFill>
                <a:latin typeface="Arial Rounded"/>
                <a:ea typeface="Arial Rounded"/>
                <a:cs typeface="Arial Rounded"/>
                <a:sym typeface="Arial Rounded"/>
              </a:rPr>
              <a:t>must execute undo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a:t>
            </a:r>
            <a:endParaRPr b="1" i="0" sz="21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Handling the Failure of a Coordinator Site</a:t>
            </a:r>
            <a:endParaRPr/>
          </a:p>
        </p:txBody>
      </p:sp>
      <p:sp>
        <p:nvSpPr>
          <p:cNvPr id="442" name="Google Shape;442;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Let us suppose that the Coordinator Site failed during execution of 2 Phase Commit (2PC) protocol for a transaction T.</a:t>
            </a:r>
            <a:endParaRPr/>
          </a:p>
          <a:p>
            <a:pPr indent="0" lvl="0" marL="0" rtl="0" algn="l">
              <a:lnSpc>
                <a:spcPct val="90000"/>
              </a:lnSpc>
              <a:spcBef>
                <a:spcPts val="1000"/>
              </a:spcBef>
              <a:spcAft>
                <a:spcPts val="0"/>
              </a:spcAft>
              <a:buClr>
                <a:schemeClr val="dk1"/>
              </a:buClr>
              <a:buSzPts val="2800"/>
              <a:buNone/>
            </a:pPr>
            <a:r>
              <a:rPr lang="en-US"/>
              <a:t> </a:t>
            </a:r>
            <a:endParaRPr/>
          </a:p>
          <a:p>
            <a:pPr indent="0" lvl="0" marL="0" rtl="0" algn="l">
              <a:lnSpc>
                <a:spcPct val="90000"/>
              </a:lnSpc>
              <a:spcBef>
                <a:spcPts val="1000"/>
              </a:spcBef>
              <a:spcAft>
                <a:spcPts val="0"/>
              </a:spcAft>
              <a:buClr>
                <a:schemeClr val="dk1"/>
              </a:buClr>
              <a:buSzPts val="2800"/>
              <a:buNone/>
            </a:pPr>
            <a:r>
              <a:rPr lang="en-US"/>
              <a:t>This situation can be handled in two ways:-</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1. The other sites which are participating in the transaction T may try to decide the fate of the transaction. That is, they may try to decide on Commit or Abort of T using the control messages available in every site.</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2. The second way is to wait until the coordinator site recovers.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Handling the Failure of a Coordinator Site</a:t>
            </a:r>
            <a:endParaRPr/>
          </a:p>
        </p:txBody>
      </p:sp>
      <p:sp>
        <p:nvSpPr>
          <p:cNvPr id="448" name="Google Shape;448;p32"/>
          <p:cNvSpPr txBox="1"/>
          <p:nvPr>
            <p:ph idx="1" type="body"/>
          </p:nvPr>
        </p:nvSpPr>
        <p:spPr>
          <a:xfrm>
            <a:off x="480060" y="1825625"/>
            <a:ext cx="10873740" cy="4927600"/>
          </a:xfrm>
          <a:prstGeom prst="rect">
            <a:avLst/>
          </a:prstGeom>
          <a:noFill/>
          <a:ln>
            <a:noFill/>
          </a:ln>
        </p:spPr>
        <p:txBody>
          <a:bodyPr anchorCtr="0" anchor="t" bIns="45700" lIns="91425" spcFirstLastPara="1" rIns="91425" wrap="square" tIns="45700">
            <a:normAutofit fontScale="87500" lnSpcReduction="10000"/>
          </a:bodyPr>
          <a:lstStyle/>
          <a:p>
            <a:pPr indent="0" lvl="0" marL="0" rtl="0" algn="l">
              <a:lnSpc>
                <a:spcPct val="90000"/>
              </a:lnSpc>
              <a:spcBef>
                <a:spcPts val="0"/>
              </a:spcBef>
              <a:spcAft>
                <a:spcPts val="0"/>
              </a:spcAft>
              <a:buClr>
                <a:schemeClr val="dk1"/>
              </a:buClr>
              <a:buSzPct val="100000"/>
              <a:buNone/>
            </a:pPr>
            <a:r>
              <a:rPr lang="en-US"/>
              <a:t>1. </a:t>
            </a:r>
            <a:endParaRPr/>
          </a:p>
          <a:p>
            <a:pPr indent="0" lvl="0" marL="0" rtl="0" algn="l">
              <a:lnSpc>
                <a:spcPct val="90000"/>
              </a:lnSpc>
              <a:spcBef>
                <a:spcPts val="1000"/>
              </a:spcBef>
              <a:spcAft>
                <a:spcPts val="0"/>
              </a:spcAft>
              <a:buClr>
                <a:schemeClr val="dk1"/>
              </a:buClr>
              <a:buSzPct val="100000"/>
              <a:buNone/>
            </a:pPr>
            <a:r>
              <a:rPr lang="en-US"/>
              <a:t>A)  If an active site has &lt;commit T&gt; message in its log - &lt;commit T&gt; message is decided by the coordinator site. If the coordinator site sends the &lt;commit T&gt; message to all the participating sites, then only they can write the message into their log files. Hence, the decision is to commit the transaction T.</a:t>
            </a:r>
            <a:endParaRPr/>
          </a:p>
          <a:p>
            <a:pPr indent="0" lvl="0" marL="0" rtl="0" algn="l">
              <a:lnSpc>
                <a:spcPct val="90000"/>
              </a:lnSpc>
              <a:spcBef>
                <a:spcPts val="1000"/>
              </a:spcBef>
              <a:spcAft>
                <a:spcPts val="0"/>
              </a:spcAft>
              <a:buClr>
                <a:schemeClr val="dk1"/>
              </a:buClr>
              <a:buSzPct val="100000"/>
              <a:buNone/>
            </a:pPr>
            <a:r>
              <a:rPr lang="en-US"/>
              <a:t>B)  If an active site recorded &lt;abort T&gt; message in its log – This clearly shows that the decision taken by the coordinator site before it fails was to abort the transaction T. Hence, the decision should be abort T.</a:t>
            </a:r>
            <a:endParaRPr/>
          </a:p>
          <a:p>
            <a:pPr indent="0" lvl="0" marL="0" rtl="0" algn="l">
              <a:lnSpc>
                <a:spcPct val="90000"/>
              </a:lnSpc>
              <a:spcBef>
                <a:spcPts val="1000"/>
              </a:spcBef>
              <a:spcAft>
                <a:spcPts val="0"/>
              </a:spcAft>
              <a:buClr>
                <a:schemeClr val="dk1"/>
              </a:buClr>
              <a:buSzPct val="100000"/>
              <a:buNone/>
            </a:pPr>
            <a:r>
              <a:rPr lang="en-US"/>
              <a:t>C)  If some active sites do not hold a &lt;ready T&gt; message in their log files – As stated in 2PC protocol, if one or more of the participating sites do not contain &lt;ready T&gt; message in their log files, then it clearly shows that those sites must not have responded to the coordinator on the &lt;prepare T&gt; message. Hence, the coordinator must have taken a decision to abort the transaction T. So, we abort T.</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Handling the Failure of a Coordinator Site</a:t>
            </a:r>
            <a:endParaRPr/>
          </a:p>
        </p:txBody>
      </p:sp>
      <p:sp>
        <p:nvSpPr>
          <p:cNvPr id="454" name="Google Shape;454;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2.</a:t>
            </a:r>
            <a:endParaRPr/>
          </a:p>
          <a:p>
            <a:pPr indent="0" lvl="0" marL="0" rtl="0" algn="l">
              <a:lnSpc>
                <a:spcPct val="90000"/>
              </a:lnSpc>
              <a:spcBef>
                <a:spcPts val="1000"/>
              </a:spcBef>
              <a:spcAft>
                <a:spcPts val="0"/>
              </a:spcAft>
              <a:buClr>
                <a:schemeClr val="dk1"/>
              </a:buClr>
              <a:buSzPts val="2800"/>
              <a:buNone/>
            </a:pPr>
            <a:r>
              <a:rPr lang="en-US"/>
              <a:t>If none of the cases A) ,B) , C)  holds, we can apply only the second way of handling the failure of coordinator site. That is, we need to wait until the transaction coordinator recovers.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4"/>
          <p:cNvSpPr txBox="1"/>
          <p:nvPr>
            <p:ph type="title"/>
          </p:nvPr>
        </p:nvSpPr>
        <p:spPr>
          <a:xfrm>
            <a:off x="1311142" y="138223"/>
            <a:ext cx="6965315" cy="536044"/>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accent2"/>
              </a:buClr>
              <a:buSzPts val="3400"/>
              <a:buFont typeface="Calibri"/>
              <a:buNone/>
            </a:pPr>
            <a:r>
              <a:rPr b="1" lang="en-US" sz="3400">
                <a:solidFill>
                  <a:schemeClr val="accent2"/>
                </a:solidFill>
              </a:rPr>
              <a:t>Handling of Failures- Coordinator Failure</a:t>
            </a:r>
            <a:endParaRPr b="1" sz="3400">
              <a:solidFill>
                <a:schemeClr val="accent2"/>
              </a:solidFill>
            </a:endParaRPr>
          </a:p>
        </p:txBody>
      </p:sp>
      <p:sp>
        <p:nvSpPr>
          <p:cNvPr id="460" name="Google Shape;460;p34"/>
          <p:cNvSpPr txBox="1"/>
          <p:nvPr/>
        </p:nvSpPr>
        <p:spPr>
          <a:xfrm>
            <a:off x="488163" y="1034706"/>
            <a:ext cx="11215673" cy="5604098"/>
          </a:xfrm>
          <a:prstGeom prst="rect">
            <a:avLst/>
          </a:prstGeom>
          <a:noFill/>
          <a:ln>
            <a:noFill/>
          </a:ln>
        </p:spPr>
        <p:txBody>
          <a:bodyPr anchorCtr="0" anchor="t" bIns="0" lIns="0" spcFirstLastPara="1" rIns="0" wrap="square" tIns="12700">
            <a:spAutoFit/>
          </a:bodyPr>
          <a:lstStyle/>
          <a:p>
            <a:pPr indent="-381635" lvl="0" marL="419100" marR="790575" rtl="0" algn="l">
              <a:lnSpc>
                <a:spcPct val="100000"/>
              </a:lnSpc>
              <a:spcBef>
                <a:spcPts val="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If coordinator fails while the commit protocol for </a:t>
            </a:r>
            <a:r>
              <a:rPr b="1" i="1" lang="en-US" sz="2200">
                <a:solidFill>
                  <a:schemeClr val="dk1"/>
                </a:solidFill>
                <a:latin typeface="Arial Rounded"/>
                <a:ea typeface="Arial Rounded"/>
                <a:cs typeface="Arial Rounded"/>
                <a:sym typeface="Arial Rounded"/>
              </a:rPr>
              <a:t>T </a:t>
            </a:r>
            <a:r>
              <a:rPr b="1" lang="en-US" sz="2200">
                <a:solidFill>
                  <a:schemeClr val="dk1"/>
                </a:solidFill>
                <a:latin typeface="Arial Rounded"/>
                <a:ea typeface="Arial Rounded"/>
                <a:cs typeface="Arial Rounded"/>
                <a:sym typeface="Arial Rounded"/>
              </a:rPr>
              <a:t>is executing then  participating sites must decide on </a:t>
            </a:r>
            <a:r>
              <a:rPr b="1" i="1" lang="en-US" sz="2200">
                <a:solidFill>
                  <a:schemeClr val="dk1"/>
                </a:solidFill>
                <a:latin typeface="Arial Rounded"/>
                <a:ea typeface="Arial Rounded"/>
                <a:cs typeface="Arial Rounded"/>
                <a:sym typeface="Arial Rounded"/>
              </a:rPr>
              <a:t>T</a:t>
            </a:r>
            <a:r>
              <a:rPr b="1" lang="en-US" sz="2200">
                <a:solidFill>
                  <a:schemeClr val="dk1"/>
                </a:solidFill>
                <a:latin typeface="Arial Rounded"/>
                <a:ea typeface="Arial Rounded"/>
                <a:cs typeface="Arial Rounded"/>
                <a:sym typeface="Arial Rounded"/>
              </a:rPr>
              <a:t>’s fate:</a:t>
            </a:r>
            <a:endParaRPr b="1" sz="2200">
              <a:solidFill>
                <a:schemeClr val="dk1"/>
              </a:solidFill>
              <a:latin typeface="Arial Rounded"/>
              <a:ea typeface="Arial Rounded"/>
              <a:cs typeface="Arial Rounded"/>
              <a:sym typeface="Arial Rounded"/>
            </a:endParaRPr>
          </a:p>
          <a:p>
            <a:pPr indent="-342900" lvl="1" marL="838200" marR="208279" rtl="0" algn="l">
              <a:lnSpc>
                <a:spcPct val="100000"/>
              </a:lnSpc>
              <a:spcBef>
                <a:spcPts val="765"/>
              </a:spcBef>
              <a:spcAft>
                <a:spcPts val="0"/>
              </a:spcAft>
              <a:buClr>
                <a:srgbClr val="FF9A00"/>
              </a:buClr>
              <a:buSzPts val="1711"/>
              <a:buFont typeface="Arial Rounded"/>
              <a:buAutoNum type="arabicPeriod"/>
            </a:pPr>
            <a:r>
              <a:rPr b="1" i="0" lang="en-US" sz="2200" u="none" cap="none" strike="noStrike">
                <a:solidFill>
                  <a:schemeClr val="dk1"/>
                </a:solidFill>
                <a:latin typeface="Arial Rounded"/>
                <a:ea typeface="Arial Rounded"/>
                <a:cs typeface="Arial Rounded"/>
                <a:sym typeface="Arial Rounded"/>
              </a:rPr>
              <a:t>If an active site contains a &lt;commit </a:t>
            </a:r>
            <a:r>
              <a:rPr b="1" i="1" lang="en-US" sz="2200" u="none" cap="none" strike="noStrike">
                <a:solidFill>
                  <a:schemeClr val="dk1"/>
                </a:solidFill>
                <a:latin typeface="Arial Rounded"/>
                <a:ea typeface="Arial Rounded"/>
                <a:cs typeface="Arial Rounded"/>
                <a:sym typeface="Arial Rounded"/>
              </a:rPr>
              <a:t>T</a:t>
            </a:r>
            <a:r>
              <a:rPr b="1" i="0" lang="en-US" sz="2200" u="none" cap="none" strike="noStrike">
                <a:solidFill>
                  <a:schemeClr val="dk1"/>
                </a:solidFill>
                <a:latin typeface="Arial Rounded"/>
                <a:ea typeface="Arial Rounded"/>
                <a:cs typeface="Arial Rounded"/>
                <a:sym typeface="Arial Rounded"/>
              </a:rPr>
              <a:t>&gt; record in its log, then </a:t>
            </a:r>
            <a:r>
              <a:rPr b="1" i="1" lang="en-US" sz="2200" u="none" cap="none" strike="noStrike">
                <a:solidFill>
                  <a:schemeClr val="dk1"/>
                </a:solidFill>
                <a:latin typeface="Arial Rounded"/>
                <a:ea typeface="Arial Rounded"/>
                <a:cs typeface="Arial Rounded"/>
                <a:sym typeface="Arial Rounded"/>
              </a:rPr>
              <a:t>T </a:t>
            </a:r>
            <a:r>
              <a:rPr b="1" i="0" lang="en-US" sz="2200" u="none" cap="none" strike="noStrike">
                <a:solidFill>
                  <a:schemeClr val="dk1"/>
                </a:solidFill>
                <a:latin typeface="Arial Rounded"/>
                <a:ea typeface="Arial Rounded"/>
                <a:cs typeface="Arial Rounded"/>
                <a:sym typeface="Arial Rounded"/>
              </a:rPr>
              <a:t>must  be committed.</a:t>
            </a:r>
            <a:endParaRPr/>
          </a:p>
          <a:p>
            <a:pPr indent="-343535" lvl="1" marL="838200" marR="320675" rtl="0" algn="l">
              <a:lnSpc>
                <a:spcPct val="100000"/>
              </a:lnSpc>
              <a:spcBef>
                <a:spcPts val="770"/>
              </a:spcBef>
              <a:spcAft>
                <a:spcPts val="0"/>
              </a:spcAft>
              <a:buClr>
                <a:srgbClr val="FF9A00"/>
              </a:buClr>
              <a:buSzPts val="1711"/>
              <a:buFont typeface="Arial Rounded"/>
              <a:buAutoNum type="arabicPeriod"/>
            </a:pPr>
            <a:r>
              <a:rPr b="1" i="0" lang="en-US" sz="2200" u="none" cap="none" strike="noStrike">
                <a:solidFill>
                  <a:schemeClr val="dk1"/>
                </a:solidFill>
                <a:latin typeface="Arial Rounded"/>
                <a:ea typeface="Arial Rounded"/>
                <a:cs typeface="Arial Rounded"/>
                <a:sym typeface="Arial Rounded"/>
              </a:rPr>
              <a:t>If an active site contains an &lt;abort </a:t>
            </a:r>
            <a:r>
              <a:rPr b="1" i="1" lang="en-US" sz="2200" u="none" cap="none" strike="noStrike">
                <a:solidFill>
                  <a:schemeClr val="dk1"/>
                </a:solidFill>
                <a:latin typeface="Arial Rounded"/>
                <a:ea typeface="Arial Rounded"/>
                <a:cs typeface="Arial Rounded"/>
                <a:sym typeface="Arial Rounded"/>
              </a:rPr>
              <a:t>T</a:t>
            </a:r>
            <a:r>
              <a:rPr b="1" i="0" lang="en-US" sz="2200" u="none" cap="none" strike="noStrike">
                <a:solidFill>
                  <a:schemeClr val="dk1"/>
                </a:solidFill>
                <a:latin typeface="Arial Rounded"/>
                <a:ea typeface="Arial Rounded"/>
                <a:cs typeface="Arial Rounded"/>
                <a:sym typeface="Arial Rounded"/>
              </a:rPr>
              <a:t>&gt; record in its log, then </a:t>
            </a:r>
            <a:r>
              <a:rPr b="1" i="1" lang="en-US" sz="2200" u="none" cap="none" strike="noStrike">
                <a:solidFill>
                  <a:schemeClr val="dk1"/>
                </a:solidFill>
                <a:latin typeface="Arial Rounded"/>
                <a:ea typeface="Arial Rounded"/>
                <a:cs typeface="Arial Rounded"/>
                <a:sym typeface="Arial Rounded"/>
              </a:rPr>
              <a:t>T </a:t>
            </a:r>
            <a:r>
              <a:rPr b="1" i="0" lang="en-US" sz="2200" u="none" cap="none" strike="noStrike">
                <a:solidFill>
                  <a:schemeClr val="dk1"/>
                </a:solidFill>
                <a:latin typeface="Arial Rounded"/>
                <a:ea typeface="Arial Rounded"/>
                <a:cs typeface="Arial Rounded"/>
                <a:sym typeface="Arial Rounded"/>
              </a:rPr>
              <a:t>must  be aborted.</a:t>
            </a:r>
            <a:endParaRPr b="1" i="0" sz="2200" u="none" cap="none" strike="noStrike">
              <a:solidFill>
                <a:schemeClr val="dk1"/>
              </a:solidFill>
              <a:latin typeface="Arial Rounded"/>
              <a:ea typeface="Arial Rounded"/>
              <a:cs typeface="Arial Rounded"/>
              <a:sym typeface="Arial Rounded"/>
            </a:endParaRPr>
          </a:p>
          <a:p>
            <a:pPr indent="-342900" lvl="1" marL="838200" marR="220345" rtl="0" algn="l">
              <a:lnSpc>
                <a:spcPct val="100000"/>
              </a:lnSpc>
              <a:spcBef>
                <a:spcPts val="765"/>
              </a:spcBef>
              <a:spcAft>
                <a:spcPts val="0"/>
              </a:spcAft>
              <a:buClr>
                <a:srgbClr val="FF9A00"/>
              </a:buClr>
              <a:buSzPts val="1711"/>
              <a:buFont typeface="Arial Rounded"/>
              <a:buAutoNum type="arabicPeriod"/>
            </a:pPr>
            <a:r>
              <a:rPr b="1" i="0" lang="en-US" sz="2200" u="none" cap="none" strike="noStrike">
                <a:solidFill>
                  <a:schemeClr val="dk1"/>
                </a:solidFill>
                <a:latin typeface="Arial Rounded"/>
                <a:ea typeface="Arial Rounded"/>
                <a:cs typeface="Arial Rounded"/>
                <a:sym typeface="Arial Rounded"/>
              </a:rPr>
              <a:t>If some active participating site does not contain a &lt;ready </a:t>
            </a:r>
            <a:r>
              <a:rPr b="1" i="1" lang="en-US" sz="2200" u="none" cap="none" strike="noStrike">
                <a:solidFill>
                  <a:schemeClr val="dk1"/>
                </a:solidFill>
                <a:latin typeface="Arial Rounded"/>
                <a:ea typeface="Arial Rounded"/>
                <a:cs typeface="Arial Rounded"/>
                <a:sym typeface="Arial Rounded"/>
              </a:rPr>
              <a:t>T</a:t>
            </a:r>
            <a:r>
              <a:rPr b="1" i="0" lang="en-US" sz="2200" u="none" cap="none" strike="noStrike">
                <a:solidFill>
                  <a:schemeClr val="dk1"/>
                </a:solidFill>
                <a:latin typeface="Arial Rounded"/>
                <a:ea typeface="Arial Rounded"/>
                <a:cs typeface="Arial Rounded"/>
                <a:sym typeface="Arial Rounded"/>
              </a:rPr>
              <a:t>&gt; record  in its log, then the failed coordinator </a:t>
            </a:r>
            <a:r>
              <a:rPr b="1" i="1" lang="en-US" sz="2200" u="none" cap="none" strike="noStrike">
                <a:solidFill>
                  <a:schemeClr val="dk1"/>
                </a:solidFill>
                <a:latin typeface="Arial Rounded"/>
                <a:ea typeface="Arial Rounded"/>
                <a:cs typeface="Arial Rounded"/>
                <a:sym typeface="Arial Rounded"/>
              </a:rPr>
              <a:t>C</a:t>
            </a:r>
            <a:r>
              <a:rPr b="1" baseline="-25000" i="1" lang="en-US" sz="2200" u="none" cap="none" strike="noStrike">
                <a:solidFill>
                  <a:schemeClr val="dk1"/>
                </a:solidFill>
                <a:latin typeface="Arial Rounded"/>
                <a:ea typeface="Arial Rounded"/>
                <a:cs typeface="Arial Rounded"/>
                <a:sym typeface="Arial Rounded"/>
              </a:rPr>
              <a:t>i </a:t>
            </a:r>
            <a:r>
              <a:rPr b="1" i="0" lang="en-US" sz="2200" u="none" cap="none" strike="noStrike">
                <a:solidFill>
                  <a:schemeClr val="dk1"/>
                </a:solidFill>
                <a:latin typeface="Arial Rounded"/>
                <a:ea typeface="Arial Rounded"/>
                <a:cs typeface="Arial Rounded"/>
                <a:sym typeface="Arial Rounded"/>
              </a:rPr>
              <a:t>cannot have decided to  commit </a:t>
            </a:r>
            <a:r>
              <a:rPr b="1" i="1" lang="en-US" sz="2200" u="none" cap="none" strike="noStrike">
                <a:solidFill>
                  <a:schemeClr val="dk1"/>
                </a:solidFill>
                <a:latin typeface="Arial Rounded"/>
                <a:ea typeface="Arial Rounded"/>
                <a:cs typeface="Arial Rounded"/>
                <a:sym typeface="Arial Rounded"/>
              </a:rPr>
              <a:t>T</a:t>
            </a:r>
            <a:r>
              <a:rPr b="1" i="0" lang="en-US" sz="2200" u="none" cap="none" strike="noStrike">
                <a:solidFill>
                  <a:schemeClr val="dk1"/>
                </a:solidFill>
                <a:latin typeface="Arial Rounded"/>
                <a:ea typeface="Arial Rounded"/>
                <a:cs typeface="Arial Rounded"/>
                <a:sym typeface="Arial Rounded"/>
              </a:rPr>
              <a:t>. Can therefore abort </a:t>
            </a:r>
            <a:r>
              <a:rPr b="1" i="1" lang="en-US" sz="2200" u="none" cap="none" strike="noStrike">
                <a:solidFill>
                  <a:schemeClr val="dk1"/>
                </a:solidFill>
                <a:latin typeface="Arial Rounded"/>
                <a:ea typeface="Arial Rounded"/>
                <a:cs typeface="Arial Rounded"/>
                <a:sym typeface="Arial Rounded"/>
              </a:rPr>
              <a:t>T</a:t>
            </a:r>
            <a:r>
              <a:rPr b="1" i="0" lang="en-US" sz="2200" u="none" cap="none" strike="noStrike">
                <a:solidFill>
                  <a:schemeClr val="dk1"/>
                </a:solidFill>
                <a:latin typeface="Arial Rounded"/>
                <a:ea typeface="Arial Rounded"/>
                <a:cs typeface="Arial Rounded"/>
                <a:sym typeface="Arial Rounded"/>
              </a:rPr>
              <a:t>.</a:t>
            </a:r>
            <a:endParaRPr b="1" i="0" sz="2200" u="none" cap="none" strike="noStrike">
              <a:solidFill>
                <a:schemeClr val="dk1"/>
              </a:solidFill>
              <a:latin typeface="Arial Rounded"/>
              <a:ea typeface="Arial Rounded"/>
              <a:cs typeface="Arial Rounded"/>
              <a:sym typeface="Arial Rounded"/>
            </a:endParaRPr>
          </a:p>
          <a:p>
            <a:pPr indent="-342900" lvl="1" marL="838200" marR="0" rtl="0" algn="l">
              <a:lnSpc>
                <a:spcPct val="100000"/>
              </a:lnSpc>
              <a:spcBef>
                <a:spcPts val="770"/>
              </a:spcBef>
              <a:spcAft>
                <a:spcPts val="0"/>
              </a:spcAft>
              <a:buClr>
                <a:srgbClr val="FF9A00"/>
              </a:buClr>
              <a:buSzPts val="1711"/>
              <a:buFont typeface="Arial Rounded"/>
              <a:buAutoNum type="arabicPeriod"/>
            </a:pPr>
            <a:r>
              <a:rPr b="1" i="0" lang="en-US" sz="2200" u="none" cap="none" strike="noStrike">
                <a:solidFill>
                  <a:schemeClr val="dk1"/>
                </a:solidFill>
                <a:latin typeface="Arial Rounded"/>
                <a:ea typeface="Arial Rounded"/>
                <a:cs typeface="Arial Rounded"/>
                <a:sym typeface="Arial Rounded"/>
              </a:rPr>
              <a:t>If none of the above cases holds, then all active sites must have a</a:t>
            </a:r>
            <a:endParaRPr b="1" i="0" sz="2200" u="none" cap="none" strike="noStrike">
              <a:solidFill>
                <a:schemeClr val="dk1"/>
              </a:solidFill>
              <a:latin typeface="Arial Rounded"/>
              <a:ea typeface="Arial Rounded"/>
              <a:cs typeface="Arial Rounded"/>
              <a:sym typeface="Arial Rounded"/>
            </a:endParaRPr>
          </a:p>
          <a:p>
            <a:pPr indent="0" lvl="0" marL="837564" marR="106679" rtl="0" algn="l">
              <a:lnSpc>
                <a:spcPct val="100000"/>
              </a:lnSpc>
              <a:spcBef>
                <a:spcPts val="5"/>
              </a:spcBef>
              <a:spcAft>
                <a:spcPts val="0"/>
              </a:spcAft>
              <a:buNone/>
            </a:pPr>
            <a:r>
              <a:rPr b="1" lang="en-US" sz="2200">
                <a:solidFill>
                  <a:schemeClr val="dk1"/>
                </a:solidFill>
                <a:latin typeface="Arial Rounded"/>
                <a:ea typeface="Arial Rounded"/>
                <a:cs typeface="Arial Rounded"/>
                <a:sym typeface="Arial Rounded"/>
              </a:rPr>
              <a:t>&lt;ready </a:t>
            </a:r>
            <a:r>
              <a:rPr b="1" i="1" lang="en-US" sz="2200">
                <a:solidFill>
                  <a:schemeClr val="dk1"/>
                </a:solidFill>
                <a:latin typeface="Arial Rounded"/>
                <a:ea typeface="Arial Rounded"/>
                <a:cs typeface="Arial Rounded"/>
                <a:sym typeface="Arial Rounded"/>
              </a:rPr>
              <a:t>T</a:t>
            </a:r>
            <a:r>
              <a:rPr b="1" lang="en-US" sz="2200">
                <a:solidFill>
                  <a:schemeClr val="dk1"/>
                </a:solidFill>
                <a:latin typeface="Arial Rounded"/>
                <a:ea typeface="Arial Rounded"/>
                <a:cs typeface="Arial Rounded"/>
                <a:sym typeface="Arial Rounded"/>
              </a:rPr>
              <a:t>&gt; record in their logs, but no additional control records (such  as &lt;abort </a:t>
            </a:r>
            <a:r>
              <a:rPr b="1" i="1" lang="en-US" sz="2200">
                <a:solidFill>
                  <a:schemeClr val="dk1"/>
                </a:solidFill>
                <a:latin typeface="Arial Rounded"/>
                <a:ea typeface="Arial Rounded"/>
                <a:cs typeface="Arial Rounded"/>
                <a:sym typeface="Arial Rounded"/>
              </a:rPr>
              <a:t>T</a:t>
            </a:r>
            <a:r>
              <a:rPr b="1" lang="en-US" sz="2200">
                <a:solidFill>
                  <a:schemeClr val="dk1"/>
                </a:solidFill>
                <a:latin typeface="Arial Rounded"/>
                <a:ea typeface="Arial Rounded"/>
                <a:cs typeface="Arial Rounded"/>
                <a:sym typeface="Arial Rounded"/>
              </a:rPr>
              <a:t>&gt; of &lt;commit </a:t>
            </a:r>
            <a:r>
              <a:rPr b="1" i="1" lang="en-US" sz="2200">
                <a:solidFill>
                  <a:schemeClr val="dk1"/>
                </a:solidFill>
                <a:latin typeface="Arial Rounded"/>
                <a:ea typeface="Arial Rounded"/>
                <a:cs typeface="Arial Rounded"/>
                <a:sym typeface="Arial Rounded"/>
              </a:rPr>
              <a:t>T</a:t>
            </a:r>
            <a:r>
              <a:rPr b="1" lang="en-US" sz="2200">
                <a:solidFill>
                  <a:schemeClr val="dk1"/>
                </a:solidFill>
                <a:latin typeface="Arial Rounded"/>
                <a:ea typeface="Arial Rounded"/>
                <a:cs typeface="Arial Rounded"/>
                <a:sym typeface="Arial Rounded"/>
              </a:rPr>
              <a:t>&gt;). In this case active sites must wait for  </a:t>
            </a:r>
            <a:r>
              <a:rPr b="1" i="1" lang="en-US" sz="2200">
                <a:solidFill>
                  <a:schemeClr val="dk1"/>
                </a:solidFill>
                <a:latin typeface="Arial Rounded"/>
                <a:ea typeface="Arial Rounded"/>
                <a:cs typeface="Arial Rounded"/>
                <a:sym typeface="Arial Rounded"/>
              </a:rPr>
              <a:t>C</a:t>
            </a:r>
            <a:r>
              <a:rPr b="1" baseline="-25000" i="1" lang="en-US" sz="2200">
                <a:solidFill>
                  <a:schemeClr val="dk1"/>
                </a:solidFill>
                <a:latin typeface="Arial Rounded"/>
                <a:ea typeface="Arial Rounded"/>
                <a:cs typeface="Arial Rounded"/>
                <a:sym typeface="Arial Rounded"/>
              </a:rPr>
              <a:t>i </a:t>
            </a:r>
            <a:r>
              <a:rPr b="1" lang="en-US" sz="2200">
                <a:solidFill>
                  <a:schemeClr val="dk1"/>
                </a:solidFill>
                <a:latin typeface="Arial Rounded"/>
                <a:ea typeface="Arial Rounded"/>
                <a:cs typeface="Arial Rounded"/>
                <a:sym typeface="Arial Rounded"/>
              </a:rPr>
              <a:t>to recover, to find decision.</a:t>
            </a:r>
            <a:endParaRPr b="1" sz="2200">
              <a:solidFill>
                <a:schemeClr val="dk1"/>
              </a:solidFill>
              <a:latin typeface="Arial Rounded"/>
              <a:ea typeface="Arial Rounded"/>
              <a:cs typeface="Arial Rounded"/>
              <a:sym typeface="Arial Rounded"/>
            </a:endParaRPr>
          </a:p>
          <a:p>
            <a:pPr indent="-381000" lvl="0" marL="419100" marR="118110" rtl="0" algn="l">
              <a:lnSpc>
                <a:spcPct val="100000"/>
              </a:lnSpc>
              <a:spcBef>
                <a:spcPts val="770"/>
              </a:spcBef>
              <a:spcAft>
                <a:spcPts val="0"/>
              </a:spcAft>
              <a:buClr>
                <a:srgbClr val="CC3300"/>
              </a:buClr>
              <a:buSzPts val="1956"/>
              <a:buFont typeface="Noto Sans Symbols"/>
              <a:buChar char="■"/>
            </a:pPr>
            <a:r>
              <a:rPr b="1" lang="en-US" sz="2200">
                <a:solidFill>
                  <a:srgbClr val="CC3300"/>
                </a:solidFill>
                <a:latin typeface="Arial Rounded"/>
                <a:ea typeface="Arial Rounded"/>
                <a:cs typeface="Arial Rounded"/>
                <a:sym typeface="Arial Rounded"/>
              </a:rPr>
              <a:t>Blocking problem </a:t>
            </a:r>
            <a:r>
              <a:rPr b="1" lang="en-US" sz="2200">
                <a:solidFill>
                  <a:schemeClr val="dk1"/>
                </a:solidFill>
                <a:latin typeface="Arial Rounded"/>
                <a:ea typeface="Arial Rounded"/>
                <a:cs typeface="Arial Rounded"/>
                <a:sym typeface="Arial Rounded"/>
              </a:rPr>
              <a:t>: active sites may have to wait for failed coordinator to  recover.</a:t>
            </a:r>
            <a:endParaRPr b="1" sz="2200">
              <a:solidFill>
                <a:schemeClr val="dk1"/>
              </a:solidFill>
              <a:latin typeface="Arial Rounded"/>
              <a:ea typeface="Arial Rounded"/>
              <a:cs typeface="Arial Rounded"/>
              <a:sym typeface="Arial Rounde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5"/>
          <p:cNvSpPr txBox="1"/>
          <p:nvPr>
            <p:ph type="title"/>
          </p:nvPr>
        </p:nvSpPr>
        <p:spPr>
          <a:xfrm>
            <a:off x="838200" y="717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Handling of Network Partition Failure</a:t>
            </a:r>
            <a:endParaRPr/>
          </a:p>
        </p:txBody>
      </p:sp>
      <p:sp>
        <p:nvSpPr>
          <p:cNvPr id="467" name="Google Shape;467;p35"/>
          <p:cNvSpPr txBox="1"/>
          <p:nvPr>
            <p:ph idx="1" type="body"/>
          </p:nvPr>
        </p:nvSpPr>
        <p:spPr>
          <a:xfrm>
            <a:off x="430530" y="1338580"/>
            <a:ext cx="10923270" cy="5410200"/>
          </a:xfrm>
          <a:prstGeom prst="rect">
            <a:avLst/>
          </a:prstGeom>
          <a:noFill/>
          <a:ln>
            <a:noFill/>
          </a:ln>
        </p:spPr>
        <p:txBody>
          <a:bodyPr anchorCtr="0" anchor="t" bIns="45700" lIns="91425" spcFirstLastPara="1" rIns="91425" wrap="square" tIns="45700">
            <a:normAutofit fontScale="87500" lnSpcReduction="20000"/>
          </a:bodyPr>
          <a:lstStyle/>
          <a:p>
            <a:pPr indent="-228600" lvl="0" marL="228600" rtl="0" algn="l">
              <a:lnSpc>
                <a:spcPct val="90000"/>
              </a:lnSpc>
              <a:spcBef>
                <a:spcPts val="0"/>
              </a:spcBef>
              <a:spcAft>
                <a:spcPts val="0"/>
              </a:spcAft>
              <a:buClr>
                <a:schemeClr val="dk1"/>
              </a:buClr>
              <a:buSzPct val="100000"/>
              <a:buChar char="•"/>
            </a:pPr>
            <a:r>
              <a:rPr lang="en-US"/>
              <a:t>It refers to the failure of a network device that leads to the break of one network into two.</a:t>
            </a:r>
            <a:endParaRPr/>
          </a:p>
          <a:p>
            <a:pPr indent="-228600" lvl="0" marL="228600" rtl="0" algn="l">
              <a:lnSpc>
                <a:spcPct val="90000"/>
              </a:lnSpc>
              <a:spcBef>
                <a:spcPts val="1000"/>
              </a:spcBef>
              <a:spcAft>
                <a:spcPts val="0"/>
              </a:spcAft>
              <a:buClr>
                <a:schemeClr val="dk1"/>
              </a:buClr>
              <a:buSzPct val="100000"/>
              <a:buChar char="•"/>
            </a:pPr>
            <a:r>
              <a:rPr lang="en-US"/>
              <a:t>During the execution of a transaction T, if any Network Partition happens, then there are two possibilities of execution of transaction T.</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Possibility 1</a:t>
            </a:r>
            <a:endParaRPr/>
          </a:p>
          <a:p>
            <a:pPr indent="-228600" lvl="0" marL="228600" rtl="0" algn="l">
              <a:lnSpc>
                <a:spcPct val="90000"/>
              </a:lnSpc>
              <a:spcBef>
                <a:spcPts val="1000"/>
              </a:spcBef>
              <a:spcAft>
                <a:spcPts val="0"/>
              </a:spcAft>
              <a:buClr>
                <a:schemeClr val="dk1"/>
              </a:buClr>
              <a:buSzPct val="100000"/>
              <a:buChar char="•"/>
            </a:pPr>
            <a:r>
              <a:rPr lang="en-US"/>
              <a:t>The coordinator site and all the other participating sites may belong to one of the partitions. That is, no sites are disconnected from the other physically. For this case, we do not need to worry. The reason is, all the components executing transaction T are available in one partition. Hence, 2PC does not have anything to do with this failure.</a:t>
            </a:r>
            <a:endParaRPr/>
          </a:p>
          <a:p>
            <a:pPr indent="0" lvl="0" marL="0" rtl="0" algn="l">
              <a:lnSpc>
                <a:spcPct val="90000"/>
              </a:lnSpc>
              <a:spcBef>
                <a:spcPts val="1000"/>
              </a:spcBef>
              <a:spcAft>
                <a:spcPts val="0"/>
              </a:spcAft>
              <a:buClr>
                <a:schemeClr val="dk1"/>
              </a:buClr>
              <a:buSzPct val="100000"/>
              <a:buNone/>
            </a:pPr>
            <a:r>
              <a:rPr lang="en-US"/>
              <a:t>Possibility 2</a:t>
            </a:r>
            <a:endParaRPr/>
          </a:p>
          <a:p>
            <a:pPr indent="-228600" lvl="0" marL="228600" rtl="0" algn="l">
              <a:lnSpc>
                <a:spcPct val="90000"/>
              </a:lnSpc>
              <a:spcBef>
                <a:spcPts val="1000"/>
              </a:spcBef>
              <a:spcAft>
                <a:spcPts val="0"/>
              </a:spcAft>
              <a:buClr>
                <a:schemeClr val="dk1"/>
              </a:buClr>
              <a:buSzPct val="100000"/>
              <a:buChar char="•"/>
            </a:pPr>
            <a:r>
              <a:rPr lang="en-US"/>
              <a:t>The coordinator site and all the other participating sites may belong to several partitions. In this case, the Network Partition affects the execution.</a:t>
            </a:r>
            <a:endParaRPr/>
          </a:p>
          <a:p>
            <a:pPr indent="-228600" lvl="0" marL="228600" rtl="0" algn="l">
              <a:lnSpc>
                <a:spcPct val="90000"/>
              </a:lnSpc>
              <a:spcBef>
                <a:spcPts val="1000"/>
              </a:spcBef>
              <a:spcAft>
                <a:spcPts val="0"/>
              </a:spcAft>
              <a:buClr>
                <a:schemeClr val="dk1"/>
              </a:buClr>
              <a:buSzPct val="100000"/>
              <a:buChar char="•"/>
            </a:pPr>
            <a:r>
              <a:rPr lang="en-US"/>
              <a:t>Now, the sites that are in a partition which is disconnected from coordinator execute 2PC for handling coordinator failure.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6"/>
          <p:cNvSpPr txBox="1"/>
          <p:nvPr/>
        </p:nvSpPr>
        <p:spPr>
          <a:xfrm>
            <a:off x="1058375" y="533220"/>
            <a:ext cx="9540800" cy="6892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accent2"/>
              </a:buClr>
              <a:buSzPts val="4400"/>
              <a:buFont typeface="Calibri"/>
              <a:buNone/>
            </a:pPr>
            <a:r>
              <a:rPr b="1" lang="en-US" sz="4400">
                <a:solidFill>
                  <a:schemeClr val="accent2"/>
                </a:solidFill>
                <a:latin typeface="Calibri"/>
                <a:ea typeface="Calibri"/>
                <a:cs typeface="Calibri"/>
                <a:sym typeface="Calibri"/>
              </a:rPr>
              <a:t>Handling of Failures - Network Partition</a:t>
            </a:r>
            <a:endParaRPr/>
          </a:p>
        </p:txBody>
      </p:sp>
      <p:sp>
        <p:nvSpPr>
          <p:cNvPr id="473" name="Google Shape;473;p36"/>
          <p:cNvSpPr txBox="1"/>
          <p:nvPr/>
        </p:nvSpPr>
        <p:spPr>
          <a:xfrm>
            <a:off x="586413" y="1343054"/>
            <a:ext cx="10730516" cy="4588436"/>
          </a:xfrm>
          <a:prstGeom prst="rect">
            <a:avLst/>
          </a:prstGeom>
          <a:noFill/>
          <a:ln>
            <a:noFill/>
          </a:ln>
        </p:spPr>
        <p:txBody>
          <a:bodyPr anchorCtr="0" anchor="t" bIns="0" lIns="0" spcFirstLastPara="1" rIns="0" wrap="square" tIns="12700">
            <a:spAutoFit/>
          </a:bodyPr>
          <a:lstStyle/>
          <a:p>
            <a:pPr indent="-342900" lvl="0" marL="354965" marR="124460" rtl="0" algn="just">
              <a:lnSpc>
                <a:spcPct val="100000"/>
              </a:lnSpc>
              <a:spcBef>
                <a:spcPts val="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If the coordinator and all its participants remain in one partition, the  failure has no effect on the commit protocol.</a:t>
            </a:r>
            <a:endParaRPr b="1" sz="2200">
              <a:solidFill>
                <a:schemeClr val="dk1"/>
              </a:solidFill>
              <a:latin typeface="Arial Rounded"/>
              <a:ea typeface="Arial Rounded"/>
              <a:cs typeface="Arial Rounded"/>
              <a:sym typeface="Arial Rounded"/>
            </a:endParaRPr>
          </a:p>
          <a:p>
            <a:pPr indent="-342900" lvl="0" marL="355600" marR="0" rtl="0" algn="just">
              <a:lnSpc>
                <a:spcPct val="100000"/>
              </a:lnSpc>
              <a:spcBef>
                <a:spcPts val="765"/>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If the coordinator and its participants belong to several partitions:</a:t>
            </a:r>
            <a:endParaRPr b="1" sz="2200">
              <a:solidFill>
                <a:schemeClr val="dk1"/>
              </a:solidFill>
              <a:latin typeface="Arial Rounded"/>
              <a:ea typeface="Arial Rounded"/>
              <a:cs typeface="Arial Rounded"/>
              <a:sym typeface="Arial Rounded"/>
            </a:endParaRPr>
          </a:p>
          <a:p>
            <a:pPr indent="-285750" lvl="1" marL="755015" marR="5080" rtl="0" algn="just">
              <a:lnSpc>
                <a:spcPct val="100000"/>
              </a:lnSpc>
              <a:spcBef>
                <a:spcPts val="770"/>
              </a:spcBef>
              <a:spcAft>
                <a:spcPts val="0"/>
              </a:spcAft>
              <a:buClr>
                <a:srgbClr val="FF9A00"/>
              </a:buClr>
              <a:buSzPts val="1711"/>
              <a:buFont typeface="Noto Sans Symbols"/>
              <a:buChar char="●"/>
            </a:pPr>
            <a:r>
              <a:rPr b="1" i="0" lang="en-US" sz="2200" u="none" cap="none" strike="noStrike">
                <a:solidFill>
                  <a:schemeClr val="dk1"/>
                </a:solidFill>
                <a:latin typeface="Arial Rounded"/>
                <a:ea typeface="Arial Rounded"/>
                <a:cs typeface="Arial Rounded"/>
                <a:sym typeface="Arial Rounded"/>
              </a:rPr>
              <a:t>Sites that are not in the partition containing the coordinator think  the coordinator has failed, and execute the protocol to deal with  failure of the coordinator.</a:t>
            </a:r>
            <a:endParaRPr b="1" i="0" sz="2200" u="none" cap="none" strike="noStrike">
              <a:solidFill>
                <a:schemeClr val="dk1"/>
              </a:solidFill>
              <a:latin typeface="Arial Rounded"/>
              <a:ea typeface="Arial Rounded"/>
              <a:cs typeface="Arial Rounded"/>
              <a:sym typeface="Arial Rounded"/>
            </a:endParaRPr>
          </a:p>
          <a:p>
            <a:pPr indent="-228600" lvl="0" marL="1098550" marR="130810" rtl="0" algn="just">
              <a:lnSpc>
                <a:spcPct val="100000"/>
              </a:lnSpc>
              <a:spcBef>
                <a:spcPts val="765"/>
              </a:spcBef>
              <a:spcAft>
                <a:spcPts val="0"/>
              </a:spcAft>
              <a:buNone/>
            </a:pPr>
            <a:r>
              <a:rPr b="1" lang="en-US" sz="2200">
                <a:solidFill>
                  <a:srgbClr val="33CC33"/>
                </a:solidFill>
                <a:latin typeface="Arial Rounded"/>
                <a:ea typeface="Arial Rounded"/>
                <a:cs typeface="Arial Rounded"/>
                <a:sym typeface="Arial Rounded"/>
              </a:rPr>
              <a:t> </a:t>
            </a:r>
            <a:r>
              <a:rPr b="1" lang="en-US" sz="2200">
                <a:solidFill>
                  <a:schemeClr val="dk1"/>
                </a:solidFill>
                <a:latin typeface="Arial Rounded"/>
                <a:ea typeface="Arial Rounded"/>
                <a:cs typeface="Arial Rounded"/>
                <a:sym typeface="Arial Rounded"/>
              </a:rPr>
              <a:t>No harm results, but sites may still have to wait for decision  from coordinator.</a:t>
            </a:r>
            <a:endParaRPr b="1" sz="2200">
              <a:solidFill>
                <a:schemeClr val="dk1"/>
              </a:solidFill>
              <a:latin typeface="Arial Rounded"/>
              <a:ea typeface="Arial Rounded"/>
              <a:cs typeface="Arial Rounded"/>
              <a:sym typeface="Arial Rounded"/>
            </a:endParaRPr>
          </a:p>
          <a:p>
            <a:pPr indent="-342900" lvl="0" marL="355600" marR="61594" rtl="0" algn="l">
              <a:lnSpc>
                <a:spcPct val="100000"/>
              </a:lnSpc>
              <a:spcBef>
                <a:spcPts val="770"/>
              </a:spcBef>
              <a:spcAft>
                <a:spcPts val="0"/>
              </a:spcAft>
              <a:buClr>
                <a:srgbClr val="CC3300"/>
              </a:buClr>
              <a:buSzPts val="1956"/>
              <a:buFont typeface="Noto Sans Symbols"/>
              <a:buChar char="■"/>
            </a:pPr>
            <a:r>
              <a:rPr b="1" lang="en-US" sz="2200">
                <a:solidFill>
                  <a:schemeClr val="dk1"/>
                </a:solidFill>
                <a:latin typeface="Arial Rounded"/>
                <a:ea typeface="Arial Rounded"/>
                <a:cs typeface="Arial Rounded"/>
                <a:sym typeface="Arial Rounded"/>
              </a:rPr>
              <a:t>The coordinator and the sites are in the same partition as the  coordinator think that the sites in the other partition have failed, and  follow the usual commit protocol.</a:t>
            </a:r>
            <a:endParaRPr b="1" sz="2200">
              <a:solidFill>
                <a:schemeClr val="dk1"/>
              </a:solidFill>
              <a:latin typeface="Arial Rounded"/>
              <a:ea typeface="Arial Rounded"/>
              <a:cs typeface="Arial Rounded"/>
              <a:sym typeface="Arial Rounded"/>
            </a:endParaRPr>
          </a:p>
          <a:p>
            <a:pPr indent="0" lvl="0" marL="869950" marR="0" rtl="0" algn="l">
              <a:lnSpc>
                <a:spcPct val="100000"/>
              </a:lnSpc>
              <a:spcBef>
                <a:spcPts val="770"/>
              </a:spcBef>
              <a:spcAft>
                <a:spcPts val="0"/>
              </a:spcAft>
              <a:buNone/>
            </a:pPr>
            <a:r>
              <a:rPr b="1" lang="en-US" sz="2200">
                <a:solidFill>
                  <a:srgbClr val="33CC33"/>
                </a:solidFill>
                <a:latin typeface="Arial Rounded"/>
                <a:ea typeface="Arial Rounded"/>
                <a:cs typeface="Arial Rounded"/>
                <a:sym typeface="Arial Rounded"/>
              </a:rPr>
              <a:t> </a:t>
            </a:r>
            <a:r>
              <a:rPr b="1" lang="en-US" sz="2200">
                <a:solidFill>
                  <a:schemeClr val="dk1"/>
                </a:solidFill>
                <a:latin typeface="Arial Rounded"/>
                <a:ea typeface="Arial Rounded"/>
                <a:cs typeface="Arial Rounded"/>
                <a:sym typeface="Arial Rounded"/>
              </a:rPr>
              <a:t>Again, no harm results</a:t>
            </a:r>
            <a:endParaRPr b="1" sz="2200">
              <a:solidFill>
                <a:schemeClr val="dk1"/>
              </a:solidFill>
              <a:latin typeface="Arial Rounded"/>
              <a:ea typeface="Arial Rounded"/>
              <a:cs typeface="Arial Rounded"/>
              <a:sym typeface="Arial Rounde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7"/>
          <p:cNvSpPr txBox="1"/>
          <p:nvPr/>
        </p:nvSpPr>
        <p:spPr>
          <a:xfrm>
            <a:off x="1138015" y="363333"/>
            <a:ext cx="10338756" cy="689291"/>
          </a:xfrm>
          <a:prstGeom prst="rect">
            <a:avLst/>
          </a:prstGeom>
          <a:noFill/>
          <a:ln>
            <a:noFill/>
          </a:ln>
        </p:spPr>
        <p:txBody>
          <a:bodyPr anchorCtr="0" anchor="t" bIns="0" lIns="0" spcFirstLastPara="1" rIns="0" wrap="square" tIns="12050">
            <a:spAutoFit/>
          </a:bodyPr>
          <a:lstStyle/>
          <a:p>
            <a:pPr indent="0" lvl="0" marL="12700" marR="0" rtl="0" algn="ctr">
              <a:spcBef>
                <a:spcPts val="0"/>
              </a:spcBef>
              <a:spcAft>
                <a:spcPts val="0"/>
              </a:spcAft>
              <a:buNone/>
            </a:pPr>
            <a:r>
              <a:rPr b="1" i="0" lang="en-US" sz="4400">
                <a:solidFill>
                  <a:schemeClr val="accent2"/>
                </a:solidFill>
                <a:latin typeface="Calibri"/>
                <a:ea typeface="Calibri"/>
                <a:cs typeface="Calibri"/>
                <a:sym typeface="Calibri"/>
              </a:rPr>
              <a:t>Recovery and Concurrency Control</a:t>
            </a:r>
            <a:endParaRPr/>
          </a:p>
        </p:txBody>
      </p:sp>
      <p:sp>
        <p:nvSpPr>
          <p:cNvPr id="479" name="Google Shape;479;p37"/>
          <p:cNvSpPr txBox="1"/>
          <p:nvPr/>
        </p:nvSpPr>
        <p:spPr>
          <a:xfrm>
            <a:off x="376152" y="1148457"/>
            <a:ext cx="11100619" cy="525528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CC3300"/>
              </a:buClr>
              <a:buSzPts val="1867"/>
              <a:buFont typeface="Noto Sans Symbols"/>
              <a:buChar char="■"/>
            </a:pPr>
            <a:r>
              <a:rPr b="1" lang="en-US" sz="2100">
                <a:solidFill>
                  <a:srgbClr val="CC3300"/>
                </a:solidFill>
                <a:latin typeface="Arial Rounded"/>
                <a:ea typeface="Arial Rounded"/>
                <a:cs typeface="Arial Rounded"/>
                <a:sym typeface="Arial Rounded"/>
              </a:rPr>
              <a:t>In-doubt transactions </a:t>
            </a:r>
            <a:r>
              <a:rPr b="1" lang="en-US" sz="2100">
                <a:solidFill>
                  <a:schemeClr val="dk1"/>
                </a:solidFill>
                <a:latin typeface="Arial Rounded"/>
                <a:ea typeface="Arial Rounded"/>
                <a:cs typeface="Arial Rounded"/>
                <a:sym typeface="Arial Rounded"/>
              </a:rPr>
              <a:t>have a &lt;ready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&gt;, but neither a &lt;commit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&gt;, nor an &lt;abort </a:t>
            </a:r>
            <a:r>
              <a:rPr b="1" i="1" lang="en-US" sz="2100">
                <a:solidFill>
                  <a:schemeClr val="dk1"/>
                </a:solidFill>
                <a:latin typeface="Arial Rounded"/>
                <a:ea typeface="Arial Rounded"/>
                <a:cs typeface="Arial Rounded"/>
                <a:sym typeface="Arial Rounded"/>
              </a:rPr>
              <a:t>T</a:t>
            </a:r>
            <a:r>
              <a:rPr b="1" lang="en-US" sz="2100">
                <a:solidFill>
                  <a:schemeClr val="dk1"/>
                </a:solidFill>
                <a:latin typeface="Arial Rounded"/>
                <a:ea typeface="Arial Rounded"/>
                <a:cs typeface="Arial Rounded"/>
                <a:sym typeface="Arial Rounded"/>
              </a:rPr>
              <a:t>&gt; log record.</a:t>
            </a:r>
            <a:endParaRPr/>
          </a:p>
          <a:p>
            <a:pPr indent="-342900" lvl="0" marL="354965" marR="168910" rtl="0" algn="l">
              <a:lnSpc>
                <a:spcPct val="100000"/>
              </a:lnSpc>
              <a:spcBef>
                <a:spcPts val="76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The recovering site must determine the commit-abort status of such  transactions by contacting other sites; this can slow and potentially  block recovery.</a:t>
            </a:r>
            <a:endParaRPr b="1" sz="2100">
              <a:solidFill>
                <a:schemeClr val="dk1"/>
              </a:solidFill>
              <a:latin typeface="Arial Rounded"/>
              <a:ea typeface="Arial Rounded"/>
              <a:cs typeface="Arial Rounded"/>
              <a:sym typeface="Arial Rounded"/>
            </a:endParaRPr>
          </a:p>
          <a:p>
            <a:pPr indent="-224367" lvl="0" marL="354965" marR="168910" rtl="0" algn="l">
              <a:lnSpc>
                <a:spcPct val="100000"/>
              </a:lnSpc>
              <a:spcBef>
                <a:spcPts val="760"/>
              </a:spcBef>
              <a:spcAft>
                <a:spcPts val="0"/>
              </a:spcAft>
              <a:buClr>
                <a:srgbClr val="CC3300"/>
              </a:buClr>
              <a:buSzPts val="1867"/>
              <a:buFont typeface="Noto Sans Symbols"/>
              <a:buNone/>
            </a:pPr>
            <a:r>
              <a:t/>
            </a:r>
            <a:endParaRPr b="1" sz="2100">
              <a:solidFill>
                <a:schemeClr val="dk1"/>
              </a:solidFill>
              <a:latin typeface="Arial Rounded"/>
              <a:ea typeface="Arial Rounded"/>
              <a:cs typeface="Arial Rounded"/>
              <a:sym typeface="Arial Rounded"/>
            </a:endParaRPr>
          </a:p>
          <a:p>
            <a:pPr indent="-342900" lvl="0" marL="355600" marR="0" rtl="0" algn="l">
              <a:lnSpc>
                <a:spcPct val="100000"/>
              </a:lnSpc>
              <a:spcBef>
                <a:spcPts val="775"/>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Recovery algorithms can note lock information in the log.</a:t>
            </a:r>
            <a:endParaRPr b="1" sz="2100">
              <a:solidFill>
                <a:schemeClr val="dk1"/>
              </a:solidFill>
              <a:latin typeface="Arial Rounded"/>
              <a:ea typeface="Arial Rounded"/>
              <a:cs typeface="Arial Rounded"/>
              <a:sym typeface="Arial Rounded"/>
            </a:endParaRPr>
          </a:p>
          <a:p>
            <a:pPr indent="-286385" lvl="1" marL="755650" marR="5080" rtl="0" algn="l">
              <a:lnSpc>
                <a:spcPct val="100000"/>
              </a:lnSpc>
              <a:spcBef>
                <a:spcPts val="760"/>
              </a:spcBef>
              <a:spcAft>
                <a:spcPts val="0"/>
              </a:spcAft>
              <a:buClr>
                <a:srgbClr val="FF9A00"/>
              </a:buClr>
              <a:buSzPts val="1633"/>
              <a:buFont typeface="Noto Sans Symbols"/>
              <a:buChar char="●"/>
            </a:pPr>
            <a:r>
              <a:rPr b="1" i="0" lang="en-US" sz="2100" u="none" cap="none" strike="noStrike">
                <a:solidFill>
                  <a:schemeClr val="dk1"/>
                </a:solidFill>
                <a:latin typeface="Arial Rounded"/>
                <a:ea typeface="Arial Rounded"/>
                <a:cs typeface="Arial Rounded"/>
                <a:sym typeface="Arial Rounded"/>
              </a:rPr>
              <a:t>Instead of &lt;ready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&gt;, write out &lt;ready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 </a:t>
            </a:r>
            <a:r>
              <a:rPr b="1" i="1" lang="en-US" sz="2100" u="none" cap="none" strike="noStrike">
                <a:solidFill>
                  <a:schemeClr val="dk1"/>
                </a:solidFill>
                <a:latin typeface="Arial Rounded"/>
                <a:ea typeface="Arial Rounded"/>
                <a:cs typeface="Arial Rounded"/>
                <a:sym typeface="Arial Rounded"/>
              </a:rPr>
              <a:t>L</a:t>
            </a:r>
            <a:r>
              <a:rPr b="1" i="0" lang="en-US" sz="2100" u="none" cap="none" strike="noStrike">
                <a:solidFill>
                  <a:schemeClr val="dk1"/>
                </a:solidFill>
                <a:latin typeface="Arial Rounded"/>
                <a:ea typeface="Arial Rounded"/>
                <a:cs typeface="Arial Rounded"/>
                <a:sym typeface="Arial Rounded"/>
              </a:rPr>
              <a:t>&gt; </a:t>
            </a:r>
            <a:r>
              <a:rPr b="1" i="1" lang="en-US" sz="2100" u="none" cap="none" strike="noStrike">
                <a:solidFill>
                  <a:schemeClr val="dk1"/>
                </a:solidFill>
                <a:latin typeface="Arial Rounded"/>
                <a:ea typeface="Arial Rounded"/>
                <a:cs typeface="Arial Rounded"/>
                <a:sym typeface="Arial Rounded"/>
              </a:rPr>
              <a:t>L </a:t>
            </a:r>
            <a:r>
              <a:rPr b="1" i="0" lang="en-US" sz="2100" u="none" cap="none" strike="noStrike">
                <a:solidFill>
                  <a:schemeClr val="dk1"/>
                </a:solidFill>
                <a:latin typeface="Arial Rounded"/>
                <a:ea typeface="Arial Rounded"/>
                <a:cs typeface="Arial Rounded"/>
                <a:sym typeface="Arial Rounded"/>
              </a:rPr>
              <a:t>= list of locks held  by </a:t>
            </a:r>
            <a:r>
              <a:rPr b="1" i="1" lang="en-US" sz="2100" u="none" cap="none" strike="noStrike">
                <a:solidFill>
                  <a:schemeClr val="dk1"/>
                </a:solidFill>
                <a:latin typeface="Arial Rounded"/>
                <a:ea typeface="Arial Rounded"/>
                <a:cs typeface="Arial Rounded"/>
                <a:sym typeface="Arial Rounded"/>
              </a:rPr>
              <a:t>T </a:t>
            </a:r>
            <a:r>
              <a:rPr b="1" i="0" lang="en-US" sz="2100" u="none" cap="none" strike="noStrike">
                <a:solidFill>
                  <a:schemeClr val="dk1"/>
                </a:solidFill>
                <a:latin typeface="Arial Rounded"/>
                <a:ea typeface="Arial Rounded"/>
                <a:cs typeface="Arial Rounded"/>
                <a:sym typeface="Arial Rounded"/>
              </a:rPr>
              <a:t>when the log is written (read locks can be omitted).</a:t>
            </a:r>
            <a:endParaRPr/>
          </a:p>
          <a:p>
            <a:pPr indent="-285750" lvl="1" marL="755650" marR="0" rtl="0" algn="l">
              <a:lnSpc>
                <a:spcPct val="100000"/>
              </a:lnSpc>
              <a:spcBef>
                <a:spcPts val="770"/>
              </a:spcBef>
              <a:spcAft>
                <a:spcPts val="0"/>
              </a:spcAft>
              <a:buClr>
                <a:srgbClr val="FF9A00"/>
              </a:buClr>
              <a:buSzPts val="1633"/>
              <a:buFont typeface="Noto Sans Symbols"/>
              <a:buChar char="●"/>
            </a:pPr>
            <a:r>
              <a:rPr b="1" i="0" lang="en-US" sz="2100" u="none" cap="none" strike="noStrike">
                <a:solidFill>
                  <a:schemeClr val="dk1"/>
                </a:solidFill>
                <a:latin typeface="Arial Rounded"/>
                <a:ea typeface="Arial Rounded"/>
                <a:cs typeface="Arial Rounded"/>
                <a:sym typeface="Arial Rounded"/>
              </a:rPr>
              <a:t>For every in-doubt transaction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 all the locks noted in the &lt;ready </a:t>
            </a:r>
            <a:r>
              <a:rPr b="1" i="1" lang="en-US" sz="2100" u="none" cap="none" strike="noStrike">
                <a:solidFill>
                  <a:schemeClr val="dk1"/>
                </a:solidFill>
                <a:latin typeface="Arial Rounded"/>
                <a:ea typeface="Arial Rounded"/>
                <a:cs typeface="Arial Rounded"/>
                <a:sym typeface="Arial Rounded"/>
              </a:rPr>
              <a:t>T</a:t>
            </a:r>
            <a:r>
              <a:rPr b="1" i="0" lang="en-US" sz="2100" u="none" cap="none" strike="noStrike">
                <a:solidFill>
                  <a:schemeClr val="dk1"/>
                </a:solidFill>
                <a:latin typeface="Arial Rounded"/>
                <a:ea typeface="Arial Rounded"/>
                <a:cs typeface="Arial Rounded"/>
                <a:sym typeface="Arial Rounded"/>
              </a:rPr>
              <a:t>, </a:t>
            </a:r>
            <a:r>
              <a:rPr b="1" i="1" lang="en-US" sz="2100" u="none" cap="none" strike="noStrike">
                <a:solidFill>
                  <a:schemeClr val="dk1"/>
                </a:solidFill>
                <a:latin typeface="Arial Rounded"/>
                <a:ea typeface="Arial Rounded"/>
                <a:cs typeface="Arial Rounded"/>
                <a:sym typeface="Arial Rounded"/>
              </a:rPr>
              <a:t>L</a:t>
            </a:r>
            <a:r>
              <a:rPr b="1" i="0" lang="en-US" sz="2100" u="none" cap="none" strike="noStrike">
                <a:solidFill>
                  <a:schemeClr val="dk1"/>
                </a:solidFill>
                <a:latin typeface="Arial Rounded"/>
                <a:ea typeface="Arial Rounded"/>
                <a:cs typeface="Arial Rounded"/>
                <a:sym typeface="Arial Rounded"/>
              </a:rPr>
              <a:t>&gt; log record are reacquired.</a:t>
            </a:r>
            <a:endParaRPr b="1" i="0" sz="2100" u="none" cap="none" strike="noStrike">
              <a:solidFill>
                <a:schemeClr val="dk1"/>
              </a:solidFill>
              <a:latin typeface="Arial Rounded"/>
              <a:ea typeface="Arial Rounded"/>
              <a:cs typeface="Arial Rounded"/>
              <a:sym typeface="Arial Rounded"/>
            </a:endParaRPr>
          </a:p>
          <a:p>
            <a:pPr indent="-182034" lvl="1" marL="755650" marR="0" rtl="0" algn="l">
              <a:lnSpc>
                <a:spcPct val="100000"/>
              </a:lnSpc>
              <a:spcBef>
                <a:spcPts val="770"/>
              </a:spcBef>
              <a:spcAft>
                <a:spcPts val="0"/>
              </a:spcAft>
              <a:buClr>
                <a:srgbClr val="FF9A00"/>
              </a:buClr>
              <a:buSzPts val="1633"/>
              <a:buFont typeface="Noto Sans Symbols"/>
              <a:buNone/>
            </a:pPr>
            <a:r>
              <a:t/>
            </a:r>
            <a:endParaRPr b="1" i="0" sz="2100" u="none" cap="none" strike="noStrike">
              <a:solidFill>
                <a:schemeClr val="dk1"/>
              </a:solidFill>
              <a:latin typeface="Arial Rounded"/>
              <a:ea typeface="Arial Rounded"/>
              <a:cs typeface="Arial Rounded"/>
              <a:sym typeface="Arial Rounded"/>
            </a:endParaRPr>
          </a:p>
          <a:p>
            <a:pPr indent="-342900" lvl="0" marL="355600" marR="67945" rtl="0" algn="l">
              <a:lnSpc>
                <a:spcPct val="100000"/>
              </a:lnSpc>
              <a:spcBef>
                <a:spcPts val="77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After lock reacquisition, transaction processing can resume; the  commit or rollback of in-doubt transactions is performed concurrently  with the execution of new transactions.</a:t>
            </a:r>
            <a:endParaRPr b="1" sz="2100">
              <a:solidFill>
                <a:schemeClr val="dk1"/>
              </a:solidFill>
              <a:latin typeface="Arial Rounded"/>
              <a:ea typeface="Arial Rounded"/>
              <a:cs typeface="Arial Rounded"/>
              <a:sym typeface="Arial Rounde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8"/>
          <p:cNvSpPr txBox="1"/>
          <p:nvPr/>
        </p:nvSpPr>
        <p:spPr>
          <a:xfrm>
            <a:off x="2108169" y="-78025"/>
            <a:ext cx="7743900" cy="689400"/>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None/>
            </a:pPr>
            <a:r>
              <a:rPr b="1" i="0" lang="en-US" sz="4400">
                <a:solidFill>
                  <a:schemeClr val="accent2"/>
                </a:solidFill>
                <a:latin typeface="Calibri"/>
                <a:ea typeface="Calibri"/>
                <a:cs typeface="Calibri"/>
                <a:sym typeface="Calibri"/>
              </a:rPr>
              <a:t>Concurrency Control</a:t>
            </a:r>
            <a:endParaRPr/>
          </a:p>
        </p:txBody>
      </p:sp>
      <p:sp>
        <p:nvSpPr>
          <p:cNvPr id="485" name="Google Shape;485;p38"/>
          <p:cNvSpPr txBox="1"/>
          <p:nvPr/>
        </p:nvSpPr>
        <p:spPr>
          <a:xfrm>
            <a:off x="653547" y="535066"/>
            <a:ext cx="11115600" cy="2023500"/>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Modify concurrency control schemes for use in distributed environment.</a:t>
            </a:r>
            <a:endParaRPr b="1" sz="2100">
              <a:solidFill>
                <a:schemeClr val="dk1"/>
              </a:solidFill>
              <a:latin typeface="Arial Rounded"/>
              <a:ea typeface="Arial Rounded"/>
              <a:cs typeface="Arial Rounded"/>
              <a:sym typeface="Arial Rounded"/>
            </a:endParaRPr>
          </a:p>
          <a:p>
            <a:pPr indent="-342900" lvl="0" marL="355600" marR="450850" rtl="0" algn="l">
              <a:lnSpc>
                <a:spcPct val="100000"/>
              </a:lnSpc>
              <a:spcBef>
                <a:spcPts val="77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We assume that each site participates in the execution of a commit  protocol to ensure global transaction automicity.</a:t>
            </a:r>
            <a:endParaRPr b="1" sz="2100">
              <a:solidFill>
                <a:schemeClr val="dk1"/>
              </a:solidFill>
              <a:latin typeface="Arial Rounded"/>
              <a:ea typeface="Arial Rounded"/>
              <a:cs typeface="Arial Rounded"/>
              <a:sym typeface="Arial Rounded"/>
            </a:endParaRPr>
          </a:p>
          <a:p>
            <a:pPr indent="-342900" lvl="0" marL="355600" marR="0" rtl="0" algn="l">
              <a:lnSpc>
                <a:spcPct val="100000"/>
              </a:lnSpc>
              <a:spcBef>
                <a:spcPts val="770"/>
              </a:spcBef>
              <a:spcAft>
                <a:spcPts val="0"/>
              </a:spcAft>
              <a:buClr>
                <a:srgbClr val="CC3300"/>
              </a:buClr>
              <a:buSzPts val="1867"/>
              <a:buFont typeface="Noto Sans Symbols"/>
              <a:buChar char="■"/>
            </a:pPr>
            <a:r>
              <a:rPr b="1" lang="en-US" sz="2100">
                <a:solidFill>
                  <a:schemeClr val="dk1"/>
                </a:solidFill>
                <a:latin typeface="Arial Rounded"/>
                <a:ea typeface="Arial Rounded"/>
                <a:cs typeface="Arial Rounded"/>
                <a:sym typeface="Arial Rounded"/>
              </a:rPr>
              <a:t>We assume all replicas of any item are updated</a:t>
            </a:r>
            <a:endParaRPr b="1" sz="2100">
              <a:solidFill>
                <a:schemeClr val="dk1"/>
              </a:solidFill>
              <a:latin typeface="Arial Rounded"/>
              <a:ea typeface="Arial Rounded"/>
              <a:cs typeface="Arial Rounded"/>
              <a:sym typeface="Arial Rounded"/>
            </a:endParaRPr>
          </a:p>
          <a:p>
            <a:pPr indent="0" lvl="0" marL="12700" marR="0" rtl="0" algn="l">
              <a:lnSpc>
                <a:spcPct val="100000"/>
              </a:lnSpc>
              <a:spcBef>
                <a:spcPts val="770"/>
              </a:spcBef>
              <a:spcAft>
                <a:spcPts val="0"/>
              </a:spcAft>
              <a:buNone/>
            </a:pPr>
            <a:r>
              <a:t/>
            </a:r>
            <a:endParaRPr b="1" sz="2100">
              <a:solidFill>
                <a:schemeClr val="dk1"/>
              </a:solidFill>
              <a:latin typeface="Arial Rounded"/>
              <a:ea typeface="Arial Rounded"/>
              <a:cs typeface="Arial Rounded"/>
              <a:sym typeface="Arial Rounded"/>
            </a:endParaRPr>
          </a:p>
        </p:txBody>
      </p:sp>
      <p:sp>
        <p:nvSpPr>
          <p:cNvPr id="486" name="Google Shape;486;p38"/>
          <p:cNvSpPr txBox="1"/>
          <p:nvPr/>
        </p:nvSpPr>
        <p:spPr>
          <a:xfrm>
            <a:off x="155250" y="2273975"/>
            <a:ext cx="11949900" cy="49191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1" lang="en-US" sz="2400">
                <a:solidFill>
                  <a:srgbClr val="7030A0"/>
                </a:solidFill>
                <a:latin typeface="Arial Rounded"/>
                <a:ea typeface="Arial Rounded"/>
                <a:cs typeface="Arial Rounded"/>
                <a:sym typeface="Arial Rounded"/>
              </a:rPr>
              <a:t>Single-Lock-Manager Approach</a:t>
            </a:r>
            <a:endParaRPr/>
          </a:p>
          <a:p>
            <a:pPr indent="0" lvl="0" marL="38100" marR="0" rtl="0" algn="l">
              <a:lnSpc>
                <a:spcPct val="100000"/>
              </a:lnSpc>
              <a:spcBef>
                <a:spcPts val="100"/>
              </a:spcBef>
              <a:spcAft>
                <a:spcPts val="0"/>
              </a:spcAft>
              <a:buNone/>
            </a:pPr>
            <a:r>
              <a:t/>
            </a:r>
            <a:endParaRPr b="1" sz="1400">
              <a:solidFill>
                <a:srgbClr val="7030A0"/>
              </a:solidFill>
              <a:latin typeface="Arial Rounded"/>
              <a:ea typeface="Arial Rounded"/>
              <a:cs typeface="Arial Rounded"/>
              <a:sym typeface="Arial Rounded"/>
            </a:endParaRPr>
          </a:p>
          <a:p>
            <a:pPr indent="-342900" lvl="0" marL="381000" marR="0" rtl="0" algn="l">
              <a:lnSpc>
                <a:spcPct val="100000"/>
              </a:lnSpc>
              <a:spcBef>
                <a:spcPts val="10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System maintains a </a:t>
            </a:r>
            <a:r>
              <a:rPr b="1" i="1" lang="en-US" sz="2000">
                <a:solidFill>
                  <a:schemeClr val="dk1"/>
                </a:solidFill>
                <a:latin typeface="Arial Rounded"/>
                <a:ea typeface="Arial Rounded"/>
                <a:cs typeface="Arial Rounded"/>
                <a:sym typeface="Arial Rounded"/>
              </a:rPr>
              <a:t>single </a:t>
            </a:r>
            <a:r>
              <a:rPr b="1" lang="en-US" sz="2000">
                <a:solidFill>
                  <a:schemeClr val="dk1"/>
                </a:solidFill>
                <a:latin typeface="Arial Rounded"/>
                <a:ea typeface="Arial Rounded"/>
                <a:cs typeface="Arial Rounded"/>
                <a:sym typeface="Arial Rounded"/>
              </a:rPr>
              <a:t>lock manager that resides in a </a:t>
            </a:r>
            <a:r>
              <a:rPr b="1" i="1" lang="en-US" sz="2000">
                <a:solidFill>
                  <a:schemeClr val="dk1"/>
                </a:solidFill>
                <a:latin typeface="Arial Rounded"/>
                <a:ea typeface="Arial Rounded"/>
                <a:cs typeface="Arial Rounded"/>
                <a:sym typeface="Arial Rounded"/>
              </a:rPr>
              <a:t>single </a:t>
            </a:r>
            <a:r>
              <a:rPr b="1" lang="en-US" sz="2000">
                <a:solidFill>
                  <a:schemeClr val="dk1"/>
                </a:solidFill>
                <a:latin typeface="Arial Rounded"/>
                <a:ea typeface="Arial Rounded"/>
                <a:cs typeface="Arial Rounded"/>
                <a:sym typeface="Arial Rounded"/>
              </a:rPr>
              <a:t>chosen site, say S</a:t>
            </a:r>
            <a:r>
              <a:rPr b="1" baseline="-25000" i="1" lang="en-US" sz="2000">
                <a:solidFill>
                  <a:schemeClr val="dk1"/>
                </a:solidFill>
                <a:latin typeface="Arial Rounded"/>
                <a:ea typeface="Arial Rounded"/>
                <a:cs typeface="Arial Rounded"/>
                <a:sym typeface="Arial Rounded"/>
              </a:rPr>
              <a:t>i</a:t>
            </a:r>
            <a:endParaRPr b="1" baseline="-25000" sz="2000">
              <a:solidFill>
                <a:schemeClr val="dk1"/>
              </a:solidFill>
              <a:latin typeface="Arial Rounded"/>
              <a:ea typeface="Arial Rounded"/>
              <a:cs typeface="Arial Rounded"/>
              <a:sym typeface="Arial Rounded"/>
            </a:endParaRPr>
          </a:p>
          <a:p>
            <a:pPr indent="-342900" lvl="0" marL="381000" marR="30480" rtl="0" algn="l">
              <a:lnSpc>
                <a:spcPct val="100000"/>
              </a:lnSpc>
              <a:spcBef>
                <a:spcPts val="76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When a transaction needs to lock a data item, it sends a lock request  to S</a:t>
            </a:r>
            <a:r>
              <a:rPr b="1" baseline="-25000" i="1" lang="en-US" sz="2000">
                <a:solidFill>
                  <a:schemeClr val="dk1"/>
                </a:solidFill>
                <a:latin typeface="Arial Rounded"/>
                <a:ea typeface="Arial Rounded"/>
                <a:cs typeface="Arial Rounded"/>
                <a:sym typeface="Arial Rounded"/>
              </a:rPr>
              <a:t>i </a:t>
            </a:r>
            <a:r>
              <a:rPr b="1" lang="en-US" sz="2000">
                <a:solidFill>
                  <a:schemeClr val="dk1"/>
                </a:solidFill>
                <a:latin typeface="Arial Rounded"/>
                <a:ea typeface="Arial Rounded"/>
                <a:cs typeface="Arial Rounded"/>
                <a:sym typeface="Arial Rounded"/>
              </a:rPr>
              <a:t>and lock manager determines whether the lock can be granted  immediately</a:t>
            </a:r>
            <a:endParaRPr b="1" sz="2000">
              <a:solidFill>
                <a:schemeClr val="dk1"/>
              </a:solidFill>
              <a:latin typeface="Arial Rounded"/>
              <a:ea typeface="Arial Rounded"/>
              <a:cs typeface="Arial Rounded"/>
              <a:sym typeface="Arial Rounded"/>
            </a:endParaRPr>
          </a:p>
          <a:p>
            <a:pPr indent="-285750" lvl="1" marL="781050" marR="151130" rtl="0" algn="l">
              <a:lnSpc>
                <a:spcPct val="100000"/>
              </a:lnSpc>
              <a:spcBef>
                <a:spcPts val="770"/>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If yes, lock manager sends a message to the site which initiated  the request</a:t>
            </a:r>
            <a:endParaRPr b="1" i="0" sz="2000" u="none" cap="none" strike="noStrike">
              <a:solidFill>
                <a:schemeClr val="dk1"/>
              </a:solidFill>
              <a:latin typeface="Arial Rounded"/>
              <a:ea typeface="Arial Rounded"/>
              <a:cs typeface="Arial Rounded"/>
              <a:sym typeface="Arial Rounded"/>
            </a:endParaRPr>
          </a:p>
          <a:p>
            <a:pPr indent="-285750" lvl="1" marL="781050" marR="277495" rtl="0" algn="l">
              <a:lnSpc>
                <a:spcPct val="100000"/>
              </a:lnSpc>
              <a:spcBef>
                <a:spcPts val="765"/>
              </a:spcBef>
              <a:spcAft>
                <a:spcPts val="0"/>
              </a:spcAft>
              <a:buClr>
                <a:srgbClr val="FF9A00"/>
              </a:buClr>
              <a:buSzPts val="1556"/>
              <a:buFont typeface="Noto Sans Symbols"/>
              <a:buChar char="●"/>
            </a:pPr>
            <a:r>
              <a:rPr b="1" i="0" lang="en-US" sz="2000" u="none" cap="none" strike="noStrike">
                <a:solidFill>
                  <a:schemeClr val="dk1"/>
                </a:solidFill>
                <a:latin typeface="Arial Rounded"/>
                <a:ea typeface="Arial Rounded"/>
                <a:cs typeface="Arial Rounded"/>
                <a:sym typeface="Arial Rounded"/>
              </a:rPr>
              <a:t>If no, request is delayed until it can be granted, at which time a  message is sent to the initiating site</a:t>
            </a:r>
            <a:endParaRPr b="1" i="0" sz="2000" u="none" cap="none" strike="noStrike">
              <a:solidFill>
                <a:schemeClr val="dk1"/>
              </a:solidFill>
              <a:latin typeface="Arial Rounded"/>
              <a:ea typeface="Arial Rounded"/>
              <a:cs typeface="Arial Rounded"/>
              <a:sym typeface="Arial Rounded"/>
            </a:endParaRPr>
          </a:p>
          <a:p>
            <a:pPr indent="-342900" lvl="0" marL="355600" marR="5080" rtl="0" algn="l">
              <a:lnSpc>
                <a:spcPct val="100000"/>
              </a:lnSpc>
              <a:spcBef>
                <a:spcPts val="10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The transaction can read the data item from </a:t>
            </a:r>
            <a:r>
              <a:rPr b="1" i="1" lang="en-US" sz="2000">
                <a:solidFill>
                  <a:schemeClr val="dk1"/>
                </a:solidFill>
                <a:latin typeface="Arial Rounded"/>
                <a:ea typeface="Arial Rounded"/>
                <a:cs typeface="Arial Rounded"/>
                <a:sym typeface="Arial Rounded"/>
              </a:rPr>
              <a:t>any </a:t>
            </a:r>
            <a:r>
              <a:rPr b="1" lang="en-US" sz="2000">
                <a:solidFill>
                  <a:schemeClr val="dk1"/>
                </a:solidFill>
                <a:latin typeface="Arial Rounded"/>
                <a:ea typeface="Arial Rounded"/>
                <a:cs typeface="Arial Rounded"/>
                <a:sym typeface="Arial Rounded"/>
              </a:rPr>
              <a:t>one of the sites at  which a replica of the data item resides.</a:t>
            </a:r>
            <a:endParaRPr b="1" sz="2000">
              <a:solidFill>
                <a:schemeClr val="dk1"/>
              </a:solidFill>
              <a:latin typeface="Arial Rounded"/>
              <a:ea typeface="Arial Rounded"/>
              <a:cs typeface="Arial Rounded"/>
              <a:sym typeface="Arial Rounded"/>
            </a:endParaRPr>
          </a:p>
          <a:p>
            <a:pPr indent="-342900" lvl="0" marL="355600" marR="0" rtl="0" algn="l">
              <a:lnSpc>
                <a:spcPct val="100000"/>
              </a:lnSpc>
              <a:spcBef>
                <a:spcPts val="765"/>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Writes must be performed on all replicas of a data item</a:t>
            </a:r>
            <a:endParaRPr b="1" sz="2000">
              <a:solidFill>
                <a:schemeClr val="dk1"/>
              </a:solidFill>
              <a:latin typeface="Arial Rounded"/>
              <a:ea typeface="Arial Rounded"/>
              <a:cs typeface="Arial Rounded"/>
              <a:sym typeface="Arial Rounded"/>
            </a:endParaRPr>
          </a:p>
          <a:p>
            <a:pPr indent="-357012" lvl="0" marL="355600" marR="0" rtl="0" algn="l">
              <a:lnSpc>
                <a:spcPct val="100000"/>
              </a:lnSpc>
              <a:spcBef>
                <a:spcPts val="765"/>
              </a:spcBef>
              <a:spcAft>
                <a:spcPts val="0"/>
              </a:spcAft>
              <a:buClr>
                <a:schemeClr val="dk1"/>
              </a:buClr>
              <a:buSzPts val="2000"/>
              <a:buFont typeface="Arial Rounded"/>
              <a:buChar char="■"/>
            </a:pPr>
            <a:r>
              <a:rPr b="1" lang="en-US" sz="2000">
                <a:solidFill>
                  <a:schemeClr val="dk1"/>
                </a:solidFill>
                <a:latin typeface="Arial Rounded"/>
                <a:ea typeface="Arial Rounded"/>
                <a:cs typeface="Arial Rounded"/>
                <a:sym typeface="Arial Rounded"/>
              </a:rPr>
              <a:t>On successful completion of transaction, the Transaction manager of initiating site can release the lock through unlock request to the lock-manager site.</a:t>
            </a:r>
            <a:endParaRPr b="1" sz="2000">
              <a:solidFill>
                <a:schemeClr val="dk1"/>
              </a:solidFill>
              <a:latin typeface="Arial Rounded"/>
              <a:ea typeface="Arial Rounded"/>
              <a:cs typeface="Arial Rounded"/>
              <a:sym typeface="Arial Rounded"/>
            </a:endParaRPr>
          </a:p>
          <a:p>
            <a:pPr indent="0" lvl="1" marL="495300" marR="277495" rtl="0" algn="l">
              <a:lnSpc>
                <a:spcPct val="100000"/>
              </a:lnSpc>
              <a:spcBef>
                <a:spcPts val="765"/>
              </a:spcBef>
              <a:spcAft>
                <a:spcPts val="0"/>
              </a:spcAft>
              <a:buNone/>
            </a:pPr>
            <a:r>
              <a:t/>
            </a:r>
            <a:endParaRPr b="1" i="0" sz="20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g2fc88d37b93_0_0"/>
          <p:cNvPicPr preferRelativeResize="0"/>
          <p:nvPr/>
        </p:nvPicPr>
        <p:blipFill>
          <a:blip r:embed="rId3">
            <a:alphaModFix/>
          </a:blip>
          <a:stretch>
            <a:fillRect/>
          </a:stretch>
        </p:blipFill>
        <p:spPr>
          <a:xfrm>
            <a:off x="181425" y="340875"/>
            <a:ext cx="5429700" cy="4771475"/>
          </a:xfrm>
          <a:prstGeom prst="rect">
            <a:avLst/>
          </a:prstGeom>
          <a:noFill/>
          <a:ln>
            <a:noFill/>
          </a:ln>
        </p:spPr>
      </p:pic>
      <p:pic>
        <p:nvPicPr>
          <p:cNvPr id="493" name="Google Shape;493;g2fc88d37b93_0_0"/>
          <p:cNvPicPr preferRelativeResize="0"/>
          <p:nvPr/>
        </p:nvPicPr>
        <p:blipFill>
          <a:blip r:embed="rId4">
            <a:alphaModFix/>
          </a:blip>
          <a:stretch>
            <a:fillRect/>
          </a:stretch>
        </p:blipFill>
        <p:spPr>
          <a:xfrm>
            <a:off x="5913950" y="152400"/>
            <a:ext cx="6075075" cy="60473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2fc88d37b93_0_5"/>
          <p:cNvSpPr txBox="1"/>
          <p:nvPr/>
        </p:nvSpPr>
        <p:spPr>
          <a:xfrm>
            <a:off x="232000" y="753950"/>
            <a:ext cx="11655600" cy="536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FF0000"/>
                </a:solidFill>
                <a:highlight>
                  <a:srgbClr val="FFFFFF"/>
                </a:highlight>
                <a:latin typeface="Arial Rounded"/>
                <a:ea typeface="Arial Rounded"/>
                <a:cs typeface="Arial Rounded"/>
                <a:sym typeface="Arial Rounded"/>
              </a:rPr>
              <a:t>Advantages:</a:t>
            </a:r>
            <a:endParaRPr sz="2000">
              <a:solidFill>
                <a:srgbClr val="FF0000"/>
              </a:solidFill>
              <a:highlight>
                <a:srgbClr val="FFFFFF"/>
              </a:highlight>
              <a:latin typeface="Arial Rounded"/>
              <a:ea typeface="Arial Rounded"/>
              <a:cs typeface="Arial Rounded"/>
              <a:sym typeface="Arial Rounded"/>
            </a:endParaRPr>
          </a:p>
          <a:p>
            <a:pPr indent="-355600" lvl="0" marL="457200" marR="317500" rtl="0" algn="l">
              <a:lnSpc>
                <a:spcPct val="140000"/>
              </a:lnSpc>
              <a:spcBef>
                <a:spcPts val="500"/>
              </a:spcBef>
              <a:spcAft>
                <a:spcPts val="0"/>
              </a:spcAft>
              <a:buClr>
                <a:srgbClr val="222222"/>
              </a:buClr>
              <a:buSzPts val="2000"/>
              <a:buFont typeface="Arial Rounded"/>
              <a:buChar char="●"/>
            </a:pPr>
            <a:r>
              <a:rPr lang="en-US" sz="2000">
                <a:solidFill>
                  <a:srgbClr val="0000FF"/>
                </a:solidFill>
                <a:highlight>
                  <a:srgbClr val="FFFFFF"/>
                </a:highlight>
                <a:latin typeface="Arial Rounded"/>
                <a:ea typeface="Arial Rounded"/>
                <a:cs typeface="Arial Rounded"/>
                <a:sym typeface="Arial Rounded"/>
              </a:rPr>
              <a:t>Locking can be handled easily.</a:t>
            </a:r>
            <a:r>
              <a:rPr lang="en-US" sz="2000">
                <a:solidFill>
                  <a:srgbClr val="222222"/>
                </a:solidFill>
                <a:highlight>
                  <a:srgbClr val="FFFFFF"/>
                </a:highlight>
                <a:latin typeface="Arial Rounded"/>
                <a:ea typeface="Arial Rounded"/>
                <a:cs typeface="Arial Rounded"/>
                <a:sym typeface="Arial Rounded"/>
              </a:rPr>
              <a:t> We need two messages for lock (one for request, the other for grant), and one message for unlock requests. Also, this method is simple as it resembles the centralized database.</a:t>
            </a:r>
            <a:endParaRPr sz="2000">
              <a:solidFill>
                <a:srgbClr val="222222"/>
              </a:solidFill>
              <a:highlight>
                <a:srgbClr val="FFFFFF"/>
              </a:highlight>
              <a:latin typeface="Arial Rounded"/>
              <a:ea typeface="Arial Rounded"/>
              <a:cs typeface="Arial Rounded"/>
              <a:sym typeface="Arial Rounded"/>
            </a:endParaRPr>
          </a:p>
          <a:p>
            <a:pPr indent="-355600" lvl="0" marL="457200" marR="317500" rtl="0" algn="l">
              <a:lnSpc>
                <a:spcPct val="140000"/>
              </a:lnSpc>
              <a:spcBef>
                <a:spcPts val="0"/>
              </a:spcBef>
              <a:spcAft>
                <a:spcPts val="0"/>
              </a:spcAft>
              <a:buClr>
                <a:srgbClr val="222222"/>
              </a:buClr>
              <a:buSzPts val="2000"/>
              <a:buFont typeface="Arial Rounded"/>
              <a:buChar char="●"/>
            </a:pPr>
            <a:r>
              <a:rPr lang="en-US" sz="2000">
                <a:solidFill>
                  <a:srgbClr val="0000FF"/>
                </a:solidFill>
                <a:highlight>
                  <a:srgbClr val="FFFFFF"/>
                </a:highlight>
                <a:latin typeface="Arial Rounded"/>
                <a:ea typeface="Arial Rounded"/>
                <a:cs typeface="Arial Rounded"/>
                <a:sym typeface="Arial Rounded"/>
              </a:rPr>
              <a:t>Deadlocks can be handled easily. </a:t>
            </a:r>
            <a:r>
              <a:rPr lang="en-US" sz="2000">
                <a:solidFill>
                  <a:srgbClr val="222222"/>
                </a:solidFill>
                <a:highlight>
                  <a:srgbClr val="FFFFFF"/>
                </a:highlight>
                <a:latin typeface="Arial Rounded"/>
                <a:ea typeface="Arial Rounded"/>
                <a:cs typeface="Arial Rounded"/>
                <a:sym typeface="Arial Rounded"/>
              </a:rPr>
              <a:t>The reason is, we have one lock manager who is responsible for handling the lock requests.</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1100"/>
              </a:spcBef>
              <a:spcAft>
                <a:spcPts val="0"/>
              </a:spcAft>
              <a:buNone/>
            </a:pPr>
            <a:r>
              <a:t/>
            </a:r>
            <a:endParaRPr b="1"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600"/>
              </a:spcBef>
              <a:spcAft>
                <a:spcPts val="0"/>
              </a:spcAft>
              <a:buNone/>
            </a:pPr>
            <a:r>
              <a:rPr b="1" lang="en-US" sz="2000">
                <a:solidFill>
                  <a:srgbClr val="FF0000"/>
                </a:solidFill>
                <a:highlight>
                  <a:srgbClr val="FFFFFF"/>
                </a:highlight>
                <a:latin typeface="Arial Rounded"/>
                <a:ea typeface="Arial Rounded"/>
                <a:cs typeface="Arial Rounded"/>
                <a:sym typeface="Arial Rounded"/>
              </a:rPr>
              <a:t>Disadvantages:</a:t>
            </a:r>
            <a:endParaRPr sz="2000">
              <a:solidFill>
                <a:srgbClr val="FF0000"/>
              </a:solidFill>
              <a:highlight>
                <a:srgbClr val="FFFFFF"/>
              </a:highlight>
              <a:latin typeface="Arial Rounded"/>
              <a:ea typeface="Arial Rounded"/>
              <a:cs typeface="Arial Rounded"/>
              <a:sym typeface="Arial Rounded"/>
            </a:endParaRPr>
          </a:p>
          <a:p>
            <a:pPr indent="-355600" lvl="0" marL="457200" marR="317500" rtl="0" algn="l">
              <a:lnSpc>
                <a:spcPct val="140000"/>
              </a:lnSpc>
              <a:spcBef>
                <a:spcPts val="600"/>
              </a:spcBef>
              <a:spcAft>
                <a:spcPts val="0"/>
              </a:spcAft>
              <a:buClr>
                <a:srgbClr val="222222"/>
              </a:buClr>
              <a:buSzPts val="2000"/>
              <a:buFont typeface="Arial Rounded"/>
              <a:buChar char="●"/>
            </a:pPr>
            <a:r>
              <a:rPr lang="en-US" sz="2000">
                <a:solidFill>
                  <a:srgbClr val="222222"/>
                </a:solidFill>
                <a:highlight>
                  <a:srgbClr val="FFFFFF"/>
                </a:highlight>
                <a:latin typeface="Arial Rounded"/>
                <a:ea typeface="Arial Rounded"/>
                <a:cs typeface="Arial Rounded"/>
                <a:sym typeface="Arial Rounded"/>
              </a:rPr>
              <a:t>The </a:t>
            </a:r>
            <a:r>
              <a:rPr lang="en-US" sz="2000">
                <a:solidFill>
                  <a:srgbClr val="0000FF"/>
                </a:solidFill>
                <a:highlight>
                  <a:srgbClr val="FFFFFF"/>
                </a:highlight>
                <a:latin typeface="Arial Rounded"/>
                <a:ea typeface="Arial Rounded"/>
                <a:cs typeface="Arial Rounded"/>
                <a:sym typeface="Arial Rounded"/>
              </a:rPr>
              <a:t>lock-manager site becomes the bottleneck </a:t>
            </a:r>
            <a:r>
              <a:rPr lang="en-US" sz="2000">
                <a:solidFill>
                  <a:srgbClr val="222222"/>
                </a:solidFill>
                <a:highlight>
                  <a:srgbClr val="FFFFFF"/>
                </a:highlight>
                <a:latin typeface="Arial Rounded"/>
                <a:ea typeface="Arial Rounded"/>
                <a:cs typeface="Arial Rounded"/>
                <a:sym typeface="Arial Rounded"/>
              </a:rPr>
              <a:t>as it is the only site to handle all the lock requests generated at all the sites in the system.</a:t>
            </a:r>
            <a:endParaRPr sz="2000">
              <a:solidFill>
                <a:srgbClr val="222222"/>
              </a:solidFill>
              <a:highlight>
                <a:srgbClr val="FFFFFF"/>
              </a:highlight>
              <a:latin typeface="Arial Rounded"/>
              <a:ea typeface="Arial Rounded"/>
              <a:cs typeface="Arial Rounded"/>
              <a:sym typeface="Arial Rounded"/>
            </a:endParaRPr>
          </a:p>
          <a:p>
            <a:pPr indent="-355600" lvl="0" marL="457200" marR="317500" rtl="0" algn="l">
              <a:lnSpc>
                <a:spcPct val="140000"/>
              </a:lnSpc>
              <a:spcBef>
                <a:spcPts val="0"/>
              </a:spcBef>
              <a:spcAft>
                <a:spcPts val="0"/>
              </a:spcAft>
              <a:buClr>
                <a:srgbClr val="222222"/>
              </a:buClr>
              <a:buSzPts val="2000"/>
              <a:buFont typeface="Arial Rounded"/>
              <a:buChar char="●"/>
            </a:pPr>
            <a:r>
              <a:rPr lang="en-US" sz="2000">
                <a:solidFill>
                  <a:srgbClr val="0000FF"/>
                </a:solidFill>
                <a:highlight>
                  <a:srgbClr val="FFFFFF"/>
                </a:highlight>
                <a:latin typeface="Arial Rounded"/>
                <a:ea typeface="Arial Rounded"/>
                <a:cs typeface="Arial Rounded"/>
                <a:sym typeface="Arial Rounded"/>
              </a:rPr>
              <a:t>Highly vulnerable to single point-of-failure. </a:t>
            </a:r>
            <a:r>
              <a:rPr lang="en-US" sz="2000">
                <a:solidFill>
                  <a:srgbClr val="222222"/>
                </a:solidFill>
                <a:highlight>
                  <a:srgbClr val="FFFFFF"/>
                </a:highlight>
                <a:latin typeface="Arial Rounded"/>
                <a:ea typeface="Arial Rounded"/>
                <a:cs typeface="Arial Rounded"/>
                <a:sym typeface="Arial Rounded"/>
              </a:rPr>
              <a:t>If the lock-manager site failed, then we lose the concurrency control.</a:t>
            </a:r>
            <a:endParaRPr sz="2000">
              <a:solidFill>
                <a:srgbClr val="222222"/>
              </a:solidFill>
              <a:highlight>
                <a:srgbClr val="FFFFFF"/>
              </a:highlight>
              <a:latin typeface="Arial Rounded"/>
              <a:ea typeface="Arial Rounded"/>
              <a:cs typeface="Arial Rounded"/>
              <a:sym typeface="Arial Rounde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9"/>
          <p:cNvSpPr txBox="1"/>
          <p:nvPr/>
        </p:nvSpPr>
        <p:spPr>
          <a:xfrm>
            <a:off x="273875" y="311975"/>
            <a:ext cx="11584800" cy="5964600"/>
          </a:xfrm>
          <a:prstGeom prst="rect">
            <a:avLst/>
          </a:prstGeom>
          <a:noFill/>
          <a:ln>
            <a:noFill/>
          </a:ln>
        </p:spPr>
        <p:txBody>
          <a:bodyPr anchorCtr="0" anchor="t" bIns="0" lIns="0" spcFirstLastPara="1" rIns="0" wrap="square" tIns="12700">
            <a:spAutoFit/>
          </a:bodyPr>
          <a:lstStyle/>
          <a:p>
            <a:pPr indent="0" lvl="0" marL="12065" marR="271780" rtl="0" algn="l">
              <a:lnSpc>
                <a:spcPct val="100000"/>
              </a:lnSpc>
              <a:spcBef>
                <a:spcPts val="0"/>
              </a:spcBef>
              <a:spcAft>
                <a:spcPts val="0"/>
              </a:spcAft>
              <a:buNone/>
            </a:pPr>
            <a:r>
              <a:rPr b="1" lang="en-US" sz="2000">
                <a:solidFill>
                  <a:srgbClr val="7030A0"/>
                </a:solidFill>
                <a:latin typeface="Arial Rounded"/>
                <a:ea typeface="Arial Rounded"/>
                <a:cs typeface="Arial Rounded"/>
                <a:sym typeface="Arial Rounded"/>
              </a:rPr>
              <a:t>Distributed Lock Manager </a:t>
            </a:r>
            <a:endParaRPr b="1" sz="2000">
              <a:solidFill>
                <a:schemeClr val="dk1"/>
              </a:solidFill>
              <a:latin typeface="Arial Rounded"/>
              <a:ea typeface="Arial Rounded"/>
              <a:cs typeface="Arial Rounded"/>
              <a:sym typeface="Arial Rounded"/>
            </a:endParaRPr>
          </a:p>
          <a:p>
            <a:pPr indent="-230012" lvl="0" marL="354965" marR="271780" rtl="0" algn="l">
              <a:lnSpc>
                <a:spcPct val="100000"/>
              </a:lnSpc>
              <a:spcBef>
                <a:spcPts val="100"/>
              </a:spcBef>
              <a:spcAft>
                <a:spcPts val="0"/>
              </a:spcAft>
              <a:buClr>
                <a:srgbClr val="CC3300"/>
              </a:buClr>
              <a:buSzPts val="1778"/>
              <a:buFont typeface="Noto Sans Symbols"/>
              <a:buNone/>
            </a:pPr>
            <a:r>
              <a:t/>
            </a:r>
            <a:endParaRPr b="1" sz="2000">
              <a:solidFill>
                <a:schemeClr val="dk1"/>
              </a:solidFill>
              <a:latin typeface="Arial Rounded"/>
              <a:ea typeface="Arial Rounded"/>
              <a:cs typeface="Arial Rounded"/>
              <a:sym typeface="Arial Rounded"/>
            </a:endParaRPr>
          </a:p>
          <a:p>
            <a:pPr indent="-342900" lvl="0" marL="354965" marR="271780" rtl="0" algn="l">
              <a:lnSpc>
                <a:spcPct val="100000"/>
              </a:lnSpc>
              <a:spcBef>
                <a:spcPts val="10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In this approach, the function of lock-manager is distributed over several sites.</a:t>
            </a:r>
            <a:endParaRPr b="1" sz="2000">
              <a:solidFill>
                <a:schemeClr val="dk1"/>
              </a:solidFill>
              <a:latin typeface="Arial Rounded"/>
              <a:ea typeface="Arial Rounded"/>
              <a:cs typeface="Arial Rounded"/>
              <a:sym typeface="Arial Rounded"/>
            </a:endParaRPr>
          </a:p>
          <a:p>
            <a:pPr indent="0" lvl="0" marL="457200" marR="271780" rtl="0" algn="l">
              <a:lnSpc>
                <a:spcPct val="100000"/>
              </a:lnSpc>
              <a:spcBef>
                <a:spcPts val="100"/>
              </a:spcBef>
              <a:spcAft>
                <a:spcPts val="0"/>
              </a:spcAft>
              <a:buNone/>
            </a:pPr>
            <a:r>
              <a:rPr b="1" lang="en-US" sz="2000">
                <a:solidFill>
                  <a:schemeClr val="dk1"/>
                </a:solidFill>
                <a:latin typeface="Arial Rounded"/>
                <a:ea typeface="Arial Rounded"/>
                <a:cs typeface="Arial Rounded"/>
                <a:sym typeface="Arial Rounded"/>
              </a:rPr>
              <a:t>[Every DBMS server (site) has all the components like Transaction Manager, Lock-Manager, Storage Manager, etc.]</a:t>
            </a:r>
            <a:endParaRPr b="1" sz="2000">
              <a:solidFill>
                <a:schemeClr val="dk1"/>
              </a:solidFill>
              <a:latin typeface="Arial Rounded"/>
              <a:ea typeface="Arial Rounded"/>
              <a:cs typeface="Arial Rounded"/>
              <a:sym typeface="Arial Rounded"/>
            </a:endParaRPr>
          </a:p>
          <a:p>
            <a:pPr indent="0" lvl="0" marL="457200" marR="271780" rtl="0" algn="l">
              <a:lnSpc>
                <a:spcPct val="100000"/>
              </a:lnSpc>
              <a:spcBef>
                <a:spcPts val="100"/>
              </a:spcBef>
              <a:spcAft>
                <a:spcPts val="0"/>
              </a:spcAft>
              <a:buNone/>
            </a:pPr>
            <a:r>
              <a:t/>
            </a:r>
            <a:endParaRPr b="1" sz="2000">
              <a:solidFill>
                <a:schemeClr val="dk1"/>
              </a:solidFill>
              <a:latin typeface="Arial Rounded"/>
              <a:ea typeface="Arial Rounded"/>
              <a:cs typeface="Arial Rounded"/>
              <a:sym typeface="Arial Rounded"/>
            </a:endParaRPr>
          </a:p>
          <a:p>
            <a:pPr indent="-342900" lvl="0" marL="354965" marR="271780" rtl="0" algn="l">
              <a:lnSpc>
                <a:spcPct val="100000"/>
              </a:lnSpc>
              <a:spcBef>
                <a:spcPts val="10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In Distributed Lock-Manager, every site owns the data which is stored locally.</a:t>
            </a:r>
            <a:endParaRPr b="1" sz="2000">
              <a:solidFill>
                <a:schemeClr val="dk1"/>
              </a:solidFill>
              <a:latin typeface="Arial Rounded"/>
              <a:ea typeface="Arial Rounded"/>
              <a:cs typeface="Arial Rounded"/>
              <a:sym typeface="Arial Rounded"/>
            </a:endParaRPr>
          </a:p>
          <a:p>
            <a:pPr indent="-342900" lvl="0" marL="354965" marR="271780" rtl="0" algn="l">
              <a:lnSpc>
                <a:spcPct val="100000"/>
              </a:lnSpc>
              <a:spcBef>
                <a:spcPts val="100"/>
              </a:spcBef>
              <a:spcAft>
                <a:spcPts val="0"/>
              </a:spcAft>
              <a:buClr>
                <a:srgbClr val="CC3300"/>
              </a:buClr>
              <a:buSzPts val="1778"/>
              <a:buFont typeface="Noto Sans Symbols"/>
              <a:buChar char="■"/>
            </a:pPr>
            <a:r>
              <a:rPr b="1" lang="en-US" sz="2000">
                <a:solidFill>
                  <a:schemeClr val="dk1"/>
                </a:solidFill>
                <a:latin typeface="Arial Rounded"/>
                <a:ea typeface="Arial Rounded"/>
                <a:cs typeface="Arial Rounded"/>
                <a:sym typeface="Arial Rounded"/>
              </a:rPr>
              <a:t>This is true for a table that is fragmented into n fragments and stored in n sites. In this case, </a:t>
            </a:r>
            <a:r>
              <a:rPr b="1" lang="en-US" sz="2000">
                <a:solidFill>
                  <a:srgbClr val="FF0000"/>
                </a:solidFill>
                <a:latin typeface="Arial Rounded"/>
                <a:ea typeface="Arial Rounded"/>
                <a:cs typeface="Arial Rounded"/>
                <a:sym typeface="Arial Rounded"/>
              </a:rPr>
              <a:t>every fragment is unique from every other fragment and completely owned by the site in which it is stored.</a:t>
            </a:r>
            <a:r>
              <a:rPr b="1" lang="en-US" sz="2000">
                <a:solidFill>
                  <a:schemeClr val="dk1"/>
                </a:solidFill>
                <a:latin typeface="Arial Rounded"/>
                <a:ea typeface="Arial Rounded"/>
                <a:cs typeface="Arial Rounded"/>
                <a:sym typeface="Arial Rounded"/>
              </a:rPr>
              <a:t> For those fragments, the local Lock-Manager is responsible to handle lock and unlock requests generated by the same site or by other sites.</a:t>
            </a:r>
            <a:endParaRPr b="1" sz="2000">
              <a:solidFill>
                <a:schemeClr val="dk1"/>
              </a:solidFill>
              <a:latin typeface="Arial Rounded"/>
              <a:ea typeface="Arial Rounded"/>
              <a:cs typeface="Arial Rounded"/>
              <a:sym typeface="Arial Rounded"/>
            </a:endParaRPr>
          </a:p>
          <a:p>
            <a:pPr indent="0" lvl="0" marL="457200" marR="271780" rtl="0" algn="l">
              <a:lnSpc>
                <a:spcPct val="100000"/>
              </a:lnSpc>
              <a:spcBef>
                <a:spcPts val="100"/>
              </a:spcBef>
              <a:spcAft>
                <a:spcPts val="0"/>
              </a:spcAft>
              <a:buNone/>
            </a:pPr>
            <a:r>
              <a:t/>
            </a:r>
            <a:endParaRPr b="1" sz="2000">
              <a:solidFill>
                <a:schemeClr val="dk1"/>
              </a:solidFill>
              <a:latin typeface="Arial Rounded"/>
              <a:ea typeface="Arial Rounded"/>
              <a:cs typeface="Arial Rounded"/>
              <a:sym typeface="Arial Rounded"/>
            </a:endParaRPr>
          </a:p>
          <a:p>
            <a:pPr indent="-342900" lvl="0" marL="354965" marR="271780" rtl="0" algn="l">
              <a:lnSpc>
                <a:spcPct val="100000"/>
              </a:lnSpc>
              <a:spcBef>
                <a:spcPts val="100"/>
              </a:spcBef>
              <a:spcAft>
                <a:spcPts val="0"/>
              </a:spcAft>
              <a:buClr>
                <a:srgbClr val="CC3300"/>
              </a:buClr>
              <a:buSzPts val="1778"/>
              <a:buFont typeface="Noto Sans Symbols"/>
              <a:buChar char="■"/>
            </a:pPr>
            <a:r>
              <a:rPr b="1" lang="en-US" sz="2000">
                <a:solidFill>
                  <a:srgbClr val="FF0000"/>
                </a:solidFill>
                <a:latin typeface="Arial Rounded"/>
                <a:ea typeface="Arial Rounded"/>
                <a:cs typeface="Arial Rounded"/>
                <a:sym typeface="Arial Rounded"/>
              </a:rPr>
              <a:t>If the data stored in a site is replicated in other sites, then a site cannot own the data completely. </a:t>
            </a:r>
            <a:r>
              <a:rPr b="1" lang="en-US" sz="2000">
                <a:solidFill>
                  <a:schemeClr val="dk1"/>
                </a:solidFill>
                <a:latin typeface="Arial Rounded"/>
                <a:ea typeface="Arial Rounded"/>
                <a:cs typeface="Arial Rounded"/>
                <a:sym typeface="Arial Rounded"/>
              </a:rPr>
              <a:t>In such case, we cannot handle any lock request for a data item stored in a site as the case of fragmented data. If we handle like fragmented data, it leads to inconsistency problems as there are multiple copies stored in several sites. This case can be handled using several protocols which are specifically designed for handling lock requests on replicated data. The protocols are, </a:t>
            </a:r>
            <a:r>
              <a:rPr b="1" lang="en-US" sz="2000">
                <a:solidFill>
                  <a:srgbClr val="9900FF"/>
                </a:solidFill>
                <a:latin typeface="Arial Rounded"/>
                <a:ea typeface="Arial Rounded"/>
                <a:cs typeface="Arial Rounded"/>
                <a:sym typeface="Arial Rounded"/>
              </a:rPr>
              <a:t>Primary copy, Majority protocol, Biased protocol, Quorum consensus</a:t>
            </a:r>
            <a:endParaRPr b="1" sz="2000">
              <a:solidFill>
                <a:srgbClr val="9900FF"/>
              </a:solidFill>
              <a:latin typeface="Arial Rounded"/>
              <a:ea typeface="Arial Rounded"/>
              <a:cs typeface="Arial Rounded"/>
              <a:sym typeface="Arial Rounde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2fc88d37b93_0_13"/>
          <p:cNvSpPr txBox="1"/>
          <p:nvPr/>
        </p:nvSpPr>
        <p:spPr>
          <a:xfrm>
            <a:off x="353949" y="311975"/>
            <a:ext cx="11504700" cy="5040900"/>
          </a:xfrm>
          <a:prstGeom prst="rect">
            <a:avLst/>
          </a:prstGeom>
          <a:noFill/>
          <a:ln>
            <a:noFill/>
          </a:ln>
        </p:spPr>
        <p:txBody>
          <a:bodyPr anchorCtr="0" anchor="t" bIns="0" lIns="0" spcFirstLastPara="1" rIns="0" wrap="square" tIns="12700">
            <a:spAutoFit/>
          </a:bodyPr>
          <a:lstStyle/>
          <a:p>
            <a:pPr indent="0" lvl="0" marL="12065" marR="271780" rtl="0" algn="l">
              <a:lnSpc>
                <a:spcPct val="100000"/>
              </a:lnSpc>
              <a:spcBef>
                <a:spcPts val="0"/>
              </a:spcBef>
              <a:spcAft>
                <a:spcPts val="0"/>
              </a:spcAft>
              <a:buNone/>
            </a:pPr>
            <a:r>
              <a:rPr b="1" lang="en-US" sz="2000">
                <a:solidFill>
                  <a:srgbClr val="7030A0"/>
                </a:solidFill>
                <a:latin typeface="Arial Rounded"/>
                <a:ea typeface="Arial Rounded"/>
                <a:cs typeface="Arial Rounded"/>
                <a:sym typeface="Arial Rounded"/>
              </a:rPr>
              <a:t>Distributed Lock Manager </a:t>
            </a:r>
            <a:endParaRPr b="1" sz="2000">
              <a:solidFill>
                <a:schemeClr val="dk1"/>
              </a:solidFill>
              <a:latin typeface="Arial Rounded"/>
              <a:ea typeface="Arial Rounded"/>
              <a:cs typeface="Arial Rounded"/>
              <a:sym typeface="Arial Rounded"/>
            </a:endParaRPr>
          </a:p>
          <a:p>
            <a:pPr indent="-230012" lvl="0" marL="354965" marR="271780" rtl="0" algn="l">
              <a:lnSpc>
                <a:spcPct val="100000"/>
              </a:lnSpc>
              <a:spcBef>
                <a:spcPts val="100"/>
              </a:spcBef>
              <a:spcAft>
                <a:spcPts val="0"/>
              </a:spcAft>
              <a:buClr>
                <a:srgbClr val="CC3300"/>
              </a:buClr>
              <a:buSzPts val="1778"/>
              <a:buFont typeface="Noto Sans Symbols"/>
              <a:buNone/>
            </a:pPr>
            <a:r>
              <a:t/>
            </a:r>
            <a:endParaRPr b="1" sz="2000">
              <a:solidFill>
                <a:schemeClr val="dk1"/>
              </a:solidFill>
              <a:latin typeface="Arial Rounded"/>
              <a:ea typeface="Arial Rounded"/>
              <a:cs typeface="Arial Rounded"/>
              <a:sym typeface="Arial Rounded"/>
            </a:endParaRPr>
          </a:p>
          <a:p>
            <a:pPr indent="0" lvl="0" marL="0" marR="271780" rtl="0" algn="l">
              <a:lnSpc>
                <a:spcPct val="100000"/>
              </a:lnSpc>
              <a:spcBef>
                <a:spcPts val="100"/>
              </a:spcBef>
              <a:spcAft>
                <a:spcPts val="0"/>
              </a:spcAft>
              <a:buNone/>
            </a:pPr>
            <a:r>
              <a:rPr b="1" lang="en-US" sz="2000">
                <a:solidFill>
                  <a:srgbClr val="FF0000"/>
                </a:solidFill>
                <a:latin typeface="Arial Rounded"/>
                <a:ea typeface="Arial Rounded"/>
                <a:cs typeface="Arial Rounded"/>
                <a:sym typeface="Arial Rounded"/>
              </a:rPr>
              <a:t>Advantages:</a:t>
            </a:r>
            <a:endParaRPr b="1" sz="2000">
              <a:solidFill>
                <a:srgbClr val="FF0000"/>
              </a:solidFill>
              <a:latin typeface="Arial Rounded"/>
              <a:ea typeface="Arial Rounded"/>
              <a:cs typeface="Arial Rounded"/>
              <a:sym typeface="Arial Rounded"/>
            </a:endParaRPr>
          </a:p>
          <a:p>
            <a:pPr indent="-355600" lvl="0" marL="457200" marR="271780" rtl="0" algn="l">
              <a:lnSpc>
                <a:spcPct val="100000"/>
              </a:lnSpc>
              <a:spcBef>
                <a:spcPts val="100"/>
              </a:spcBef>
              <a:spcAft>
                <a:spcPts val="0"/>
              </a:spcAft>
              <a:buClr>
                <a:schemeClr val="dk1"/>
              </a:buClr>
              <a:buSzPts val="2000"/>
              <a:buFont typeface="Arial Rounded"/>
              <a:buChar char="●"/>
            </a:pPr>
            <a:r>
              <a:rPr b="1" lang="en-US" sz="2000">
                <a:solidFill>
                  <a:schemeClr val="dk1"/>
                </a:solidFill>
                <a:latin typeface="Arial Rounded"/>
                <a:ea typeface="Arial Rounded"/>
                <a:cs typeface="Arial Rounded"/>
                <a:sym typeface="Arial Rounded"/>
              </a:rPr>
              <a:t>Simple implementation is required for the data which are fragmented. They can be handled as in the case of Single Lock-Manager approach.</a:t>
            </a:r>
            <a:endParaRPr b="1" sz="2000">
              <a:solidFill>
                <a:schemeClr val="dk1"/>
              </a:solidFill>
              <a:latin typeface="Arial Rounded"/>
              <a:ea typeface="Arial Rounded"/>
              <a:cs typeface="Arial Rounded"/>
              <a:sym typeface="Arial Rounded"/>
            </a:endParaRPr>
          </a:p>
          <a:p>
            <a:pPr indent="-355600" lvl="0" marL="457200" marR="271780" rtl="0" algn="l">
              <a:lnSpc>
                <a:spcPct val="100000"/>
              </a:lnSpc>
              <a:spcBef>
                <a:spcPts val="0"/>
              </a:spcBef>
              <a:spcAft>
                <a:spcPts val="0"/>
              </a:spcAft>
              <a:buClr>
                <a:schemeClr val="dk1"/>
              </a:buClr>
              <a:buSzPts val="2000"/>
              <a:buFont typeface="Arial Rounded"/>
              <a:buChar char="●"/>
            </a:pPr>
            <a:r>
              <a:rPr b="1" lang="en-US" sz="2000">
                <a:solidFill>
                  <a:schemeClr val="dk1"/>
                </a:solidFill>
                <a:latin typeface="Arial Rounded"/>
                <a:ea typeface="Arial Rounded"/>
                <a:cs typeface="Arial Rounded"/>
                <a:sym typeface="Arial Rounded"/>
              </a:rPr>
              <a:t>For replicated data, again the work can be distributed over several sites using one of the above listed protocols.</a:t>
            </a:r>
            <a:endParaRPr b="1" sz="2000">
              <a:solidFill>
                <a:schemeClr val="dk1"/>
              </a:solidFill>
              <a:latin typeface="Arial Rounded"/>
              <a:ea typeface="Arial Rounded"/>
              <a:cs typeface="Arial Rounded"/>
              <a:sym typeface="Arial Rounded"/>
            </a:endParaRPr>
          </a:p>
          <a:p>
            <a:pPr indent="-355600" lvl="0" marL="457200" marR="271780" rtl="0" algn="l">
              <a:lnSpc>
                <a:spcPct val="100000"/>
              </a:lnSpc>
              <a:spcBef>
                <a:spcPts val="0"/>
              </a:spcBef>
              <a:spcAft>
                <a:spcPts val="0"/>
              </a:spcAft>
              <a:buClr>
                <a:schemeClr val="dk1"/>
              </a:buClr>
              <a:buSzPts val="2000"/>
              <a:buFont typeface="Arial Rounded"/>
              <a:buChar char="●"/>
            </a:pPr>
            <a:r>
              <a:rPr b="1" lang="en-US" sz="2000">
                <a:solidFill>
                  <a:srgbClr val="0000FF"/>
                </a:solidFill>
                <a:latin typeface="Arial Rounded"/>
                <a:ea typeface="Arial Rounded"/>
                <a:cs typeface="Arial Rounded"/>
                <a:sym typeface="Arial Rounded"/>
              </a:rPr>
              <a:t>Lock-Manager site is not the bottleneck</a:t>
            </a:r>
            <a:r>
              <a:rPr b="1" lang="en-US" sz="2000">
                <a:solidFill>
                  <a:schemeClr val="dk1"/>
                </a:solidFill>
                <a:latin typeface="Arial Rounded"/>
                <a:ea typeface="Arial Rounded"/>
                <a:cs typeface="Arial Rounded"/>
                <a:sym typeface="Arial Rounded"/>
              </a:rPr>
              <a:t> as the work of lock-manager is distributed over several sites.</a:t>
            </a:r>
            <a:endParaRPr b="1" sz="2000">
              <a:solidFill>
                <a:schemeClr val="dk1"/>
              </a:solidFill>
              <a:latin typeface="Arial Rounded"/>
              <a:ea typeface="Arial Rounded"/>
              <a:cs typeface="Arial Rounded"/>
              <a:sym typeface="Arial Rounded"/>
            </a:endParaRPr>
          </a:p>
          <a:p>
            <a:pPr indent="0" lvl="0" marL="0" marR="271780" rtl="0" algn="l">
              <a:lnSpc>
                <a:spcPct val="100000"/>
              </a:lnSpc>
              <a:spcBef>
                <a:spcPts val="100"/>
              </a:spcBef>
              <a:spcAft>
                <a:spcPts val="0"/>
              </a:spcAft>
              <a:buNone/>
            </a:pPr>
            <a:r>
              <a:t/>
            </a:r>
            <a:endParaRPr b="1" sz="2000">
              <a:solidFill>
                <a:schemeClr val="dk1"/>
              </a:solidFill>
              <a:latin typeface="Arial Rounded"/>
              <a:ea typeface="Arial Rounded"/>
              <a:cs typeface="Arial Rounded"/>
              <a:sym typeface="Arial Rounded"/>
            </a:endParaRPr>
          </a:p>
          <a:p>
            <a:pPr indent="0" lvl="0" marL="0" marR="271780" rtl="0" algn="l">
              <a:lnSpc>
                <a:spcPct val="100000"/>
              </a:lnSpc>
              <a:spcBef>
                <a:spcPts val="100"/>
              </a:spcBef>
              <a:spcAft>
                <a:spcPts val="0"/>
              </a:spcAft>
              <a:buNone/>
            </a:pPr>
            <a:r>
              <a:rPr b="1" lang="en-US" sz="2000">
                <a:solidFill>
                  <a:srgbClr val="FF0000"/>
                </a:solidFill>
                <a:latin typeface="Arial Rounded"/>
                <a:ea typeface="Arial Rounded"/>
                <a:cs typeface="Arial Rounded"/>
                <a:sym typeface="Arial Rounded"/>
              </a:rPr>
              <a:t>Disadvantages:</a:t>
            </a:r>
            <a:endParaRPr b="1" sz="2000">
              <a:solidFill>
                <a:srgbClr val="FF0000"/>
              </a:solidFill>
              <a:latin typeface="Arial Rounded"/>
              <a:ea typeface="Arial Rounded"/>
              <a:cs typeface="Arial Rounded"/>
              <a:sym typeface="Arial Rounded"/>
            </a:endParaRPr>
          </a:p>
          <a:p>
            <a:pPr indent="0" lvl="0" marL="0" marR="271780" rtl="0" algn="l">
              <a:lnSpc>
                <a:spcPct val="100000"/>
              </a:lnSpc>
              <a:spcBef>
                <a:spcPts val="100"/>
              </a:spcBef>
              <a:spcAft>
                <a:spcPts val="0"/>
              </a:spcAft>
              <a:buNone/>
            </a:pPr>
            <a:r>
              <a:t/>
            </a:r>
            <a:endParaRPr b="1" sz="2000">
              <a:solidFill>
                <a:schemeClr val="dk1"/>
              </a:solidFill>
              <a:latin typeface="Arial Rounded"/>
              <a:ea typeface="Arial Rounded"/>
              <a:cs typeface="Arial Rounded"/>
              <a:sym typeface="Arial Rounded"/>
            </a:endParaRPr>
          </a:p>
          <a:p>
            <a:pPr indent="-355600" lvl="0" marL="457200" marR="271780" rtl="0" algn="l">
              <a:lnSpc>
                <a:spcPct val="100000"/>
              </a:lnSpc>
              <a:spcBef>
                <a:spcPts val="100"/>
              </a:spcBef>
              <a:spcAft>
                <a:spcPts val="0"/>
              </a:spcAft>
              <a:buClr>
                <a:schemeClr val="dk1"/>
              </a:buClr>
              <a:buSzPts val="2000"/>
              <a:buFont typeface="Arial Rounded"/>
              <a:buChar char="●"/>
            </a:pPr>
            <a:r>
              <a:rPr b="1" lang="en-US" sz="2000">
                <a:solidFill>
                  <a:srgbClr val="0000FF"/>
                </a:solidFill>
                <a:latin typeface="Arial Rounded"/>
                <a:ea typeface="Arial Rounded"/>
                <a:cs typeface="Arial Rounded"/>
                <a:sym typeface="Arial Rounded"/>
              </a:rPr>
              <a:t>Handling of Deadlock is difficult,</a:t>
            </a:r>
            <a:r>
              <a:rPr b="1" lang="en-US" sz="2000">
                <a:solidFill>
                  <a:schemeClr val="dk1"/>
                </a:solidFill>
                <a:latin typeface="Arial Rounded"/>
                <a:ea typeface="Arial Rounded"/>
                <a:cs typeface="Arial Rounded"/>
                <a:sym typeface="Arial Rounded"/>
              </a:rPr>
              <a:t> because, a transaction T1 which acquired a lock on a data item Q at site S1 may be waiting for lock on another data item R as site S2. This wait is genuine or a deadlock has occurred is not easily identifiable.</a:t>
            </a:r>
            <a:endParaRPr b="1" sz="2000">
              <a:solidFill>
                <a:schemeClr val="dk1"/>
              </a:solidFill>
              <a:latin typeface="Arial Rounded"/>
              <a:ea typeface="Arial Rounded"/>
              <a:cs typeface="Arial Rounded"/>
              <a:sym typeface="Arial Rounded"/>
            </a:endParaRPr>
          </a:p>
          <a:p>
            <a:pPr indent="0" lvl="0" marL="0" marR="271780" rtl="0" algn="l">
              <a:lnSpc>
                <a:spcPct val="100000"/>
              </a:lnSpc>
              <a:spcBef>
                <a:spcPts val="100"/>
              </a:spcBef>
              <a:spcAft>
                <a:spcPts val="0"/>
              </a:spcAft>
              <a:buNone/>
            </a:pPr>
            <a:r>
              <a:t/>
            </a:r>
            <a:endParaRPr b="1" sz="2000">
              <a:solidFill>
                <a:schemeClr val="dk1"/>
              </a:solidFill>
              <a:latin typeface="Arial Rounded"/>
              <a:ea typeface="Arial Rounded"/>
              <a:cs typeface="Arial Rounded"/>
              <a:sym typeface="Arial Rounded"/>
            </a:endParaRPr>
          </a:p>
        </p:txBody>
      </p:sp>
      <p:pic>
        <p:nvPicPr>
          <p:cNvPr id="510" name="Google Shape;510;g2fc88d37b93_0_13"/>
          <p:cNvPicPr preferRelativeResize="0"/>
          <p:nvPr/>
        </p:nvPicPr>
        <p:blipFill>
          <a:blip r:embed="rId3">
            <a:alphaModFix/>
          </a:blip>
          <a:stretch>
            <a:fillRect/>
          </a:stretch>
        </p:blipFill>
        <p:spPr>
          <a:xfrm>
            <a:off x="500500" y="5228325"/>
            <a:ext cx="11358151" cy="1449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avon">
  <a:themeElements>
    <a:clrScheme name="Savon">
      <a:dk1>
        <a:srgbClr val="000000"/>
      </a:dk1>
      <a:lt1>
        <a:srgbClr val="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2023-10-29T13:09:27Z</dcterms:created>
  <dc:creator>Shraddha Singh</dc:creator>
</cp:coreProperties>
</file>