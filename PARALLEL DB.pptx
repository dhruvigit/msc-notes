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6858000" cx="12192000"/>
  <p:notesSz cx="6858000" cy="9144000"/>
  <p:embeddedFontLst>
    <p:embeddedFont>
      <p:font typeface="Century Gothic"/>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gaxujG8nhV882Fy3ZYpc5tunEB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BC9838-24BF-43BE-99B5-6777831EF74C}">
  <a:tblStyle styleId="{A0BC9838-24BF-43BE-99B5-6777831EF74C}"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customschemas.google.com/relationships/presentationmetadata" Target="meta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CenturyGothic-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CenturyGothic-italic.fntdata"/><Relationship Id="rId23" Type="http://schemas.openxmlformats.org/officeDocument/2006/relationships/slide" Target="slides/slide17.xml"/><Relationship Id="rId67" Type="http://schemas.openxmlformats.org/officeDocument/2006/relationships/font" Target="fonts/CenturyGothic-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CenturyGothic-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094c81e6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3094c81e6b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094c81e6b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3094c81e6b9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094c81e6b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094c81e6b9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094c81e6b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094c81e6b9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B1DDFF"/>
            </a:gs>
            <a:gs pos="100000">
              <a:srgbClr val="CBE8FE"/>
            </a:gs>
          </a:gsLst>
          <a:path path="circle">
            <a:fillToRect b="50%" l="50%" r="50%" t="50%"/>
          </a:path>
          <a:tileRect/>
        </a:gradFill>
      </p:bgPr>
    </p:bg>
    <p:spTree>
      <p:nvGrpSpPr>
        <p:cNvPr id="13" name="Shape 13"/>
        <p:cNvGrpSpPr/>
        <p:nvPr/>
      </p:nvGrpSpPr>
      <p:grpSpPr>
        <a:xfrm>
          <a:off x="0" y="0"/>
          <a:ext cx="0" cy="0"/>
          <a:chOff x="0" y="0"/>
          <a:chExt cx="0" cy="0"/>
        </a:xfrm>
      </p:grpSpPr>
      <p:sp>
        <p:nvSpPr>
          <p:cNvPr id="14" name="Google Shape;14;p59"/>
          <p:cNvSpPr/>
          <p:nvPr/>
        </p:nvSpPr>
        <p:spPr>
          <a:xfrm>
            <a:off x="0" y="0"/>
            <a:ext cx="12192000" cy="6858000"/>
          </a:xfrm>
          <a:prstGeom prst="rect">
            <a:avLst/>
          </a:prstGeom>
          <a:blipFill rotWithShape="1">
            <a:blip r:embed="rId2">
              <a:alphaModFix amt="12000"/>
            </a:blip>
            <a:tile algn="tl" flip="none" tx="-368300" sx="64000" ty="203200" sy="64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Century Gothic"/>
                <a:ea typeface="Century Gothic"/>
                <a:cs typeface="Century Gothic"/>
                <a:sym typeface="Century Gothic"/>
              </a:rPr>
              <a:t>C</a:t>
            </a:r>
            <a:endParaRPr/>
          </a:p>
        </p:txBody>
      </p:sp>
      <p:sp>
        <p:nvSpPr>
          <p:cNvPr id="15" name="Google Shape;15;p59"/>
          <p:cNvSpPr/>
          <p:nvPr/>
        </p:nvSpPr>
        <p:spPr>
          <a:xfrm>
            <a:off x="1307870" y="1267730"/>
            <a:ext cx="9576262" cy="4307950"/>
          </a:xfrm>
          <a:prstGeom prst="rect">
            <a:avLst/>
          </a:prstGeom>
          <a:solidFill>
            <a:schemeClr val="dk2"/>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59"/>
          <p:cNvSpPr/>
          <p:nvPr/>
        </p:nvSpPr>
        <p:spPr>
          <a:xfrm>
            <a:off x="1447801" y="1411615"/>
            <a:ext cx="9296400" cy="4034770"/>
          </a:xfrm>
          <a:prstGeom prst="rect">
            <a:avLst/>
          </a:prstGeom>
          <a:noFill/>
          <a:ln cap="sq" cmpd="sng" w="9525">
            <a:solidFill>
              <a:schemeClr val="l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59"/>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59"/>
          <p:cNvGrpSpPr/>
          <p:nvPr/>
        </p:nvGrpSpPr>
        <p:grpSpPr>
          <a:xfrm>
            <a:off x="5250180" y="1267730"/>
            <a:ext cx="1691640" cy="645295"/>
            <a:chOff x="5318306" y="1386268"/>
            <a:chExt cx="1567331" cy="645295"/>
          </a:xfrm>
        </p:grpSpPr>
        <p:cxnSp>
          <p:nvCxnSpPr>
            <p:cNvPr id="19" name="Google Shape;19;p59"/>
            <p:cNvCxnSpPr/>
            <p:nvPr/>
          </p:nvCxnSpPr>
          <p:spPr>
            <a:xfrm>
              <a:off x="5318306" y="1386268"/>
              <a:ext cx="0" cy="640080"/>
            </a:xfrm>
            <a:prstGeom prst="straightConnector1">
              <a:avLst/>
            </a:prstGeom>
            <a:solidFill>
              <a:srgbClr val="262626"/>
            </a:solidFill>
            <a:ln cap="flat" cmpd="sng" w="9525">
              <a:solidFill>
                <a:srgbClr val="D3E9F3"/>
              </a:solidFill>
              <a:prstDash val="solid"/>
              <a:miter lim="800000"/>
              <a:headEnd len="sm" w="sm" type="none"/>
              <a:tailEnd len="sm" w="sm" type="none"/>
            </a:ln>
          </p:spPr>
        </p:cxnSp>
        <p:cxnSp>
          <p:nvCxnSpPr>
            <p:cNvPr id="20" name="Google Shape;20;p59"/>
            <p:cNvCxnSpPr/>
            <p:nvPr/>
          </p:nvCxnSpPr>
          <p:spPr>
            <a:xfrm>
              <a:off x="6885637" y="1386268"/>
              <a:ext cx="0" cy="640080"/>
            </a:xfrm>
            <a:prstGeom prst="straightConnector1">
              <a:avLst/>
            </a:prstGeom>
            <a:solidFill>
              <a:srgbClr val="262626"/>
            </a:solidFill>
            <a:ln cap="flat" cmpd="sng" w="9525">
              <a:solidFill>
                <a:srgbClr val="D3E9F3"/>
              </a:solidFill>
              <a:prstDash val="solid"/>
              <a:miter lim="800000"/>
              <a:headEnd len="sm" w="sm" type="none"/>
              <a:tailEnd len="sm" w="sm" type="none"/>
            </a:ln>
          </p:spPr>
        </p:cxnSp>
        <p:cxnSp>
          <p:nvCxnSpPr>
            <p:cNvPr id="21" name="Google Shape;21;p59"/>
            <p:cNvCxnSpPr/>
            <p:nvPr/>
          </p:nvCxnSpPr>
          <p:spPr>
            <a:xfrm>
              <a:off x="5318306" y="2031563"/>
              <a:ext cx="1567331" cy="0"/>
            </a:xfrm>
            <a:prstGeom prst="straightConnector1">
              <a:avLst/>
            </a:prstGeom>
            <a:solidFill>
              <a:srgbClr val="262626"/>
            </a:solidFill>
            <a:ln cap="flat" cmpd="sng" w="9525">
              <a:solidFill>
                <a:srgbClr val="D3E9F3"/>
              </a:solidFill>
              <a:prstDash val="solid"/>
              <a:miter lim="800000"/>
              <a:headEnd len="sm" w="sm" type="none"/>
              <a:tailEnd len="sm" w="sm" type="none"/>
            </a:ln>
          </p:spPr>
        </p:cxnSp>
      </p:grpSp>
      <p:sp>
        <p:nvSpPr>
          <p:cNvPr id="22" name="Google Shape;22;p59"/>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chemeClr val="lt1"/>
              </a:buClr>
              <a:buSzPts val="7200"/>
              <a:buFont typeface="Century Gothic"/>
              <a:buNone/>
              <a:defRPr b="0" sz="7200" cap="none">
                <a:solidFill>
                  <a:schemeClr val="lt1"/>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9"/>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600"/>
              <a:buNone/>
              <a:defRPr sz="1600">
                <a:solidFill>
                  <a:schemeClr val="lt2"/>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4" name="Google Shape;24;p59"/>
          <p:cNvSpPr txBox="1"/>
          <p:nvPr>
            <p:ph idx="10" type="dt"/>
          </p:nvPr>
        </p:nvSpPr>
        <p:spPr>
          <a:xfrm>
            <a:off x="5318760" y="1341255"/>
            <a:ext cx="1554480" cy="52721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9"/>
          <p:cNvSpPr txBox="1"/>
          <p:nvPr>
            <p:ph idx="11" type="ftr"/>
          </p:nvPr>
        </p:nvSpPr>
        <p:spPr>
          <a:xfrm>
            <a:off x="1453896" y="5212080"/>
            <a:ext cx="5905500"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9"/>
          <p:cNvSpPr txBox="1"/>
          <p:nvPr>
            <p:ph idx="12" type="sldNum"/>
          </p:nvPr>
        </p:nvSpPr>
        <p:spPr>
          <a:xfrm>
            <a:off x="8606919" y="5212080"/>
            <a:ext cx="2111881"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00" u="none" cap="none" strike="noStrike">
                <a:solidFill>
                  <a:schemeClr val="lt2"/>
                </a:solidFill>
                <a:latin typeface="Century Gothic"/>
                <a:ea typeface="Century Gothic"/>
                <a:cs typeface="Century Gothic"/>
                <a:sym typeface="Century Gothic"/>
              </a:defRPr>
            </a:lvl1pPr>
            <a:lvl2pPr indent="0" lvl="1" marL="0" algn="r">
              <a:spcBef>
                <a:spcPts val="0"/>
              </a:spcBef>
              <a:buNone/>
              <a:defRPr b="0" i="0" sz="1000" u="none" cap="none" strike="noStrike">
                <a:solidFill>
                  <a:schemeClr val="lt2"/>
                </a:solidFill>
                <a:latin typeface="Century Gothic"/>
                <a:ea typeface="Century Gothic"/>
                <a:cs typeface="Century Gothic"/>
                <a:sym typeface="Century Gothic"/>
              </a:defRPr>
            </a:lvl2pPr>
            <a:lvl3pPr indent="0" lvl="2" marL="0" algn="r">
              <a:spcBef>
                <a:spcPts val="0"/>
              </a:spcBef>
              <a:buNone/>
              <a:defRPr b="0" i="0" sz="1000" u="none" cap="none" strike="noStrike">
                <a:solidFill>
                  <a:schemeClr val="lt2"/>
                </a:solidFill>
                <a:latin typeface="Century Gothic"/>
                <a:ea typeface="Century Gothic"/>
                <a:cs typeface="Century Gothic"/>
                <a:sym typeface="Century Gothic"/>
              </a:defRPr>
            </a:lvl3pPr>
            <a:lvl4pPr indent="0" lvl="3" marL="0" algn="r">
              <a:spcBef>
                <a:spcPts val="0"/>
              </a:spcBef>
              <a:buNone/>
              <a:defRPr b="0" i="0" sz="1000" u="none" cap="none" strike="noStrike">
                <a:solidFill>
                  <a:schemeClr val="lt2"/>
                </a:solidFill>
                <a:latin typeface="Century Gothic"/>
                <a:ea typeface="Century Gothic"/>
                <a:cs typeface="Century Gothic"/>
                <a:sym typeface="Century Gothic"/>
              </a:defRPr>
            </a:lvl4pPr>
            <a:lvl5pPr indent="0" lvl="4" marL="0" algn="r">
              <a:spcBef>
                <a:spcPts val="0"/>
              </a:spcBef>
              <a:buNone/>
              <a:defRPr b="0" i="0" sz="1000" u="none" cap="none" strike="noStrike">
                <a:solidFill>
                  <a:schemeClr val="lt2"/>
                </a:solidFill>
                <a:latin typeface="Century Gothic"/>
                <a:ea typeface="Century Gothic"/>
                <a:cs typeface="Century Gothic"/>
                <a:sym typeface="Century Gothic"/>
              </a:defRPr>
            </a:lvl5pPr>
            <a:lvl6pPr indent="0" lvl="5" marL="0" algn="r">
              <a:spcBef>
                <a:spcPts val="0"/>
              </a:spcBef>
              <a:buNone/>
              <a:defRPr b="0" i="0" sz="1000" u="none" cap="none" strike="noStrike">
                <a:solidFill>
                  <a:schemeClr val="lt2"/>
                </a:solidFill>
                <a:latin typeface="Century Gothic"/>
                <a:ea typeface="Century Gothic"/>
                <a:cs typeface="Century Gothic"/>
                <a:sym typeface="Century Gothic"/>
              </a:defRPr>
            </a:lvl6pPr>
            <a:lvl7pPr indent="0" lvl="6" marL="0" algn="r">
              <a:spcBef>
                <a:spcPts val="0"/>
              </a:spcBef>
              <a:buNone/>
              <a:defRPr b="0" i="0" sz="1000" u="none" cap="none" strike="noStrike">
                <a:solidFill>
                  <a:schemeClr val="lt2"/>
                </a:solidFill>
                <a:latin typeface="Century Gothic"/>
                <a:ea typeface="Century Gothic"/>
                <a:cs typeface="Century Gothic"/>
                <a:sym typeface="Century Gothic"/>
              </a:defRPr>
            </a:lvl7pPr>
            <a:lvl8pPr indent="0" lvl="7" marL="0" algn="r">
              <a:spcBef>
                <a:spcPts val="0"/>
              </a:spcBef>
              <a:buNone/>
              <a:defRPr b="0" i="0" sz="1000" u="none" cap="none" strike="noStrike">
                <a:solidFill>
                  <a:schemeClr val="lt2"/>
                </a:solidFill>
                <a:latin typeface="Century Gothic"/>
                <a:ea typeface="Century Gothic"/>
                <a:cs typeface="Century Gothic"/>
                <a:sym typeface="Century Gothic"/>
              </a:defRPr>
            </a:lvl8pPr>
            <a:lvl9pPr indent="0" lvl="8" marL="0" algn="r">
              <a:spcBef>
                <a:spcPts val="0"/>
              </a:spcBef>
              <a:buNone/>
              <a:defRPr b="0" i="0" sz="1000" u="none" cap="none" strike="noStrike">
                <a:solidFill>
                  <a:schemeClr val="lt2"/>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 name="Shape 50"/>
        <p:cNvGrpSpPr/>
        <p:nvPr/>
      </p:nvGrpSpPr>
      <p:grpSpPr>
        <a:xfrm>
          <a:off x="0" y="0"/>
          <a:ext cx="0" cy="0"/>
          <a:chOff x="0" y="0"/>
          <a:chExt cx="0" cy="0"/>
        </a:xfrm>
      </p:grpSpPr>
      <p:sp>
        <p:nvSpPr>
          <p:cNvPr id="51" name="Google Shape;51;p6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6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3" name="Google Shape;53;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6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6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9" name="Google Shape;59;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6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6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6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6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6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9" name="Google Shape;79;p6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6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69"/>
          <p:cNvSpPr/>
          <p:nvPr>
            <p:ph idx="2" type="pic"/>
          </p:nvPr>
        </p:nvSpPr>
        <p:spPr>
          <a:xfrm>
            <a:off x="5183188" y="987425"/>
            <a:ext cx="6172200" cy="4873625"/>
          </a:xfrm>
          <a:prstGeom prst="rect">
            <a:avLst/>
          </a:prstGeom>
          <a:noFill/>
          <a:ln>
            <a:noFill/>
          </a:ln>
        </p:spPr>
      </p:sp>
      <p:sp>
        <p:nvSpPr>
          <p:cNvPr id="86" name="Google Shape;86;p6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7" name="Google Shape;87;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7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7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7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57"/>
          <p:cNvSpPr/>
          <p:nvPr/>
        </p:nvSpPr>
        <p:spPr>
          <a:xfrm>
            <a:off x="234696" y="237744"/>
            <a:ext cx="11722608"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5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Century Gothic"/>
              <a:buNone/>
              <a:defRPr b="0" i="0" sz="4800" u="none" cap="none" strike="noStrike">
                <a:solidFill>
                  <a:srgbClr val="262626"/>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57"/>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chemeClr val="dk2"/>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100000"/>
              </a:lnSpc>
              <a:spcBef>
                <a:spcPts val="500"/>
              </a:spcBef>
              <a:spcAft>
                <a:spcPts val="0"/>
              </a:spcAft>
              <a:buClr>
                <a:schemeClr val="dk2"/>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17500" lvl="3" marL="18288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4pPr>
            <a:lvl5pPr indent="-317500" lvl="4" marL="22860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5pPr>
            <a:lvl6pPr indent="-317500" lvl="5" marL="27432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100000"/>
              </a:lnSpc>
              <a:spcBef>
                <a:spcPts val="500"/>
              </a:spcBef>
              <a:spcAft>
                <a:spcPts val="0"/>
              </a:spcAft>
              <a:buClr>
                <a:schemeClr val="dk2"/>
              </a:buClr>
              <a:buSzPts val="1400"/>
              <a:buFont typeface="Arial"/>
              <a:buChar char="•"/>
              <a:defRPr b="0" i="0" sz="1400" u="none" cap="none" strike="noStrike">
                <a:solidFill>
                  <a:schemeClr val="dk1"/>
                </a:solidFill>
                <a:latin typeface="Century Gothic"/>
                <a:ea typeface="Century Gothic"/>
                <a:cs typeface="Century Gothic"/>
                <a:sym typeface="Century Gothic"/>
              </a:defRPr>
            </a:lvl9pPr>
          </a:lstStyle>
          <a:p/>
        </p:txBody>
      </p:sp>
      <p:sp>
        <p:nvSpPr>
          <p:cNvPr id="9" name="Google Shape;9;p57"/>
          <p:cNvSpPr txBox="1"/>
          <p:nvPr>
            <p:ph idx="10" type="dt"/>
          </p:nvPr>
        </p:nvSpPr>
        <p:spPr>
          <a:xfrm>
            <a:off x="389464" y="6214535"/>
            <a:ext cx="2743200" cy="2560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0" name="Google Shape;10;p57"/>
          <p:cNvSpPr txBox="1"/>
          <p:nvPr>
            <p:ph idx="11" type="ftr"/>
          </p:nvPr>
        </p:nvSpPr>
        <p:spPr>
          <a:xfrm>
            <a:off x="3489960" y="6214535"/>
            <a:ext cx="5212080" cy="25603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1" name="Google Shape;11;p57"/>
          <p:cNvSpPr txBox="1"/>
          <p:nvPr>
            <p:ph idx="12" type="sldNum"/>
          </p:nvPr>
        </p:nvSpPr>
        <p:spPr>
          <a:xfrm>
            <a:off x="10314667" y="6214535"/>
            <a:ext cx="1463040" cy="256032"/>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Century Gothic"/>
                <a:ea typeface="Century Gothic"/>
                <a:cs typeface="Century Gothic"/>
                <a:sym typeface="Century Gothic"/>
              </a:defRPr>
            </a:lvl1pPr>
            <a:lvl2pPr indent="0" lvl="1" marL="0" marR="0" rtl="0" algn="r">
              <a:spcBef>
                <a:spcPts val="0"/>
              </a:spcBef>
              <a:buNone/>
              <a:defRPr b="0" i="0" sz="1000" u="none" cap="none" strike="noStrike">
                <a:solidFill>
                  <a:srgbClr val="3F3F3F"/>
                </a:solidFill>
                <a:latin typeface="Century Gothic"/>
                <a:ea typeface="Century Gothic"/>
                <a:cs typeface="Century Gothic"/>
                <a:sym typeface="Century Gothic"/>
              </a:defRPr>
            </a:lvl2pPr>
            <a:lvl3pPr indent="0" lvl="2" marL="0" marR="0" rtl="0" algn="r">
              <a:spcBef>
                <a:spcPts val="0"/>
              </a:spcBef>
              <a:buNone/>
              <a:defRPr b="0" i="0" sz="1000" u="none" cap="none" strike="noStrike">
                <a:solidFill>
                  <a:srgbClr val="3F3F3F"/>
                </a:solidFill>
                <a:latin typeface="Century Gothic"/>
                <a:ea typeface="Century Gothic"/>
                <a:cs typeface="Century Gothic"/>
                <a:sym typeface="Century Gothic"/>
              </a:defRPr>
            </a:lvl3pPr>
            <a:lvl4pPr indent="0" lvl="3" marL="0" marR="0" rtl="0" algn="r">
              <a:spcBef>
                <a:spcPts val="0"/>
              </a:spcBef>
              <a:buNone/>
              <a:defRPr b="0" i="0" sz="1000" u="none" cap="none" strike="noStrike">
                <a:solidFill>
                  <a:srgbClr val="3F3F3F"/>
                </a:solidFill>
                <a:latin typeface="Century Gothic"/>
                <a:ea typeface="Century Gothic"/>
                <a:cs typeface="Century Gothic"/>
                <a:sym typeface="Century Gothic"/>
              </a:defRPr>
            </a:lvl4pPr>
            <a:lvl5pPr indent="0" lvl="4" marL="0" marR="0" rtl="0" algn="r">
              <a:spcBef>
                <a:spcPts val="0"/>
              </a:spcBef>
              <a:buNone/>
              <a:defRPr b="0" i="0" sz="1000" u="none" cap="none" strike="noStrike">
                <a:solidFill>
                  <a:srgbClr val="3F3F3F"/>
                </a:solidFill>
                <a:latin typeface="Century Gothic"/>
                <a:ea typeface="Century Gothic"/>
                <a:cs typeface="Century Gothic"/>
                <a:sym typeface="Century Gothic"/>
              </a:defRPr>
            </a:lvl5pPr>
            <a:lvl6pPr indent="0" lvl="5" marL="0" marR="0" rtl="0" algn="r">
              <a:spcBef>
                <a:spcPts val="0"/>
              </a:spcBef>
              <a:buNone/>
              <a:defRPr b="0" i="0" sz="1000" u="none" cap="none" strike="noStrike">
                <a:solidFill>
                  <a:srgbClr val="3F3F3F"/>
                </a:solidFill>
                <a:latin typeface="Century Gothic"/>
                <a:ea typeface="Century Gothic"/>
                <a:cs typeface="Century Gothic"/>
                <a:sym typeface="Century Gothic"/>
              </a:defRPr>
            </a:lvl6pPr>
            <a:lvl7pPr indent="0" lvl="6" marL="0" marR="0" rtl="0" algn="r">
              <a:spcBef>
                <a:spcPts val="0"/>
              </a:spcBef>
              <a:buNone/>
              <a:defRPr b="0" i="0" sz="1000" u="none" cap="none" strike="noStrike">
                <a:solidFill>
                  <a:srgbClr val="3F3F3F"/>
                </a:solidFill>
                <a:latin typeface="Century Gothic"/>
                <a:ea typeface="Century Gothic"/>
                <a:cs typeface="Century Gothic"/>
                <a:sym typeface="Century Gothic"/>
              </a:defRPr>
            </a:lvl7pPr>
            <a:lvl8pPr indent="0" lvl="7" marL="0" marR="0" rtl="0" algn="r">
              <a:spcBef>
                <a:spcPts val="0"/>
              </a:spcBef>
              <a:buNone/>
              <a:defRPr b="0" i="0" sz="1000" u="none" cap="none" strike="noStrike">
                <a:solidFill>
                  <a:srgbClr val="3F3F3F"/>
                </a:solidFill>
                <a:latin typeface="Century Gothic"/>
                <a:ea typeface="Century Gothic"/>
                <a:cs typeface="Century Gothic"/>
                <a:sym typeface="Century Gothic"/>
              </a:defRPr>
            </a:lvl8pPr>
            <a:lvl9pPr indent="0" lvl="8" marL="0" marR="0" rtl="0" algn="r">
              <a:spcBef>
                <a:spcPts val="0"/>
              </a:spcBef>
              <a:buNone/>
              <a:defRPr b="0" i="0" sz="10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57"/>
          <p:cNvSpPr/>
          <p:nvPr/>
        </p:nvSpPr>
        <p:spPr>
          <a:xfrm>
            <a:off x="371856" y="374904"/>
            <a:ext cx="11448288"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4.bp.blogspot.com/-AcLJ-BQGnjo/Ux9CV9dmlLI/AAAAAAAAAJ4/f34iJQrKpz0/s1600/RS3.jpg" TargetMode="Externa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3.bp.blogspot.com/-6bkOi9dw9HI/Ux9NJBTebdI/AAAAAAAAAKI/hSX9bEpHO1o/s1600/RS4.jpg" TargetMode="External"/><Relationship Id="rId4" Type="http://schemas.openxmlformats.org/officeDocument/2006/relationships/image" Target="../media/image2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s://3.bp.blogspot.com/-FGJhQc0GOok/UyRa1xrudWI/AAAAAAAAAKo/wcdT9fqMwI0/s1600/rs2_sorted.jpg" TargetMode="External"/><Relationship Id="rId4" Type="http://schemas.openxmlformats.org/officeDocument/2006/relationships/image" Target="../media/image1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3.bp.blogspot.com/-S8BZhqwXsEk/UyRibT0RWjI/AAAAAAAAAK4/yYE90zxrNmE/s1600/rs1_parallelexternalsortmerge_V1.jpg" TargetMode="External"/><Relationship Id="rId4" Type="http://schemas.openxmlformats.org/officeDocument/2006/relationships/image" Target="../media/image1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hyperlink" Target="https://3.bp.blogspot.com/-lkb7mte8yOo/UyRtXoTDHqI/AAAAAAAAALQ/67uccWFCU-M/s1600/rs1_parallelexternalsortmerge_v2.jpg" TargetMode="External"/><Relationship Id="rId4" Type="http://schemas.openxmlformats.org/officeDocument/2006/relationships/image" Target="../media/image1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1.bp.blogspot.com/-Mxl2OThBz1A/UyRwbScv7NI/AAAAAAAAALc/cWqs5guIoDU/s1600/rs1_parallelexternalsortmerge_v3.jpg" TargetMode="External"/><Relationship Id="rId4" Type="http://schemas.openxmlformats.org/officeDocument/2006/relationships/image" Target="../media/image2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hyperlink" Target="https://3.bp.blogspot.com/-_zM5gT-HZZ4/Uy8kcPiiTpI/AAAAAAAAAMI/RBDDMTbJy4I/s1600/PartitionedJoin_V1.jpg" TargetMode="External"/><Relationship Id="rId4" Type="http://schemas.openxmlformats.org/officeDocument/2006/relationships/image" Target="../media/image1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chemeClr val="lt1"/>
              </a:buClr>
              <a:buSzPts val="7200"/>
              <a:buFont typeface="Century Gothic"/>
              <a:buNone/>
            </a:pPr>
            <a:r>
              <a:rPr lang="en-US"/>
              <a:t>PARALLEL DATABASES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nvSpPr>
        <p:spPr>
          <a:xfrm>
            <a:off x="221673" y="468787"/>
            <a:ext cx="11970327" cy="5693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sng" cap="none" strike="noStrike">
                <a:solidFill>
                  <a:srgbClr val="FF0000"/>
                </a:solidFill>
                <a:latin typeface="Arial Rounded"/>
                <a:ea typeface="Arial Rounded"/>
                <a:cs typeface="Arial Rounded"/>
                <a:sym typeface="Arial Rounded"/>
              </a:rPr>
              <a:t>Goals of Parallel Databases</a:t>
            </a:r>
            <a:endParaRPr/>
          </a:p>
          <a:p>
            <a:pPr indent="0" lvl="0" marL="0" marR="0" rtl="0" algn="l">
              <a:spcBef>
                <a:spcPts val="0"/>
              </a:spcBef>
              <a:spcAft>
                <a:spcPts val="0"/>
              </a:spcAft>
              <a:buNone/>
            </a:pPr>
            <a:r>
              <a:t/>
            </a:r>
            <a:endParaRPr b="1" i="0" sz="1800">
              <a:solidFill>
                <a:srgbClr val="000000"/>
              </a:solidFill>
              <a:latin typeface="Arial Rounded"/>
              <a:ea typeface="Arial Rounded"/>
              <a:cs typeface="Arial Rounded"/>
              <a:sym typeface="Arial Rounded"/>
            </a:endParaRPr>
          </a:p>
          <a:p>
            <a:pPr indent="-285750" lvl="0" marL="285750" marR="0" rtl="0" algn="l">
              <a:spcBef>
                <a:spcPts val="0"/>
              </a:spcBef>
              <a:spcAft>
                <a:spcPts val="0"/>
              </a:spcAft>
              <a:buClr>
                <a:srgbClr val="0070C0"/>
              </a:buClr>
              <a:buSzPts val="1900"/>
              <a:buFont typeface="Noto Sans Symbols"/>
              <a:buChar char="❖"/>
            </a:pPr>
            <a:r>
              <a:rPr b="1" i="0" lang="en-US" sz="1900">
                <a:solidFill>
                  <a:srgbClr val="0070C0"/>
                </a:solidFill>
                <a:latin typeface="Arial Rounded"/>
                <a:ea typeface="Arial Rounded"/>
                <a:cs typeface="Arial Rounded"/>
                <a:sym typeface="Arial Rounded"/>
              </a:rPr>
              <a:t>Improve performance:</a:t>
            </a:r>
            <a:br>
              <a:rPr b="1" lang="en-US" sz="1900">
                <a:solidFill>
                  <a:schemeClr val="dk1"/>
                </a:solidFill>
                <a:latin typeface="Arial Rounded"/>
                <a:ea typeface="Arial Rounded"/>
                <a:cs typeface="Arial Rounded"/>
                <a:sym typeface="Arial Rounded"/>
              </a:rPr>
            </a:br>
            <a:r>
              <a:rPr b="1" i="0" lang="en-US" sz="1900">
                <a:solidFill>
                  <a:srgbClr val="000000"/>
                </a:solidFill>
                <a:latin typeface="Arial Rounded"/>
                <a:ea typeface="Arial Rounded"/>
                <a:cs typeface="Arial Rounded"/>
                <a:sym typeface="Arial Rounded"/>
              </a:rPr>
              <a:t>The performance of the system can be improved by connecting multiple CPU and disks in parallel. Many small processors can also be connected in parallel.</a:t>
            </a:r>
            <a:endParaRPr/>
          </a:p>
          <a:p>
            <a:pPr indent="0" lvl="0" marL="0" marR="0" rtl="0" algn="l">
              <a:spcBef>
                <a:spcPts val="0"/>
              </a:spcBef>
              <a:spcAft>
                <a:spcPts val="0"/>
              </a:spcAft>
              <a:buNone/>
            </a:pPr>
            <a:r>
              <a:t/>
            </a:r>
            <a:endParaRPr b="1" sz="1900">
              <a:solidFill>
                <a:schemeClr val="dk1"/>
              </a:solidFill>
              <a:latin typeface="Arial Rounded"/>
              <a:ea typeface="Arial Rounded"/>
              <a:cs typeface="Arial Rounded"/>
              <a:sym typeface="Arial Rounded"/>
            </a:endParaRPr>
          </a:p>
          <a:p>
            <a:pPr indent="-285750" lvl="0" marL="285750" marR="0" rtl="0" algn="l">
              <a:spcBef>
                <a:spcPts val="0"/>
              </a:spcBef>
              <a:spcAft>
                <a:spcPts val="0"/>
              </a:spcAft>
              <a:buClr>
                <a:srgbClr val="0070C0"/>
              </a:buClr>
              <a:buSzPts val="1900"/>
              <a:buFont typeface="Noto Sans Symbols"/>
              <a:buChar char="❖"/>
            </a:pPr>
            <a:r>
              <a:rPr b="1" i="0" lang="en-US" sz="1900">
                <a:solidFill>
                  <a:srgbClr val="0070C0"/>
                </a:solidFill>
                <a:latin typeface="Arial Rounded"/>
                <a:ea typeface="Arial Rounded"/>
                <a:cs typeface="Arial Rounded"/>
                <a:sym typeface="Arial Rounded"/>
              </a:rPr>
              <a:t>Improve availability of data:</a:t>
            </a:r>
            <a:br>
              <a:rPr b="1" lang="en-US" sz="1900">
                <a:solidFill>
                  <a:schemeClr val="dk1"/>
                </a:solidFill>
                <a:latin typeface="Arial Rounded"/>
                <a:ea typeface="Arial Rounded"/>
                <a:cs typeface="Arial Rounded"/>
                <a:sym typeface="Arial Rounded"/>
              </a:rPr>
            </a:br>
            <a:r>
              <a:rPr b="1" i="0" lang="en-US" sz="1900">
                <a:solidFill>
                  <a:srgbClr val="000000"/>
                </a:solidFill>
                <a:latin typeface="Arial Rounded"/>
                <a:ea typeface="Arial Rounded"/>
                <a:cs typeface="Arial Rounded"/>
                <a:sym typeface="Arial Rounded"/>
              </a:rPr>
              <a:t>Data can be copied to multiple locations to improve the availability of data. In the parallel database, nodes have less contact with each other, so the failure of one node doesn’t cause for failure of the entire system. This amounts to significantly higher database availability.</a:t>
            </a:r>
            <a:endParaRPr/>
          </a:p>
          <a:p>
            <a:pPr indent="0" lvl="0" marL="0" marR="0" rtl="0" algn="l">
              <a:spcBef>
                <a:spcPts val="0"/>
              </a:spcBef>
              <a:spcAft>
                <a:spcPts val="0"/>
              </a:spcAft>
              <a:buNone/>
            </a:pPr>
            <a:r>
              <a:t/>
            </a:r>
            <a:endParaRPr b="1" sz="1900">
              <a:solidFill>
                <a:schemeClr val="dk1"/>
              </a:solidFill>
              <a:latin typeface="Arial Rounded"/>
              <a:ea typeface="Arial Rounded"/>
              <a:cs typeface="Arial Rounded"/>
              <a:sym typeface="Arial Rounded"/>
            </a:endParaRPr>
          </a:p>
          <a:p>
            <a:pPr indent="-285750" lvl="0" marL="285750" marR="0" rtl="0" algn="l">
              <a:spcBef>
                <a:spcPts val="0"/>
              </a:spcBef>
              <a:spcAft>
                <a:spcPts val="0"/>
              </a:spcAft>
              <a:buClr>
                <a:srgbClr val="0070C0"/>
              </a:buClr>
              <a:buSzPts val="1900"/>
              <a:buFont typeface="Noto Sans Symbols"/>
              <a:buChar char="❖"/>
            </a:pPr>
            <a:r>
              <a:rPr b="1" i="0" lang="en-US" sz="1900">
                <a:solidFill>
                  <a:srgbClr val="0070C0"/>
                </a:solidFill>
                <a:latin typeface="Arial Rounded"/>
                <a:ea typeface="Arial Rounded"/>
                <a:cs typeface="Arial Rounded"/>
                <a:sym typeface="Arial Rounded"/>
              </a:rPr>
              <a:t>Improve reliability:</a:t>
            </a:r>
            <a:br>
              <a:rPr b="1" lang="en-US" sz="1900">
                <a:solidFill>
                  <a:srgbClr val="0070C0"/>
                </a:solidFill>
                <a:latin typeface="Arial Rounded"/>
                <a:ea typeface="Arial Rounded"/>
                <a:cs typeface="Arial Rounded"/>
                <a:sym typeface="Arial Rounded"/>
              </a:rPr>
            </a:br>
            <a:r>
              <a:rPr b="1" i="0" lang="en-US" sz="1900">
                <a:solidFill>
                  <a:srgbClr val="000000"/>
                </a:solidFill>
                <a:latin typeface="Arial Rounded"/>
                <a:ea typeface="Arial Rounded"/>
                <a:cs typeface="Arial Rounded"/>
                <a:sym typeface="Arial Rounded"/>
              </a:rPr>
              <a:t>Reliability of system is improved with completeness, accuracy and availability of data. When one site fails, the execution can continue with another available site which is having a copy of data. Making the system more reliable.</a:t>
            </a:r>
            <a:endParaRPr/>
          </a:p>
          <a:p>
            <a:pPr indent="0" lvl="0" marL="0" marR="0" rtl="0" algn="l">
              <a:spcBef>
                <a:spcPts val="0"/>
              </a:spcBef>
              <a:spcAft>
                <a:spcPts val="0"/>
              </a:spcAft>
              <a:buNone/>
            </a:pPr>
            <a:r>
              <a:t/>
            </a:r>
            <a:endParaRPr b="1" i="0" sz="1900">
              <a:solidFill>
                <a:srgbClr val="000000"/>
              </a:solidFill>
              <a:latin typeface="Arial Rounded"/>
              <a:ea typeface="Arial Rounded"/>
              <a:cs typeface="Arial Rounded"/>
              <a:sym typeface="Arial Rounded"/>
            </a:endParaRPr>
          </a:p>
          <a:p>
            <a:pPr indent="-285750" lvl="0" marL="285750" marR="0" rtl="0" algn="l">
              <a:spcBef>
                <a:spcPts val="0"/>
              </a:spcBef>
              <a:spcAft>
                <a:spcPts val="0"/>
              </a:spcAft>
              <a:buClr>
                <a:srgbClr val="0070C0"/>
              </a:buClr>
              <a:buSzPts val="1900"/>
              <a:buFont typeface="Noto Sans Symbols"/>
              <a:buChar char="❖"/>
            </a:pPr>
            <a:r>
              <a:rPr b="1" i="0" lang="en-US" sz="1900">
                <a:solidFill>
                  <a:srgbClr val="0070C0"/>
                </a:solidFill>
                <a:latin typeface="Arial Rounded"/>
                <a:ea typeface="Arial Rounded"/>
                <a:cs typeface="Arial Rounded"/>
                <a:sym typeface="Arial Rounded"/>
              </a:rPr>
              <a:t>Provide distributed access of data:</a:t>
            </a:r>
            <a:br>
              <a:rPr b="1" lang="en-US" sz="1900">
                <a:solidFill>
                  <a:schemeClr val="dk1"/>
                </a:solidFill>
                <a:latin typeface="Arial Rounded"/>
                <a:ea typeface="Arial Rounded"/>
                <a:cs typeface="Arial Rounded"/>
                <a:sym typeface="Arial Rounded"/>
              </a:rPr>
            </a:br>
            <a:r>
              <a:rPr b="1" i="0" lang="en-US" sz="1900">
                <a:solidFill>
                  <a:srgbClr val="000000"/>
                </a:solidFill>
                <a:latin typeface="Arial Rounded"/>
                <a:ea typeface="Arial Rounded"/>
                <a:cs typeface="Arial Rounded"/>
                <a:sym typeface="Arial Rounded"/>
              </a:rPr>
              <a:t>Companies having many branches in multiple cities can access data with the help of parallel database system.</a:t>
            </a:r>
            <a:endParaRPr b="1" sz="1900">
              <a:solidFill>
                <a:schemeClr val="dk1"/>
              </a:solidFill>
              <a:latin typeface="Arial Rounded"/>
              <a:ea typeface="Arial Rounded"/>
              <a:cs typeface="Arial Rounded"/>
              <a:sym typeface="Arial Round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parallel databases system" id="116" name="Google Shape;116;p3"/>
          <p:cNvPicPr preferRelativeResize="0"/>
          <p:nvPr/>
        </p:nvPicPr>
        <p:blipFill rotWithShape="1">
          <a:blip r:embed="rId3">
            <a:alphaModFix/>
          </a:blip>
          <a:srcRect b="0" l="0" r="0" t="0"/>
          <a:stretch/>
        </p:blipFill>
        <p:spPr>
          <a:xfrm>
            <a:off x="2377066" y="655782"/>
            <a:ext cx="6101916" cy="48929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203200" y="178615"/>
            <a:ext cx="11785599" cy="1431161"/>
          </a:xfrm>
          <a:prstGeom prst="rect">
            <a:avLst/>
          </a:prstGeom>
          <a:solidFill>
            <a:srgbClr val="FFFFFF"/>
          </a:solid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rgbClr val="0070C0"/>
              </a:buClr>
              <a:buSzPts val="2100"/>
              <a:buFont typeface="Noto Sans Symbols"/>
              <a:buChar char="❖"/>
            </a:pPr>
            <a:r>
              <a:rPr b="1" i="0" lang="en-US" sz="2100" u="sng" cap="none" strike="noStrike">
                <a:solidFill>
                  <a:srgbClr val="0070C0"/>
                </a:solidFill>
                <a:latin typeface="Arial Rounded"/>
                <a:ea typeface="Arial Rounded"/>
                <a:cs typeface="Arial Rounded"/>
                <a:sym typeface="Arial Rounded"/>
              </a:rPr>
              <a:t>Performance Measurement of Databases :</a:t>
            </a:r>
            <a:br>
              <a:rPr b="1" i="0" lang="en-US" sz="1900" u="none" cap="none" strike="noStrike">
                <a:solidFill>
                  <a:srgbClr val="0070C0"/>
                </a:solidFill>
                <a:latin typeface="Arial Rounded"/>
                <a:ea typeface="Arial Rounded"/>
                <a:cs typeface="Arial Rounded"/>
                <a:sym typeface="Arial Rounded"/>
              </a:rPr>
            </a:br>
            <a:r>
              <a:rPr b="1" i="0" lang="en-US" sz="1900" u="none" cap="none" strike="noStrike">
                <a:solidFill>
                  <a:srgbClr val="273239"/>
                </a:solidFill>
                <a:latin typeface="Arial Rounded"/>
                <a:ea typeface="Arial Rounded"/>
                <a:cs typeface="Arial Rounded"/>
                <a:sym typeface="Arial Rounded"/>
              </a:rPr>
              <a:t>Here, we will emphasize the performance measurement factor-like Speedup and Scale-up. </a:t>
            </a:r>
            <a:endParaRPr/>
          </a:p>
          <a:p>
            <a:pPr indent="0" lvl="0" marL="0" marR="0" rtl="0" algn="l">
              <a:lnSpc>
                <a:spcPct val="100000"/>
              </a:lnSpc>
              <a:spcBef>
                <a:spcPts val="0"/>
              </a:spcBef>
              <a:spcAft>
                <a:spcPts val="0"/>
              </a:spcAft>
              <a:buClr>
                <a:schemeClr val="dk1"/>
              </a:buClr>
              <a:buSzPts val="1500"/>
              <a:buFont typeface="Arial"/>
              <a:buNone/>
            </a:pPr>
            <a:r>
              <a:t/>
            </a:r>
            <a:endParaRPr b="1" sz="1500">
              <a:solidFill>
                <a:srgbClr val="273239"/>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FF0000"/>
              </a:buClr>
              <a:buSzPts val="1900"/>
              <a:buFont typeface="Arial Rounded"/>
              <a:buNone/>
            </a:pPr>
            <a:r>
              <a:rPr b="1" i="0" lang="en-US" sz="1900" u="none" cap="none" strike="noStrike">
                <a:solidFill>
                  <a:srgbClr val="FF0000"/>
                </a:solidFill>
                <a:latin typeface="Arial Rounded"/>
                <a:ea typeface="Arial Rounded"/>
                <a:cs typeface="Arial Rounded"/>
                <a:sym typeface="Arial Rounded"/>
              </a:rPr>
              <a:t>Speedup –</a:t>
            </a:r>
            <a:br>
              <a:rPr b="1" i="0" lang="en-US" sz="1900" u="none" cap="none" strike="noStrike">
                <a:solidFill>
                  <a:srgbClr val="273239"/>
                </a:solidFill>
                <a:latin typeface="Arial Rounded"/>
                <a:ea typeface="Arial Rounded"/>
                <a:cs typeface="Arial Rounded"/>
                <a:sym typeface="Arial Rounded"/>
              </a:rPr>
            </a:br>
            <a:r>
              <a:rPr b="1" i="0" lang="en-US" sz="1900" u="none" cap="none" strike="noStrike">
                <a:solidFill>
                  <a:srgbClr val="273239"/>
                </a:solidFill>
                <a:latin typeface="Arial Rounded"/>
                <a:ea typeface="Arial Rounded"/>
                <a:cs typeface="Arial Rounded"/>
                <a:sym typeface="Arial Rounded"/>
              </a:rPr>
              <a:t>The ability to execute the tasks in less time by increasing the number of resources is called Speedup.</a:t>
            </a:r>
            <a:endParaRPr b="1" i="0" sz="1900" u="none" cap="none" strike="noStrike">
              <a:solidFill>
                <a:srgbClr val="273239"/>
              </a:solidFill>
              <a:latin typeface="Arial Rounded"/>
              <a:ea typeface="Arial Rounded"/>
              <a:cs typeface="Arial Rounded"/>
              <a:sym typeface="Arial Rounded"/>
            </a:endParaRPr>
          </a:p>
        </p:txBody>
      </p:sp>
      <p:pic>
        <p:nvPicPr>
          <p:cNvPr id="122" name="Google Shape;122;p4"/>
          <p:cNvPicPr preferRelativeResize="0"/>
          <p:nvPr/>
        </p:nvPicPr>
        <p:blipFill rotWithShape="1">
          <a:blip r:embed="rId3">
            <a:alphaModFix/>
          </a:blip>
          <a:srcRect b="14284" l="0" r="0" t="0"/>
          <a:stretch/>
        </p:blipFill>
        <p:spPr>
          <a:xfrm>
            <a:off x="0" y="3378285"/>
            <a:ext cx="3933825" cy="3363768"/>
          </a:xfrm>
          <a:prstGeom prst="rect">
            <a:avLst/>
          </a:prstGeom>
          <a:noFill/>
          <a:ln>
            <a:noFill/>
          </a:ln>
        </p:spPr>
      </p:pic>
      <p:pic>
        <p:nvPicPr>
          <p:cNvPr id="123" name="Google Shape;123;p4"/>
          <p:cNvPicPr preferRelativeResize="0"/>
          <p:nvPr/>
        </p:nvPicPr>
        <p:blipFill rotWithShape="1">
          <a:blip r:embed="rId4">
            <a:alphaModFix/>
          </a:blip>
          <a:srcRect b="70919" l="0" r="0" t="0"/>
          <a:stretch/>
        </p:blipFill>
        <p:spPr>
          <a:xfrm>
            <a:off x="3723120" y="4202546"/>
            <a:ext cx="3933825" cy="1717964"/>
          </a:xfrm>
          <a:prstGeom prst="rect">
            <a:avLst/>
          </a:prstGeom>
          <a:noFill/>
          <a:ln>
            <a:noFill/>
          </a:ln>
        </p:spPr>
      </p:pic>
      <p:pic>
        <p:nvPicPr>
          <p:cNvPr id="124" name="Google Shape;124;p4"/>
          <p:cNvPicPr preferRelativeResize="0"/>
          <p:nvPr/>
        </p:nvPicPr>
        <p:blipFill rotWithShape="1">
          <a:blip r:embed="rId4">
            <a:alphaModFix/>
          </a:blip>
          <a:srcRect b="0" l="0" r="0" t="35315"/>
          <a:stretch/>
        </p:blipFill>
        <p:spPr>
          <a:xfrm>
            <a:off x="7472218" y="3429000"/>
            <a:ext cx="4516581" cy="3250385"/>
          </a:xfrm>
          <a:prstGeom prst="rect">
            <a:avLst/>
          </a:prstGeom>
          <a:noFill/>
          <a:ln>
            <a:noFill/>
          </a:ln>
        </p:spPr>
      </p:pic>
      <p:pic>
        <p:nvPicPr>
          <p:cNvPr id="125" name="Google Shape;125;p4"/>
          <p:cNvPicPr preferRelativeResize="0"/>
          <p:nvPr/>
        </p:nvPicPr>
        <p:blipFill>
          <a:blip r:embed="rId5">
            <a:alphaModFix/>
          </a:blip>
          <a:stretch>
            <a:fillRect/>
          </a:stretch>
        </p:blipFill>
        <p:spPr>
          <a:xfrm>
            <a:off x="1709275" y="1609775"/>
            <a:ext cx="7800426" cy="1617700"/>
          </a:xfrm>
          <a:prstGeom prst="rect">
            <a:avLst/>
          </a:prstGeom>
          <a:noFill/>
          <a:ln cap="flat" cmpd="sng" w="28575">
            <a:solidFill>
              <a:schemeClr val="accent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nvSpPr>
        <p:spPr>
          <a:xfrm>
            <a:off x="214458" y="128829"/>
            <a:ext cx="1139767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FF0000"/>
                </a:solidFill>
                <a:latin typeface="Arial Rounded"/>
                <a:ea typeface="Arial Rounded"/>
                <a:cs typeface="Arial Rounded"/>
                <a:sym typeface="Arial Rounded"/>
              </a:rPr>
              <a:t>Scale-up –</a:t>
            </a:r>
            <a:br>
              <a:rPr b="1" lang="en-US" sz="1800">
                <a:solidFill>
                  <a:schemeClr val="dk1"/>
                </a:solidFill>
                <a:latin typeface="Arial Rounded"/>
                <a:ea typeface="Arial Rounded"/>
                <a:cs typeface="Arial Rounded"/>
                <a:sym typeface="Arial Rounded"/>
              </a:rPr>
            </a:br>
            <a:r>
              <a:rPr b="1" i="0" lang="en-US" sz="1800">
                <a:solidFill>
                  <a:srgbClr val="273239"/>
                </a:solidFill>
                <a:latin typeface="Arial Rounded"/>
                <a:ea typeface="Arial Rounded"/>
                <a:cs typeface="Arial Rounded"/>
                <a:sym typeface="Arial Rounded"/>
              </a:rPr>
              <a:t>The ability to maintain the performance of the system when both workload and resources increase proportionally.</a:t>
            </a:r>
            <a:endParaRPr b="1" sz="1800">
              <a:solidFill>
                <a:schemeClr val="dk1"/>
              </a:solidFill>
              <a:latin typeface="Arial Rounded"/>
              <a:ea typeface="Arial Rounded"/>
              <a:cs typeface="Arial Rounded"/>
              <a:sym typeface="Arial Rounded"/>
            </a:endParaRPr>
          </a:p>
        </p:txBody>
      </p:sp>
      <p:pic>
        <p:nvPicPr>
          <p:cNvPr id="131" name="Google Shape;131;p5"/>
          <p:cNvPicPr preferRelativeResize="0"/>
          <p:nvPr/>
        </p:nvPicPr>
        <p:blipFill rotWithShape="1">
          <a:blip r:embed="rId3">
            <a:alphaModFix/>
          </a:blip>
          <a:srcRect b="0" l="0" r="0" t="0"/>
          <a:stretch/>
        </p:blipFill>
        <p:spPr>
          <a:xfrm>
            <a:off x="2636403" y="748201"/>
            <a:ext cx="8334375" cy="1514475"/>
          </a:xfrm>
          <a:prstGeom prst="rect">
            <a:avLst/>
          </a:prstGeom>
          <a:noFill/>
          <a:ln cap="flat" cmpd="sng" w="28575">
            <a:solidFill>
              <a:schemeClr val="accent1"/>
            </a:solidFill>
            <a:prstDash val="solid"/>
            <a:round/>
            <a:headEnd len="sm" w="sm" type="none"/>
            <a:tailEnd len="sm" w="sm" type="none"/>
          </a:ln>
        </p:spPr>
      </p:pic>
      <p:pic>
        <p:nvPicPr>
          <p:cNvPr id="132" name="Google Shape;132;p5"/>
          <p:cNvPicPr preferRelativeResize="0"/>
          <p:nvPr/>
        </p:nvPicPr>
        <p:blipFill rotWithShape="1">
          <a:blip r:embed="rId4">
            <a:alphaModFix/>
          </a:blip>
          <a:srcRect b="17570" l="0" r="0" t="0"/>
          <a:stretch/>
        </p:blipFill>
        <p:spPr>
          <a:xfrm>
            <a:off x="0" y="2364392"/>
            <a:ext cx="3114675" cy="3611651"/>
          </a:xfrm>
          <a:prstGeom prst="rect">
            <a:avLst/>
          </a:prstGeom>
          <a:noFill/>
          <a:ln>
            <a:noFill/>
          </a:ln>
        </p:spPr>
      </p:pic>
      <p:sp>
        <p:nvSpPr>
          <p:cNvPr id="133" name="Google Shape;133;p5"/>
          <p:cNvSpPr txBox="1"/>
          <p:nvPr/>
        </p:nvSpPr>
        <p:spPr>
          <a:xfrm>
            <a:off x="3576493" y="2812963"/>
            <a:ext cx="7980218"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273239"/>
                </a:solidFill>
                <a:latin typeface="Arial Rounded"/>
                <a:ea typeface="Arial Rounded"/>
                <a:cs typeface="Arial Rounded"/>
                <a:sym typeface="Arial Rounded"/>
              </a:rPr>
              <a:t>Example –</a:t>
            </a:r>
            <a:br>
              <a:rPr b="1" lang="en-US" sz="1800">
                <a:solidFill>
                  <a:schemeClr val="dk1"/>
                </a:solidFill>
                <a:latin typeface="Arial Rounded"/>
                <a:ea typeface="Arial Rounded"/>
                <a:cs typeface="Arial Rounded"/>
                <a:sym typeface="Arial Rounded"/>
              </a:rPr>
            </a:br>
            <a:r>
              <a:rPr b="1" i="0" lang="en-US" sz="1800">
                <a:solidFill>
                  <a:srgbClr val="273239"/>
                </a:solidFill>
                <a:latin typeface="Arial Rounded"/>
                <a:ea typeface="Arial Rounded"/>
                <a:cs typeface="Arial Rounded"/>
                <a:sym typeface="Arial Rounded"/>
              </a:rPr>
              <a:t>20 users are using a CPU at 100% efficiency. If we try to add more users, then it’s not possible for a single processor to handle additional users. A new processor can be added to serve the users parallel. And will provide 200% efficiency.</a:t>
            </a:r>
            <a:endParaRPr b="1" sz="1800">
              <a:solidFill>
                <a:schemeClr val="dk1"/>
              </a:solidFill>
              <a:latin typeface="Arial Rounded"/>
              <a:ea typeface="Arial Rounded"/>
              <a:cs typeface="Arial Rounded"/>
              <a:sym typeface="Arial Rounded"/>
            </a:endParaRPr>
          </a:p>
        </p:txBody>
      </p:sp>
      <p:pic>
        <p:nvPicPr>
          <p:cNvPr id="134" name="Google Shape;134;p5"/>
          <p:cNvPicPr preferRelativeResize="0"/>
          <p:nvPr/>
        </p:nvPicPr>
        <p:blipFill rotWithShape="1">
          <a:blip r:embed="rId5">
            <a:alphaModFix/>
          </a:blip>
          <a:srcRect b="0" l="0" r="0" t="0"/>
          <a:stretch/>
        </p:blipFill>
        <p:spPr>
          <a:xfrm>
            <a:off x="3576493" y="4249393"/>
            <a:ext cx="8467725" cy="2419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nvSpPr>
        <p:spPr>
          <a:xfrm>
            <a:off x="175490" y="1002207"/>
            <a:ext cx="11841019" cy="460126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FF0000"/>
              </a:buClr>
              <a:buSzPts val="2400"/>
              <a:buFont typeface="Noto Sans Symbols"/>
              <a:buChar char="❖"/>
            </a:pPr>
            <a:r>
              <a:rPr b="1" i="0" lang="en-US" sz="2400" u="sng">
                <a:solidFill>
                  <a:srgbClr val="FF0000"/>
                </a:solidFill>
                <a:latin typeface="Arial Rounded"/>
                <a:ea typeface="Arial Rounded"/>
                <a:cs typeface="Arial Rounded"/>
                <a:sym typeface="Arial Rounded"/>
              </a:rPr>
              <a:t>Types of Parallel Database Architecture</a:t>
            </a:r>
            <a:endParaRPr/>
          </a:p>
          <a:p>
            <a:pPr indent="0" lvl="0" marL="0" marR="0" rtl="0" algn="l">
              <a:spcBef>
                <a:spcPts val="0"/>
              </a:spcBef>
              <a:spcAft>
                <a:spcPts val="0"/>
              </a:spcAft>
              <a:buNone/>
            </a:pPr>
            <a:r>
              <a:t/>
            </a:r>
            <a:endParaRPr b="1" sz="1900">
              <a:solidFill>
                <a:srgbClr val="000000"/>
              </a:solidFill>
              <a:latin typeface="Arial Rounded"/>
              <a:ea typeface="Arial Rounded"/>
              <a:cs typeface="Arial Rounded"/>
              <a:sym typeface="Arial Rounded"/>
            </a:endParaRPr>
          </a:p>
          <a:p>
            <a:pPr indent="-342900" lvl="0" marL="342900" marR="0" rtl="0" algn="l">
              <a:spcBef>
                <a:spcPts val="0"/>
              </a:spcBef>
              <a:spcAft>
                <a:spcPts val="0"/>
              </a:spcAft>
              <a:buClr>
                <a:srgbClr val="273239"/>
              </a:buClr>
              <a:buSzPts val="2100"/>
              <a:buFont typeface="Noto Sans Symbols"/>
              <a:buChar char="⮚"/>
            </a:pPr>
            <a:r>
              <a:rPr b="1" i="0" lang="en-US" sz="2100">
                <a:solidFill>
                  <a:srgbClr val="273239"/>
                </a:solidFill>
                <a:latin typeface="Arial Rounded"/>
                <a:ea typeface="Arial Rounded"/>
                <a:cs typeface="Arial Rounded"/>
                <a:sym typeface="Arial Rounded"/>
              </a:rPr>
              <a:t>A parallel DBMS is a DBMS that runs across multiple processors or CPUs and is mainly designed to execute query operations in parallel, wherever possible. </a:t>
            </a:r>
            <a:endParaRPr/>
          </a:p>
          <a:p>
            <a:pPr indent="-209550" lvl="0" marL="342900" marR="0" rtl="0" algn="l">
              <a:spcBef>
                <a:spcPts val="0"/>
              </a:spcBef>
              <a:spcAft>
                <a:spcPts val="0"/>
              </a:spcAft>
              <a:buClr>
                <a:schemeClr val="dk1"/>
              </a:buClr>
              <a:buSzPts val="2100"/>
              <a:buFont typeface="Noto Sans Symbols"/>
              <a:buNone/>
            </a:pPr>
            <a:r>
              <a:t/>
            </a:r>
            <a:endParaRPr b="1" sz="2100">
              <a:solidFill>
                <a:srgbClr val="273239"/>
              </a:solidFill>
              <a:latin typeface="Arial Rounded"/>
              <a:ea typeface="Arial Rounded"/>
              <a:cs typeface="Arial Rounded"/>
              <a:sym typeface="Arial Rounded"/>
            </a:endParaRPr>
          </a:p>
          <a:p>
            <a:pPr indent="-342900" lvl="0" marL="342900" marR="0" rtl="0" algn="l">
              <a:spcBef>
                <a:spcPts val="0"/>
              </a:spcBef>
              <a:spcAft>
                <a:spcPts val="0"/>
              </a:spcAft>
              <a:buClr>
                <a:srgbClr val="273239"/>
              </a:buClr>
              <a:buSzPts val="2100"/>
              <a:buFont typeface="Noto Sans Symbols"/>
              <a:buChar char="⮚"/>
            </a:pPr>
            <a:r>
              <a:rPr b="1" i="0" lang="en-US" sz="2100">
                <a:solidFill>
                  <a:srgbClr val="273239"/>
                </a:solidFill>
                <a:latin typeface="Arial Rounded"/>
                <a:ea typeface="Arial Rounded"/>
                <a:cs typeface="Arial Rounded"/>
                <a:sym typeface="Arial Rounded"/>
              </a:rPr>
              <a:t>The parallel DBMS link a number of smaller machines to achieve the same throughput as expected from a single large machine.</a:t>
            </a:r>
            <a:endParaRPr/>
          </a:p>
          <a:p>
            <a:pPr indent="0" lvl="0" marL="0" marR="0" rtl="0" algn="l">
              <a:spcBef>
                <a:spcPts val="0"/>
              </a:spcBef>
              <a:spcAft>
                <a:spcPts val="0"/>
              </a:spcAft>
              <a:buNone/>
            </a:pPr>
            <a:r>
              <a:t/>
            </a:r>
            <a:endParaRPr b="1" i="0" sz="2100">
              <a:solidFill>
                <a:srgbClr val="273239"/>
              </a:solidFill>
              <a:latin typeface="Arial Rounded"/>
              <a:ea typeface="Arial Rounded"/>
              <a:cs typeface="Arial Rounded"/>
              <a:sym typeface="Arial Rounded"/>
            </a:endParaRPr>
          </a:p>
          <a:p>
            <a:pPr indent="0" lvl="0" marL="0" marR="0" rtl="0" algn="l">
              <a:spcBef>
                <a:spcPts val="0"/>
              </a:spcBef>
              <a:spcAft>
                <a:spcPts val="0"/>
              </a:spcAft>
              <a:buNone/>
            </a:pPr>
            <a:r>
              <a:rPr b="1" i="0" lang="en-US" sz="2100">
                <a:solidFill>
                  <a:srgbClr val="273239"/>
                </a:solidFill>
                <a:latin typeface="Arial Rounded"/>
                <a:ea typeface="Arial Rounded"/>
                <a:cs typeface="Arial Rounded"/>
                <a:sym typeface="Arial Rounded"/>
              </a:rPr>
              <a:t>In Parallel Databases, mainly there are three architectural designs for parallel DBMS. They are as follows:</a:t>
            </a:r>
            <a:endParaRPr/>
          </a:p>
          <a:p>
            <a:pPr indent="-133350" lvl="0" marL="0" marR="0" rtl="0" algn="l">
              <a:spcBef>
                <a:spcPts val="0"/>
              </a:spcBef>
              <a:spcAft>
                <a:spcPts val="0"/>
              </a:spcAft>
              <a:buClr>
                <a:srgbClr val="0070C0"/>
              </a:buClr>
              <a:buSzPts val="2100"/>
              <a:buFont typeface="Calibri"/>
              <a:buAutoNum type="arabicPeriod"/>
            </a:pPr>
            <a:r>
              <a:rPr b="1" i="0" lang="en-US" sz="2100">
                <a:solidFill>
                  <a:srgbClr val="0070C0"/>
                </a:solidFill>
                <a:latin typeface="Arial Rounded"/>
                <a:ea typeface="Arial Rounded"/>
                <a:cs typeface="Arial Rounded"/>
                <a:sym typeface="Arial Rounded"/>
              </a:rPr>
              <a:t>Shared Memory Architecture</a:t>
            </a:r>
            <a:endParaRPr b="1" i="0" sz="2100">
              <a:solidFill>
                <a:srgbClr val="0070C0"/>
              </a:solidFill>
              <a:latin typeface="Arial Rounded"/>
              <a:ea typeface="Arial Rounded"/>
              <a:cs typeface="Arial Rounded"/>
              <a:sym typeface="Arial Rounded"/>
            </a:endParaRPr>
          </a:p>
          <a:p>
            <a:pPr indent="-133350" lvl="0" marL="0" marR="0" rtl="0" algn="l">
              <a:spcBef>
                <a:spcPts val="0"/>
              </a:spcBef>
              <a:spcAft>
                <a:spcPts val="0"/>
              </a:spcAft>
              <a:buClr>
                <a:srgbClr val="0070C0"/>
              </a:buClr>
              <a:buSzPts val="2100"/>
              <a:buFont typeface="Calibri"/>
              <a:buAutoNum type="arabicPeriod"/>
            </a:pPr>
            <a:r>
              <a:rPr b="1" i="0" lang="en-US" sz="2100">
                <a:solidFill>
                  <a:srgbClr val="0070C0"/>
                </a:solidFill>
                <a:latin typeface="Arial Rounded"/>
                <a:ea typeface="Arial Rounded"/>
                <a:cs typeface="Arial Rounded"/>
                <a:sym typeface="Arial Rounded"/>
              </a:rPr>
              <a:t>Shared Disk Architecture</a:t>
            </a:r>
            <a:endParaRPr b="1" i="0" sz="2100">
              <a:solidFill>
                <a:srgbClr val="0070C0"/>
              </a:solidFill>
              <a:latin typeface="Arial Rounded"/>
              <a:ea typeface="Arial Rounded"/>
              <a:cs typeface="Arial Rounded"/>
              <a:sym typeface="Arial Rounded"/>
            </a:endParaRPr>
          </a:p>
          <a:p>
            <a:pPr indent="-133350" lvl="0" marL="0" marR="0" rtl="0" algn="l">
              <a:spcBef>
                <a:spcPts val="0"/>
              </a:spcBef>
              <a:spcAft>
                <a:spcPts val="0"/>
              </a:spcAft>
              <a:buClr>
                <a:srgbClr val="0070C0"/>
              </a:buClr>
              <a:buSzPts val="2100"/>
              <a:buFont typeface="Calibri"/>
              <a:buAutoNum type="arabicPeriod"/>
            </a:pPr>
            <a:r>
              <a:rPr b="1" i="0" lang="en-US" sz="2100">
                <a:solidFill>
                  <a:srgbClr val="0070C0"/>
                </a:solidFill>
                <a:latin typeface="Arial Rounded"/>
                <a:ea typeface="Arial Rounded"/>
                <a:cs typeface="Arial Rounded"/>
                <a:sym typeface="Arial Rounded"/>
              </a:rPr>
              <a:t>Shared Nothing Architecture</a:t>
            </a:r>
            <a:endParaRPr b="1" i="0" sz="2100">
              <a:solidFill>
                <a:srgbClr val="0070C0"/>
              </a:solidFill>
              <a:latin typeface="Arial Rounded"/>
              <a:ea typeface="Arial Rounded"/>
              <a:cs typeface="Arial Rounded"/>
              <a:sym typeface="Arial Rounded"/>
            </a:endParaRPr>
          </a:p>
          <a:p>
            <a:pPr indent="0" lvl="0" marL="0" marR="0" rtl="0" algn="l">
              <a:spcBef>
                <a:spcPts val="0"/>
              </a:spcBef>
              <a:spcAft>
                <a:spcPts val="0"/>
              </a:spcAft>
              <a:buNone/>
            </a:pPr>
            <a:r>
              <a:t/>
            </a:r>
            <a:endParaRPr b="1" i="0" sz="1900">
              <a:solidFill>
                <a:srgbClr val="000000"/>
              </a:solidFill>
              <a:latin typeface="Arial Rounded"/>
              <a:ea typeface="Arial Rounded"/>
              <a:cs typeface="Arial Rounded"/>
              <a:sym typeface="Arial Round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nvSpPr>
        <p:spPr>
          <a:xfrm>
            <a:off x="410728" y="88313"/>
            <a:ext cx="11679671"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a:solidFill>
                  <a:srgbClr val="0070C0"/>
                </a:solidFill>
                <a:latin typeface="Arial Rounded"/>
                <a:ea typeface="Arial Rounded"/>
                <a:cs typeface="Arial Rounded"/>
                <a:sym typeface="Arial Rounded"/>
              </a:rPr>
              <a:t>Shared Memory Architecture- </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In Shared Memory Architecture, there are multiple CPUs that are attached to an interconnection network. They are able to share a single or global main memory and common disk arrays. </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In this architecture, a single copy of a multi-threaded operating system and multithreaded DBMS can support these multiple CPUs. </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Also, the shared memory is a solid coupled architecture in which multiple CPUs share their memory. It is also known as Symmetric multiprocessing (SMP). </a:t>
            </a:r>
            <a:endParaRPr/>
          </a:p>
        </p:txBody>
      </p:sp>
      <p:pic>
        <p:nvPicPr>
          <p:cNvPr id="145" name="Google Shape;145;p7"/>
          <p:cNvPicPr preferRelativeResize="0"/>
          <p:nvPr/>
        </p:nvPicPr>
        <p:blipFill rotWithShape="1">
          <a:blip r:embed="rId3">
            <a:alphaModFix/>
          </a:blip>
          <a:srcRect b="0" l="0" r="0" t="0"/>
          <a:stretch/>
        </p:blipFill>
        <p:spPr>
          <a:xfrm>
            <a:off x="5278870" y="2536825"/>
            <a:ext cx="6381750" cy="3409950"/>
          </a:xfrm>
          <a:prstGeom prst="rect">
            <a:avLst/>
          </a:prstGeom>
          <a:noFill/>
          <a:ln>
            <a:noFill/>
          </a:ln>
        </p:spPr>
      </p:pic>
      <p:sp>
        <p:nvSpPr>
          <p:cNvPr id="146" name="Google Shape;146;p7"/>
          <p:cNvSpPr txBox="1"/>
          <p:nvPr/>
        </p:nvSpPr>
        <p:spPr>
          <a:xfrm>
            <a:off x="304800" y="2536825"/>
            <a:ext cx="4544291"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00B050"/>
                </a:solidFill>
                <a:latin typeface="Arial Rounded"/>
                <a:ea typeface="Arial Rounded"/>
                <a:cs typeface="Arial Rounded"/>
                <a:sym typeface="Arial Rounded"/>
              </a:rPr>
              <a:t>Advantages :</a:t>
            </a:r>
            <a:endParaRPr b="1" i="0" sz="1800">
              <a:solidFill>
                <a:srgbClr val="00B050"/>
              </a:solidFill>
              <a:latin typeface="Arial Rounded"/>
              <a:ea typeface="Arial Rounded"/>
              <a:cs typeface="Arial Rounded"/>
              <a:sym typeface="Arial Rounded"/>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It has high-speed data access for a limited number of processors.</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The communication is efficient.</a:t>
            </a:r>
            <a:endParaRPr/>
          </a:p>
          <a:p>
            <a:pPr indent="0" lvl="0" marL="0" marR="0" rtl="0" algn="l">
              <a:spcBef>
                <a:spcPts val="0"/>
              </a:spcBef>
              <a:spcAft>
                <a:spcPts val="0"/>
              </a:spcAft>
              <a:buClr>
                <a:schemeClr val="dk1"/>
              </a:buClr>
              <a:buSzPts val="1800"/>
              <a:buFont typeface="Calibri"/>
              <a:buNone/>
            </a:pPr>
            <a:r>
              <a:t/>
            </a:r>
            <a:endParaRPr b="1" i="0" sz="1800">
              <a:solidFill>
                <a:srgbClr val="273239"/>
              </a:solidFill>
              <a:latin typeface="Arial Rounded"/>
              <a:ea typeface="Arial Rounded"/>
              <a:cs typeface="Arial Rounded"/>
              <a:sym typeface="Arial Rounded"/>
            </a:endParaRPr>
          </a:p>
          <a:p>
            <a:pPr indent="0" lvl="0" marL="0" marR="0" rtl="0" algn="l">
              <a:spcBef>
                <a:spcPts val="0"/>
              </a:spcBef>
              <a:spcAft>
                <a:spcPts val="0"/>
              </a:spcAft>
              <a:buNone/>
            </a:pPr>
            <a:r>
              <a:rPr b="1" i="0" lang="en-US" sz="1800">
                <a:solidFill>
                  <a:srgbClr val="00B050"/>
                </a:solidFill>
                <a:latin typeface="Arial Rounded"/>
                <a:ea typeface="Arial Rounded"/>
                <a:cs typeface="Arial Rounded"/>
                <a:sym typeface="Arial Rounded"/>
              </a:rPr>
              <a:t>Disadvantages :</a:t>
            </a:r>
            <a:endParaRPr b="1" i="0" sz="1800">
              <a:solidFill>
                <a:srgbClr val="00B050"/>
              </a:solidFill>
              <a:latin typeface="Arial Rounded"/>
              <a:ea typeface="Arial Rounded"/>
              <a:cs typeface="Arial Rounded"/>
              <a:sym typeface="Arial Rounded"/>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It cannot use beyond 80 or 100 CPUs in parallel.</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Waiting time of processors is increased due to more number of processors.</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The bus or the interconnection network gets block due to the increment of the large number of CPUs</a:t>
            </a:r>
            <a:r>
              <a:rPr b="1" lang="en-US" sz="1800">
                <a:solidFill>
                  <a:srgbClr val="273239"/>
                </a:solidFill>
                <a:latin typeface="Arial Rounded"/>
                <a:ea typeface="Arial Rounded"/>
                <a:cs typeface="Arial Rounded"/>
                <a:sym typeface="Arial Rounded"/>
              </a:rPr>
              <a:t> i.e. </a:t>
            </a:r>
            <a:r>
              <a:rPr b="1" i="0" lang="en-US" sz="1800">
                <a:solidFill>
                  <a:srgbClr val="273239"/>
                </a:solidFill>
                <a:latin typeface="Arial Rounded"/>
                <a:ea typeface="Arial Rounded"/>
                <a:cs typeface="Arial Rounded"/>
                <a:sym typeface="Arial Rounded"/>
              </a:rPr>
              <a:t>Bandwidth problem.</a:t>
            </a:r>
            <a:endParaRPr/>
          </a:p>
          <a:p>
            <a:pPr indent="0" lvl="0" marL="0" marR="0" rtl="0" algn="l">
              <a:spcBef>
                <a:spcPts val="0"/>
              </a:spcBef>
              <a:spcAft>
                <a:spcPts val="0"/>
              </a:spcAft>
              <a:buClr>
                <a:schemeClr val="dk1"/>
              </a:buClr>
              <a:buSzPts val="1800"/>
              <a:buFont typeface="Calibri"/>
              <a:buNone/>
            </a:pPr>
            <a:r>
              <a:t/>
            </a:r>
            <a:endParaRPr b="1" i="0" sz="1800">
              <a:solidFill>
                <a:srgbClr val="273239"/>
              </a:solidFill>
              <a:latin typeface="Arial Rounded"/>
              <a:ea typeface="Arial Rounded"/>
              <a:cs typeface="Arial Rounded"/>
              <a:sym typeface="Arial Round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nvSpPr>
        <p:spPr>
          <a:xfrm>
            <a:off x="295565" y="113621"/>
            <a:ext cx="11443854"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a:solidFill>
                  <a:srgbClr val="0070C0"/>
                </a:solidFill>
                <a:latin typeface="Arial Rounded"/>
                <a:ea typeface="Arial Rounded"/>
                <a:cs typeface="Arial Rounded"/>
                <a:sym typeface="Arial Rounded"/>
              </a:rPr>
              <a:t>Shared Disk Architectures :</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Here, various CPUs are attached to an interconnection network. In this, each CPU has its own memory and all of them have access to the same disk. Also, note that here the memory is not shared among CPUs therefore each node has its own copy of the operating system and DBMS.</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Shared disk architecture is a loosely coupled architecture optimized for applications that are inherently centralized. They are also known as clusters.</a:t>
            </a:r>
            <a:endParaRPr b="1" sz="1800">
              <a:solidFill>
                <a:schemeClr val="dk1"/>
              </a:solidFill>
              <a:latin typeface="Arial Rounded"/>
              <a:ea typeface="Arial Rounded"/>
              <a:cs typeface="Arial Rounded"/>
              <a:sym typeface="Arial Rounded"/>
            </a:endParaRPr>
          </a:p>
        </p:txBody>
      </p:sp>
      <p:pic>
        <p:nvPicPr>
          <p:cNvPr id="152" name="Google Shape;152;p8"/>
          <p:cNvPicPr preferRelativeResize="0"/>
          <p:nvPr/>
        </p:nvPicPr>
        <p:blipFill rotWithShape="1">
          <a:blip r:embed="rId3">
            <a:alphaModFix/>
          </a:blip>
          <a:srcRect b="0" l="0" r="0" t="0"/>
          <a:stretch/>
        </p:blipFill>
        <p:spPr>
          <a:xfrm>
            <a:off x="5040168" y="1929503"/>
            <a:ext cx="6286500" cy="4514850"/>
          </a:xfrm>
          <a:prstGeom prst="rect">
            <a:avLst/>
          </a:prstGeom>
          <a:noFill/>
          <a:ln>
            <a:noFill/>
          </a:ln>
        </p:spPr>
      </p:pic>
      <p:sp>
        <p:nvSpPr>
          <p:cNvPr id="153" name="Google Shape;153;p8"/>
          <p:cNvSpPr txBox="1"/>
          <p:nvPr/>
        </p:nvSpPr>
        <p:spPr>
          <a:xfrm>
            <a:off x="192521" y="2254032"/>
            <a:ext cx="4675043" cy="427809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900">
                <a:solidFill>
                  <a:srgbClr val="00B050"/>
                </a:solidFill>
                <a:latin typeface="Arial Rounded"/>
                <a:ea typeface="Arial Rounded"/>
                <a:cs typeface="Arial Rounded"/>
                <a:sym typeface="Arial Rounded"/>
              </a:rPr>
              <a:t>Advantages :</a:t>
            </a:r>
            <a:endParaRPr b="1" i="0" sz="1900">
              <a:solidFill>
                <a:srgbClr val="00B050"/>
              </a:solidFill>
              <a:latin typeface="Arial Rounded"/>
              <a:ea typeface="Arial Rounded"/>
              <a:cs typeface="Arial Rounded"/>
              <a:sym typeface="Arial Rounded"/>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The interconnection network is no longer a bottleneck each CPU has its own memory.</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There is better fault tolerance</a:t>
            </a:r>
            <a:r>
              <a:rPr b="1" lang="en-US" sz="1800">
                <a:solidFill>
                  <a:srgbClr val="273239"/>
                </a:solidFill>
                <a:latin typeface="Arial Rounded"/>
                <a:ea typeface="Arial Rounded"/>
                <a:cs typeface="Arial Rounded"/>
                <a:sym typeface="Arial Rounded"/>
              </a:rPr>
              <a:t> i.e. if a processor or its memory fails, the other processor can complete the task.</a:t>
            </a:r>
            <a:endParaRPr b="1" i="0" sz="1800">
              <a:solidFill>
                <a:srgbClr val="273239"/>
              </a:solidFill>
              <a:latin typeface="Arial Rounded"/>
              <a:ea typeface="Arial Rounded"/>
              <a:cs typeface="Arial Rounded"/>
              <a:sym typeface="Arial Rounded"/>
            </a:endParaRPr>
          </a:p>
          <a:p>
            <a:pPr indent="0" lvl="0" marL="0" marR="0" rtl="0" algn="l">
              <a:spcBef>
                <a:spcPts val="0"/>
              </a:spcBef>
              <a:spcAft>
                <a:spcPts val="0"/>
              </a:spcAft>
              <a:buClr>
                <a:schemeClr val="dk1"/>
              </a:buClr>
              <a:buSzPts val="1800"/>
              <a:buFont typeface="Calibri"/>
              <a:buNone/>
            </a:pPr>
            <a:r>
              <a:t/>
            </a:r>
            <a:endParaRPr b="1" i="0" sz="1800">
              <a:solidFill>
                <a:srgbClr val="273239"/>
              </a:solidFill>
              <a:latin typeface="Arial Rounded"/>
              <a:ea typeface="Arial Rounded"/>
              <a:cs typeface="Arial Rounded"/>
              <a:sym typeface="Arial Rounded"/>
            </a:endParaRPr>
          </a:p>
          <a:p>
            <a:pPr indent="0" lvl="0" marL="0" marR="0" rtl="0" algn="l">
              <a:spcBef>
                <a:spcPts val="0"/>
              </a:spcBef>
              <a:spcAft>
                <a:spcPts val="0"/>
              </a:spcAft>
              <a:buNone/>
            </a:pPr>
            <a:r>
              <a:rPr b="1" i="0" lang="en-US" sz="1900">
                <a:solidFill>
                  <a:srgbClr val="00B050"/>
                </a:solidFill>
                <a:latin typeface="Arial Rounded"/>
                <a:ea typeface="Arial Rounded"/>
                <a:cs typeface="Arial Rounded"/>
                <a:sym typeface="Arial Rounded"/>
              </a:rPr>
              <a:t>Disadvantages :</a:t>
            </a:r>
            <a:endParaRPr b="1" i="0" sz="1900">
              <a:solidFill>
                <a:srgbClr val="00B050"/>
              </a:solidFill>
              <a:latin typeface="Arial Rounded"/>
              <a:ea typeface="Arial Rounded"/>
              <a:cs typeface="Arial Rounded"/>
              <a:sym typeface="Arial Rounded"/>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It has limited scalability as large amount of data travels through the interconnection channel.</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If more processors are added the existing processors are slowed down due to the problems of interference.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nvSpPr>
        <p:spPr>
          <a:xfrm>
            <a:off x="212436" y="88175"/>
            <a:ext cx="11490036" cy="18004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100">
                <a:solidFill>
                  <a:srgbClr val="0070C0"/>
                </a:solidFill>
                <a:latin typeface="Arial Rounded"/>
                <a:ea typeface="Arial Rounded"/>
                <a:cs typeface="Arial Rounded"/>
                <a:sym typeface="Arial Rounded"/>
              </a:rPr>
              <a:t>Shared Nothing Architecture :</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It is multiple processor architecture in which each processor has its own memory and disk storage.</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In this, multiple CPUs are attached to an interconnection network through a node. Also, note that no two CPUs can access the same disk area. </a:t>
            </a:r>
            <a:endParaRPr/>
          </a:p>
          <a:p>
            <a:pPr indent="-285750" lvl="0" marL="285750" marR="0" rtl="0" algn="l">
              <a:spcBef>
                <a:spcPts val="0"/>
              </a:spcBef>
              <a:spcAft>
                <a:spcPts val="0"/>
              </a:spcAft>
              <a:buClr>
                <a:srgbClr val="273239"/>
              </a:buClr>
              <a:buSzPts val="1800"/>
              <a:buFont typeface="Arial"/>
              <a:buChar char="•"/>
            </a:pPr>
            <a:r>
              <a:rPr b="1" i="0" lang="en-US" sz="1800">
                <a:solidFill>
                  <a:srgbClr val="273239"/>
                </a:solidFill>
                <a:latin typeface="Arial Rounded"/>
                <a:ea typeface="Arial Rounded"/>
                <a:cs typeface="Arial Rounded"/>
                <a:sym typeface="Arial Rounded"/>
              </a:rPr>
              <a:t>In this architecture, no sharing of memory or disk resources is done. It is also known as Massively parallel processing (MPP).</a:t>
            </a:r>
            <a:endParaRPr b="1" sz="1800">
              <a:solidFill>
                <a:schemeClr val="dk1"/>
              </a:solidFill>
              <a:latin typeface="Arial Rounded"/>
              <a:ea typeface="Arial Rounded"/>
              <a:cs typeface="Arial Rounded"/>
              <a:sym typeface="Arial Rounded"/>
            </a:endParaRPr>
          </a:p>
        </p:txBody>
      </p:sp>
      <p:pic>
        <p:nvPicPr>
          <p:cNvPr id="159" name="Google Shape;159;p9"/>
          <p:cNvPicPr preferRelativeResize="0"/>
          <p:nvPr/>
        </p:nvPicPr>
        <p:blipFill rotWithShape="1">
          <a:blip r:embed="rId3">
            <a:alphaModFix/>
          </a:blip>
          <a:srcRect b="0" l="0" r="0" t="0"/>
          <a:stretch/>
        </p:blipFill>
        <p:spPr>
          <a:xfrm>
            <a:off x="5848350" y="1681884"/>
            <a:ext cx="6343650" cy="4972050"/>
          </a:xfrm>
          <a:prstGeom prst="rect">
            <a:avLst/>
          </a:prstGeom>
          <a:noFill/>
          <a:ln>
            <a:noFill/>
          </a:ln>
        </p:spPr>
      </p:pic>
      <p:sp>
        <p:nvSpPr>
          <p:cNvPr id="160" name="Google Shape;160;p9"/>
          <p:cNvSpPr txBox="1"/>
          <p:nvPr/>
        </p:nvSpPr>
        <p:spPr>
          <a:xfrm>
            <a:off x="212436" y="2415922"/>
            <a:ext cx="5635914"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00B050"/>
                </a:solidFill>
                <a:latin typeface="Arial Rounded"/>
                <a:ea typeface="Arial Rounded"/>
                <a:cs typeface="Arial Rounded"/>
                <a:sym typeface="Arial Rounded"/>
              </a:rPr>
              <a:t>Advantages :</a:t>
            </a:r>
            <a:endParaRPr b="1" i="0" sz="1800">
              <a:solidFill>
                <a:srgbClr val="00B050"/>
              </a:solidFill>
              <a:latin typeface="Arial Rounded"/>
              <a:ea typeface="Arial Rounded"/>
              <a:cs typeface="Arial Rounded"/>
              <a:sym typeface="Arial Rounded"/>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It has better scalability as no sharing of resources is done</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Can support for many processor, which makes the system more scalable.</a:t>
            </a:r>
            <a:endParaRPr/>
          </a:p>
          <a:p>
            <a:pPr indent="0" lvl="0" marL="0" marR="0" rtl="0" algn="l">
              <a:spcBef>
                <a:spcPts val="0"/>
              </a:spcBef>
              <a:spcAft>
                <a:spcPts val="0"/>
              </a:spcAft>
              <a:buClr>
                <a:schemeClr val="dk1"/>
              </a:buClr>
              <a:buSzPts val="1800"/>
              <a:buFont typeface="Calibri"/>
              <a:buNone/>
            </a:pPr>
            <a:r>
              <a:t/>
            </a:r>
            <a:endParaRPr b="1" i="0" sz="1800">
              <a:solidFill>
                <a:srgbClr val="273239"/>
              </a:solidFill>
              <a:latin typeface="Arial Rounded"/>
              <a:ea typeface="Arial Rounded"/>
              <a:cs typeface="Arial Rounded"/>
              <a:sym typeface="Arial Rounded"/>
            </a:endParaRPr>
          </a:p>
          <a:p>
            <a:pPr indent="0" lvl="0" marL="0" marR="0" rtl="0" algn="l">
              <a:spcBef>
                <a:spcPts val="0"/>
              </a:spcBef>
              <a:spcAft>
                <a:spcPts val="0"/>
              </a:spcAft>
              <a:buNone/>
            </a:pPr>
            <a:r>
              <a:rPr b="1" i="0" lang="en-US" sz="1800">
                <a:solidFill>
                  <a:srgbClr val="00B050"/>
                </a:solidFill>
                <a:latin typeface="Arial Rounded"/>
                <a:ea typeface="Arial Rounded"/>
                <a:cs typeface="Arial Rounded"/>
                <a:sym typeface="Arial Rounded"/>
              </a:rPr>
              <a:t>Disadvantages:</a:t>
            </a:r>
            <a:endParaRPr b="1" i="0" sz="1800">
              <a:solidFill>
                <a:srgbClr val="00B050"/>
              </a:solidFill>
              <a:latin typeface="Arial Rounded"/>
              <a:ea typeface="Arial Rounded"/>
              <a:cs typeface="Arial Rounded"/>
              <a:sym typeface="Arial Rounded"/>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The cost of communications is higher as it involves sending of data and software interaction at both ends</a:t>
            </a:r>
            <a:endParaRPr/>
          </a:p>
          <a:p>
            <a:pPr indent="-114300" lvl="0" marL="0" marR="0" rtl="0" algn="l">
              <a:spcBef>
                <a:spcPts val="0"/>
              </a:spcBef>
              <a:spcAft>
                <a:spcPts val="0"/>
              </a:spcAft>
              <a:buClr>
                <a:srgbClr val="273239"/>
              </a:buClr>
              <a:buSzPts val="1800"/>
              <a:buFont typeface="Calibri"/>
              <a:buAutoNum type="arabicPeriod"/>
            </a:pPr>
            <a:r>
              <a:rPr b="1" i="0" lang="en-US" sz="1800">
                <a:solidFill>
                  <a:srgbClr val="273239"/>
                </a:solidFill>
                <a:latin typeface="Arial Rounded"/>
                <a:ea typeface="Arial Rounded"/>
                <a:cs typeface="Arial Rounded"/>
                <a:sym typeface="Arial Rounded"/>
              </a:rPr>
              <a:t>Data partitioning is required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191654" y="0"/>
            <a:ext cx="10515600" cy="706120"/>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rgbClr val="FF0000"/>
              </a:buClr>
              <a:buSzPts val="2500"/>
              <a:buFont typeface="Noto Sans Symbols"/>
              <a:buChar char="❖"/>
            </a:pPr>
            <a:r>
              <a:rPr b="1" i="0" lang="en-US" sz="2500" u="sng">
                <a:solidFill>
                  <a:srgbClr val="FF0000"/>
                </a:solidFill>
                <a:latin typeface="Arial Rounded"/>
                <a:ea typeface="Arial Rounded"/>
                <a:cs typeface="Arial Rounded"/>
                <a:sym typeface="Arial Rounded"/>
              </a:rPr>
              <a:t>Techniques of query Evaluation</a:t>
            </a:r>
            <a:endParaRPr b="1" sz="2500" u="sng">
              <a:solidFill>
                <a:srgbClr val="FF0000"/>
              </a:solidFill>
              <a:latin typeface="Arial Rounded"/>
              <a:ea typeface="Arial Rounded"/>
              <a:cs typeface="Arial Rounded"/>
              <a:sym typeface="Arial Rounded"/>
            </a:endParaRPr>
          </a:p>
        </p:txBody>
      </p:sp>
      <p:sp>
        <p:nvSpPr>
          <p:cNvPr id="166" name="Google Shape;166;p10"/>
          <p:cNvSpPr txBox="1"/>
          <p:nvPr>
            <p:ph idx="1" type="body"/>
          </p:nvPr>
        </p:nvSpPr>
        <p:spPr>
          <a:xfrm>
            <a:off x="303645" y="595543"/>
            <a:ext cx="11584710" cy="500189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B050"/>
              </a:buClr>
              <a:buSzPts val="2200"/>
              <a:buFont typeface="Noto Sans Symbols"/>
              <a:buChar char="❑"/>
            </a:pPr>
            <a:r>
              <a:rPr b="1" lang="en-US" sz="2200">
                <a:solidFill>
                  <a:srgbClr val="00B050"/>
                </a:solidFill>
                <a:latin typeface="Arial Rounded"/>
                <a:ea typeface="Arial Rounded"/>
                <a:cs typeface="Arial Rounded"/>
                <a:sym typeface="Arial Rounded"/>
              </a:rPr>
              <a:t>Interquery Parallelism</a:t>
            </a:r>
            <a:endParaRPr/>
          </a:p>
          <a:p>
            <a:pPr indent="-228600" lvl="0" marL="228600" rtl="0" algn="l">
              <a:lnSpc>
                <a:spcPct val="90000"/>
              </a:lnSpc>
              <a:spcBef>
                <a:spcPts val="1000"/>
              </a:spcBef>
              <a:spcAft>
                <a:spcPts val="0"/>
              </a:spcAft>
              <a:buClr>
                <a:schemeClr val="dk1"/>
              </a:buClr>
              <a:buSzPts val="1900"/>
              <a:buChar char="•"/>
            </a:pPr>
            <a:r>
              <a:rPr b="1" lang="en-US" sz="1900">
                <a:latin typeface="Arial Rounded"/>
                <a:ea typeface="Arial Rounded"/>
                <a:cs typeface="Arial Rounded"/>
                <a:sym typeface="Arial Rounded"/>
              </a:rPr>
              <a:t>It is a form of parallelism where </a:t>
            </a:r>
            <a:r>
              <a:rPr b="1" lang="en-US" sz="1900">
                <a:solidFill>
                  <a:srgbClr val="C55A11"/>
                </a:solidFill>
                <a:latin typeface="Arial Rounded"/>
                <a:ea typeface="Arial Rounded"/>
                <a:cs typeface="Arial Rounded"/>
                <a:sym typeface="Arial Rounded"/>
              </a:rPr>
              <a:t>many different Queries or Transactions are executed in parallel with one another on many processors.</a:t>
            </a:r>
            <a:endParaRPr/>
          </a:p>
          <a:p>
            <a:pPr indent="-107950" lvl="0" marL="228600" rtl="0" algn="l">
              <a:lnSpc>
                <a:spcPct val="90000"/>
              </a:lnSpc>
              <a:spcBef>
                <a:spcPts val="1000"/>
              </a:spcBef>
              <a:spcAft>
                <a:spcPts val="0"/>
              </a:spcAft>
              <a:buClr>
                <a:schemeClr val="dk1"/>
              </a:buClr>
              <a:buSzPts val="1900"/>
              <a:buNone/>
            </a:pPr>
            <a:r>
              <a:t/>
            </a:r>
            <a:endParaRPr b="1" sz="19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1900"/>
              <a:buNone/>
            </a:pPr>
            <a:r>
              <a:rPr b="1" lang="en-US" sz="1900" u="sng">
                <a:latin typeface="Arial Rounded"/>
                <a:ea typeface="Arial Rounded"/>
                <a:cs typeface="Arial Rounded"/>
                <a:sym typeface="Arial Rounded"/>
              </a:rPr>
              <a:t>Advantages:-</a:t>
            </a:r>
            <a:endParaRPr/>
          </a:p>
          <a:p>
            <a:pPr indent="-228600" lvl="0" marL="228600" rtl="0" algn="l">
              <a:lnSpc>
                <a:spcPct val="90000"/>
              </a:lnSpc>
              <a:spcBef>
                <a:spcPts val="1000"/>
              </a:spcBef>
              <a:spcAft>
                <a:spcPts val="0"/>
              </a:spcAft>
              <a:buClr>
                <a:schemeClr val="dk1"/>
              </a:buClr>
              <a:buSzPts val="1900"/>
              <a:buChar char="•"/>
            </a:pPr>
            <a:r>
              <a:rPr b="1" lang="en-US" sz="1900">
                <a:latin typeface="Arial Rounded"/>
                <a:ea typeface="Arial Rounded"/>
                <a:cs typeface="Arial Rounded"/>
                <a:sym typeface="Arial Rounded"/>
              </a:rPr>
              <a:t>It increases Transaction Throughput. </a:t>
            </a:r>
            <a:endParaRPr/>
          </a:p>
          <a:p>
            <a:pPr indent="-228600" lvl="0" marL="228600" rtl="0" algn="l">
              <a:lnSpc>
                <a:spcPct val="90000"/>
              </a:lnSpc>
              <a:spcBef>
                <a:spcPts val="1000"/>
              </a:spcBef>
              <a:spcAft>
                <a:spcPts val="0"/>
              </a:spcAft>
              <a:buClr>
                <a:schemeClr val="dk1"/>
              </a:buClr>
              <a:buSzPts val="1900"/>
              <a:buChar char="•"/>
            </a:pPr>
            <a:r>
              <a:rPr b="1" lang="en-US" sz="1900">
                <a:latin typeface="Arial Rounded"/>
                <a:ea typeface="Arial Rounded"/>
                <a:cs typeface="Arial Rounded"/>
                <a:sym typeface="Arial Rounded"/>
              </a:rPr>
              <a:t>It scales up the Transaction processing system to support a larger number of transactions per second. Hence, best suited for On-Line Transaction Processing (OLTP) systems.</a:t>
            </a:r>
            <a:endParaRPr/>
          </a:p>
          <a:p>
            <a:pPr indent="-107950" lvl="0" marL="228600" rtl="0" algn="l">
              <a:lnSpc>
                <a:spcPct val="90000"/>
              </a:lnSpc>
              <a:spcBef>
                <a:spcPts val="1000"/>
              </a:spcBef>
              <a:spcAft>
                <a:spcPts val="0"/>
              </a:spcAft>
              <a:buClr>
                <a:schemeClr val="dk1"/>
              </a:buClr>
              <a:buSzPts val="1900"/>
              <a:buNone/>
            </a:pPr>
            <a:r>
              <a:t/>
            </a:r>
            <a:endParaRPr b="1" sz="19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1900"/>
              <a:buNone/>
            </a:pPr>
            <a:r>
              <a:rPr b="1" lang="en-US" sz="1900" u="sng">
                <a:latin typeface="Arial Rounded"/>
                <a:ea typeface="Arial Rounded"/>
                <a:cs typeface="Arial Rounded"/>
                <a:sym typeface="Arial Rounded"/>
              </a:rPr>
              <a:t>Supported Parallel Database Architectures:-</a:t>
            </a:r>
            <a:endParaRPr/>
          </a:p>
          <a:p>
            <a:pPr indent="-228600" lvl="0" marL="228600" rtl="0" algn="l">
              <a:lnSpc>
                <a:spcPct val="90000"/>
              </a:lnSpc>
              <a:spcBef>
                <a:spcPts val="1000"/>
              </a:spcBef>
              <a:spcAft>
                <a:spcPts val="0"/>
              </a:spcAft>
              <a:buClr>
                <a:schemeClr val="dk1"/>
              </a:buClr>
              <a:buSzPts val="1900"/>
              <a:buChar char="•"/>
            </a:pPr>
            <a:r>
              <a:rPr b="1" lang="en-US" sz="1900">
                <a:latin typeface="Arial Rounded"/>
                <a:ea typeface="Arial Rounded"/>
                <a:cs typeface="Arial Rounded"/>
                <a:sym typeface="Arial Rounded"/>
              </a:rPr>
              <a:t>It is easy to implement in </a:t>
            </a:r>
            <a:r>
              <a:rPr b="1" lang="en-US" sz="1900">
                <a:solidFill>
                  <a:srgbClr val="00B050"/>
                </a:solidFill>
                <a:latin typeface="Arial Rounded"/>
                <a:ea typeface="Arial Rounded"/>
                <a:cs typeface="Arial Rounded"/>
                <a:sym typeface="Arial Rounded"/>
              </a:rPr>
              <a:t>Shared Memory Parallel System</a:t>
            </a:r>
            <a:r>
              <a:rPr b="1" lang="en-US" sz="1900">
                <a:latin typeface="Arial Rounded"/>
                <a:ea typeface="Arial Rounded"/>
                <a:cs typeface="Arial Rounded"/>
                <a:sym typeface="Arial Rounded"/>
              </a:rPr>
              <a:t>. Lock tables and Log information are maintained in the same memory. Hence, it is easy to handle those transactions which shares locks with other transactions. Locking and logging can be done efficiently.</a:t>
            </a:r>
            <a:endParaRPr/>
          </a:p>
          <a:p>
            <a:pPr indent="-228600" lvl="0" marL="228600" rtl="0" algn="l">
              <a:lnSpc>
                <a:spcPct val="90000"/>
              </a:lnSpc>
              <a:spcBef>
                <a:spcPts val="1000"/>
              </a:spcBef>
              <a:spcAft>
                <a:spcPts val="0"/>
              </a:spcAft>
              <a:buClr>
                <a:schemeClr val="dk1"/>
              </a:buClr>
              <a:buSzPts val="1900"/>
              <a:buChar char="•"/>
            </a:pPr>
            <a:r>
              <a:rPr b="1" lang="en-US" sz="1900">
                <a:latin typeface="Arial Rounded"/>
                <a:ea typeface="Arial Rounded"/>
                <a:cs typeface="Arial Rounded"/>
                <a:sym typeface="Arial Rounded"/>
              </a:rPr>
              <a:t>In other parallel architectures like Shared Disk and Shared Nothing, the locking and logging must be done through message passing between processors, which is considered as costly operation when compared Shared Memory Parallel architecture.</a:t>
            </a:r>
            <a:endParaRPr/>
          </a:p>
          <a:p>
            <a:pPr indent="0" lvl="0" marL="0" rtl="0" algn="l">
              <a:lnSpc>
                <a:spcPct val="90000"/>
              </a:lnSpc>
              <a:spcBef>
                <a:spcPts val="1000"/>
              </a:spcBef>
              <a:spcAft>
                <a:spcPts val="0"/>
              </a:spcAft>
              <a:buClr>
                <a:srgbClr val="C55A11"/>
              </a:buClr>
              <a:buSzPts val="1900"/>
              <a:buNone/>
            </a:pPr>
            <a:r>
              <a:rPr b="1" lang="en-US" sz="1900">
                <a:solidFill>
                  <a:srgbClr val="C55A11"/>
                </a:solidFill>
                <a:latin typeface="Arial Rounded"/>
                <a:ea typeface="Arial Rounded"/>
                <a:cs typeface="Arial Rounded"/>
                <a:sym typeface="Arial Rounded"/>
              </a:rPr>
              <a:t>Oracle 8</a:t>
            </a:r>
            <a:r>
              <a:rPr b="1" lang="en-US" sz="1900">
                <a:latin typeface="Arial Rounded"/>
                <a:ea typeface="Arial Rounded"/>
                <a:cs typeface="Arial Rounded"/>
                <a:sym typeface="Arial Rounded"/>
              </a:rPr>
              <a:t> and </a:t>
            </a:r>
            <a:r>
              <a:rPr b="1" lang="en-US" sz="1900">
                <a:solidFill>
                  <a:srgbClr val="C55A11"/>
                </a:solidFill>
                <a:latin typeface="Arial Rounded"/>
                <a:ea typeface="Arial Rounded"/>
                <a:cs typeface="Arial Rounded"/>
                <a:sym typeface="Arial Rounded"/>
              </a:rPr>
              <a:t>Oracle Rdb </a:t>
            </a:r>
            <a:r>
              <a:rPr b="1" lang="en-US" sz="1900">
                <a:latin typeface="Arial Rounded"/>
                <a:ea typeface="Arial Rounded"/>
                <a:cs typeface="Arial Rounded"/>
                <a:sym typeface="Arial Rounded"/>
              </a:rPr>
              <a:t>are the examples of Database systems which support </a:t>
            </a:r>
            <a:r>
              <a:rPr b="1" lang="en-US" sz="1900">
                <a:solidFill>
                  <a:srgbClr val="C55A11"/>
                </a:solidFill>
                <a:latin typeface="Arial Rounded"/>
                <a:ea typeface="Arial Rounded"/>
                <a:cs typeface="Arial Rounded"/>
                <a:sym typeface="Arial Rounded"/>
              </a:rPr>
              <a:t>Inter-query Parallelism.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nvSpPr>
        <p:spPr>
          <a:xfrm>
            <a:off x="332508" y="734628"/>
            <a:ext cx="1139767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strike="noStrike">
                <a:solidFill>
                  <a:srgbClr val="000000"/>
                </a:solidFill>
                <a:latin typeface="Arial Rounded"/>
                <a:ea typeface="Arial Rounded"/>
                <a:cs typeface="Arial Rounded"/>
                <a:sym typeface="Arial Rounded"/>
              </a:rPr>
              <a:t>For example: If there are 6 queries, each query will take 3 seconds for evaluation. Thus, the total time taken to complete evaluation process is 18 seconds. </a:t>
            </a:r>
            <a:r>
              <a:rPr b="1" lang="en-US" sz="1800">
                <a:solidFill>
                  <a:srgbClr val="000000"/>
                </a:solidFill>
                <a:latin typeface="Arial Rounded"/>
                <a:ea typeface="Arial Rounded"/>
                <a:cs typeface="Arial Rounded"/>
                <a:sym typeface="Arial Rounded"/>
              </a:rPr>
              <a:t> </a:t>
            </a:r>
            <a:r>
              <a:rPr b="1" i="0" lang="en-US" sz="1800" u="none" strike="noStrike">
                <a:solidFill>
                  <a:srgbClr val="000000"/>
                </a:solidFill>
                <a:latin typeface="Arial Rounded"/>
                <a:ea typeface="Arial Rounded"/>
                <a:cs typeface="Arial Rounded"/>
                <a:sym typeface="Arial Rounded"/>
              </a:rPr>
              <a:t>Inter query parallelism achieves this task only in 3 seconds.</a:t>
            </a:r>
            <a:br>
              <a:rPr b="1" i="0" lang="en-US" sz="1800" u="none" strike="noStrike">
                <a:solidFill>
                  <a:srgbClr val="000000"/>
                </a:solidFill>
                <a:latin typeface="Arial Rounded"/>
                <a:ea typeface="Arial Rounded"/>
                <a:cs typeface="Arial Rounded"/>
                <a:sym typeface="Arial Rounded"/>
              </a:rPr>
            </a:br>
            <a:endParaRPr b="1" i="0" sz="1800" u="none" strike="noStrike">
              <a:solidFill>
                <a:srgbClr val="000000"/>
              </a:solidFill>
              <a:latin typeface="Arial Rounded"/>
              <a:ea typeface="Arial Rounded"/>
              <a:cs typeface="Arial Rounded"/>
              <a:sym typeface="Arial Rounded"/>
            </a:endParaRPr>
          </a:p>
          <a:p>
            <a:pPr indent="0" lvl="0" marL="0" marR="0" rtl="0" algn="l">
              <a:spcBef>
                <a:spcPts val="0"/>
              </a:spcBef>
              <a:spcAft>
                <a:spcPts val="0"/>
              </a:spcAft>
              <a:buNone/>
            </a:pPr>
            <a:r>
              <a:rPr b="1" i="0" lang="en-US" sz="1800" u="none" strike="noStrike">
                <a:solidFill>
                  <a:srgbClr val="000000"/>
                </a:solidFill>
                <a:latin typeface="Arial Rounded"/>
                <a:ea typeface="Arial Rounded"/>
                <a:cs typeface="Arial Rounded"/>
                <a:sym typeface="Arial Rounded"/>
              </a:rPr>
              <a:t>However, Inter query parallelism is difficult to achieve every time.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idx="1" type="body"/>
          </p:nvPr>
        </p:nvSpPr>
        <p:spPr>
          <a:xfrm>
            <a:off x="285172" y="405275"/>
            <a:ext cx="11621656" cy="5875453"/>
          </a:xfrm>
          <a:prstGeom prst="rect">
            <a:avLst/>
          </a:prstGeom>
          <a:noFill/>
          <a:ln>
            <a:noFill/>
          </a:ln>
        </p:spPr>
        <p:txBody>
          <a:bodyPr anchorCtr="0" anchor="t" bIns="45700" lIns="91425" spcFirstLastPara="1" rIns="91425" wrap="square" tIns="45700">
            <a:normAutofit fontScale="77500" lnSpcReduction="20000"/>
          </a:bodyPr>
          <a:lstStyle/>
          <a:p>
            <a:pPr indent="-228631" lvl="0" marL="228600" rtl="0" algn="l">
              <a:lnSpc>
                <a:spcPct val="120000"/>
              </a:lnSpc>
              <a:spcBef>
                <a:spcPts val="0"/>
              </a:spcBef>
              <a:spcAft>
                <a:spcPts val="0"/>
              </a:spcAft>
              <a:buClr>
                <a:srgbClr val="00B050"/>
              </a:buClr>
              <a:buSzPct val="100000"/>
              <a:buFont typeface="Noto Sans Symbols"/>
              <a:buChar char="❑"/>
            </a:pPr>
            <a:r>
              <a:rPr b="1" lang="en-US" sz="3300">
                <a:solidFill>
                  <a:srgbClr val="00B050"/>
                </a:solidFill>
                <a:latin typeface="Arial Rounded"/>
                <a:ea typeface="Arial Rounded"/>
                <a:cs typeface="Arial Rounded"/>
                <a:sym typeface="Arial Rounded"/>
              </a:rPr>
              <a:t>Intraquery Parallelism</a:t>
            </a:r>
            <a:endParaRPr/>
          </a:p>
          <a:p>
            <a:pPr indent="-228631" lvl="0" marL="228600" rtl="0" algn="l">
              <a:lnSpc>
                <a:spcPct val="120000"/>
              </a:lnSpc>
              <a:spcBef>
                <a:spcPts val="1000"/>
              </a:spcBef>
              <a:spcAft>
                <a:spcPts val="0"/>
              </a:spcAft>
              <a:buClr>
                <a:schemeClr val="dk1"/>
              </a:buClr>
              <a:buSzPct val="100000"/>
              <a:buChar char="•"/>
            </a:pPr>
            <a:r>
              <a:rPr b="1" lang="en-US" sz="2500">
                <a:latin typeface="Arial Rounded"/>
                <a:ea typeface="Arial Rounded"/>
                <a:cs typeface="Arial Rounded"/>
                <a:sym typeface="Arial Rounded"/>
              </a:rPr>
              <a:t>It is the form of parallelism where </a:t>
            </a:r>
            <a:r>
              <a:rPr b="1" lang="en-US" sz="2500">
                <a:solidFill>
                  <a:srgbClr val="548135"/>
                </a:solidFill>
                <a:latin typeface="Arial Rounded"/>
                <a:ea typeface="Arial Rounded"/>
                <a:cs typeface="Arial Rounded"/>
                <a:sym typeface="Arial Rounded"/>
              </a:rPr>
              <a:t>Single Query is executed in parallel on many processors.</a:t>
            </a:r>
            <a:endParaRPr/>
          </a:p>
          <a:p>
            <a:pPr indent="-228631" lvl="0" marL="228600" rtl="0" algn="l">
              <a:lnSpc>
                <a:spcPct val="120000"/>
              </a:lnSpc>
              <a:spcBef>
                <a:spcPts val="1000"/>
              </a:spcBef>
              <a:spcAft>
                <a:spcPts val="0"/>
              </a:spcAft>
              <a:buClr>
                <a:schemeClr val="dk1"/>
              </a:buClr>
              <a:buSzPct val="100000"/>
              <a:buChar char="•"/>
            </a:pPr>
            <a:r>
              <a:rPr b="1" lang="en-US" sz="2500">
                <a:latin typeface="Arial Rounded"/>
                <a:ea typeface="Arial Rounded"/>
                <a:cs typeface="Arial Rounded"/>
                <a:sym typeface="Arial Rounded"/>
              </a:rPr>
              <a:t>In this technique query is divided in sub queries which can run simultaneously on different processors, this will minimize the query evaluation time.</a:t>
            </a:r>
            <a:endParaRPr/>
          </a:p>
          <a:p>
            <a:pPr indent="-228631" lvl="0" marL="228600" rtl="0" algn="l">
              <a:lnSpc>
                <a:spcPct val="120000"/>
              </a:lnSpc>
              <a:spcBef>
                <a:spcPts val="1000"/>
              </a:spcBef>
              <a:spcAft>
                <a:spcPts val="0"/>
              </a:spcAft>
              <a:buClr>
                <a:schemeClr val="dk1"/>
              </a:buClr>
              <a:buSzPct val="100000"/>
              <a:buChar char="•"/>
            </a:pPr>
            <a:r>
              <a:rPr b="1" lang="en-US" sz="2500">
                <a:latin typeface="Arial Rounded"/>
                <a:ea typeface="Arial Rounded"/>
                <a:cs typeface="Arial Rounded"/>
                <a:sym typeface="Arial Rounded"/>
              </a:rPr>
              <a:t>Intra query parallelism improves the response time of the system.</a:t>
            </a:r>
            <a:endParaRPr/>
          </a:p>
          <a:p>
            <a:pPr indent="0" lvl="0" marL="0" rtl="0" algn="l">
              <a:lnSpc>
                <a:spcPct val="120000"/>
              </a:lnSpc>
              <a:spcBef>
                <a:spcPts val="1000"/>
              </a:spcBef>
              <a:spcAft>
                <a:spcPts val="0"/>
              </a:spcAft>
              <a:buClr>
                <a:schemeClr val="dk1"/>
              </a:buClr>
              <a:buSzPct val="100000"/>
              <a:buNone/>
            </a:pPr>
            <a:r>
              <a:t/>
            </a:r>
            <a:endParaRPr b="1" sz="2500">
              <a:latin typeface="Arial Rounded"/>
              <a:ea typeface="Arial Rounded"/>
              <a:cs typeface="Arial Rounded"/>
              <a:sym typeface="Arial Rounded"/>
            </a:endParaRPr>
          </a:p>
          <a:p>
            <a:pPr indent="0" lvl="0" marL="0" rtl="0" algn="l">
              <a:lnSpc>
                <a:spcPct val="120000"/>
              </a:lnSpc>
              <a:spcBef>
                <a:spcPts val="1000"/>
              </a:spcBef>
              <a:spcAft>
                <a:spcPts val="0"/>
              </a:spcAft>
              <a:buClr>
                <a:schemeClr val="dk1"/>
              </a:buClr>
              <a:buSzPct val="100000"/>
              <a:buNone/>
            </a:pPr>
            <a:r>
              <a:rPr b="1" lang="en-US" sz="2500" u="sng">
                <a:latin typeface="Arial Rounded"/>
                <a:ea typeface="Arial Rounded"/>
                <a:cs typeface="Arial Rounded"/>
                <a:sym typeface="Arial Rounded"/>
              </a:rPr>
              <a:t>Advantages:-</a:t>
            </a:r>
            <a:endParaRPr/>
          </a:p>
          <a:p>
            <a:pPr indent="-228631" lvl="0" marL="228600" rtl="0" algn="l">
              <a:lnSpc>
                <a:spcPct val="120000"/>
              </a:lnSpc>
              <a:spcBef>
                <a:spcPts val="1000"/>
              </a:spcBef>
              <a:spcAft>
                <a:spcPts val="0"/>
              </a:spcAft>
              <a:buClr>
                <a:schemeClr val="dk1"/>
              </a:buClr>
              <a:buSzPct val="100000"/>
              <a:buChar char="•"/>
            </a:pPr>
            <a:r>
              <a:rPr b="1" lang="en-US" sz="2500">
                <a:latin typeface="Arial Rounded"/>
                <a:ea typeface="Arial Rounded"/>
                <a:cs typeface="Arial Rounded"/>
                <a:sym typeface="Arial Rounded"/>
              </a:rPr>
              <a:t>To speed up a single complex long running queries.</a:t>
            </a:r>
            <a:endParaRPr/>
          </a:p>
          <a:p>
            <a:pPr indent="-228631" lvl="0" marL="228600" rtl="0" algn="l">
              <a:lnSpc>
                <a:spcPct val="120000"/>
              </a:lnSpc>
              <a:spcBef>
                <a:spcPts val="1000"/>
              </a:spcBef>
              <a:spcAft>
                <a:spcPts val="0"/>
              </a:spcAft>
              <a:buClr>
                <a:schemeClr val="dk1"/>
              </a:buClr>
              <a:buSzPct val="100000"/>
              <a:buChar char="•"/>
            </a:pPr>
            <a:r>
              <a:rPr b="1" lang="en-US" sz="2500">
                <a:latin typeface="Arial Rounded"/>
                <a:ea typeface="Arial Rounded"/>
                <a:cs typeface="Arial Rounded"/>
                <a:sym typeface="Arial Rounded"/>
              </a:rPr>
              <a:t>Best suited for complex scientific calculations (queries).</a:t>
            </a:r>
            <a:endParaRPr/>
          </a:p>
          <a:p>
            <a:pPr indent="0" lvl="0" marL="0" rtl="0" algn="l">
              <a:lnSpc>
                <a:spcPct val="120000"/>
              </a:lnSpc>
              <a:spcBef>
                <a:spcPts val="1000"/>
              </a:spcBef>
              <a:spcAft>
                <a:spcPts val="0"/>
              </a:spcAft>
              <a:buClr>
                <a:schemeClr val="dk1"/>
              </a:buClr>
              <a:buSzPct val="100000"/>
              <a:buNone/>
            </a:pPr>
            <a:r>
              <a:t/>
            </a:r>
            <a:endParaRPr b="1" sz="2500">
              <a:latin typeface="Arial Rounded"/>
              <a:ea typeface="Arial Rounded"/>
              <a:cs typeface="Arial Rounded"/>
              <a:sym typeface="Arial Rounded"/>
            </a:endParaRPr>
          </a:p>
          <a:p>
            <a:pPr indent="0" lvl="0" marL="0" rtl="0" algn="l">
              <a:lnSpc>
                <a:spcPct val="120000"/>
              </a:lnSpc>
              <a:spcBef>
                <a:spcPts val="1000"/>
              </a:spcBef>
              <a:spcAft>
                <a:spcPts val="0"/>
              </a:spcAft>
              <a:buClr>
                <a:schemeClr val="dk1"/>
              </a:buClr>
              <a:buSzPct val="100000"/>
              <a:buNone/>
            </a:pPr>
            <a:r>
              <a:rPr b="1" lang="en-US" sz="2500" u="sng">
                <a:latin typeface="Arial Rounded"/>
                <a:ea typeface="Arial Rounded"/>
                <a:cs typeface="Arial Rounded"/>
                <a:sym typeface="Arial Rounded"/>
              </a:rPr>
              <a:t>Supported Parallel Database Architectures:-</a:t>
            </a:r>
            <a:endParaRPr/>
          </a:p>
          <a:p>
            <a:pPr indent="-228631" lvl="0" marL="228600" rtl="0" algn="l">
              <a:lnSpc>
                <a:spcPct val="120000"/>
              </a:lnSpc>
              <a:spcBef>
                <a:spcPts val="1000"/>
              </a:spcBef>
              <a:spcAft>
                <a:spcPts val="0"/>
              </a:spcAft>
              <a:buClr>
                <a:schemeClr val="dk1"/>
              </a:buClr>
              <a:buSzPct val="100000"/>
              <a:buChar char="•"/>
            </a:pPr>
            <a:r>
              <a:rPr b="1" lang="en-US" sz="2500">
                <a:latin typeface="Arial Rounded"/>
                <a:ea typeface="Arial Rounded"/>
                <a:cs typeface="Arial Rounded"/>
                <a:sym typeface="Arial Rounded"/>
              </a:rPr>
              <a:t>Shared Memory, Shared Disk and Shared Nothing parallel architectures are supported. We need not worry about locking and logging as because it involves parallelizing single query.</a:t>
            </a:r>
            <a:endParaRPr/>
          </a:p>
          <a:p>
            <a:pPr indent="0" lvl="0" marL="0" rtl="0" algn="l">
              <a:lnSpc>
                <a:spcPct val="120000"/>
              </a:lnSpc>
              <a:spcBef>
                <a:spcPts val="1000"/>
              </a:spcBef>
              <a:spcAft>
                <a:spcPts val="0"/>
              </a:spcAft>
              <a:buClr>
                <a:schemeClr val="dk1"/>
              </a:buClr>
              <a:buSzPct val="100000"/>
              <a:buNone/>
            </a:pPr>
            <a:r>
              <a:t/>
            </a:r>
            <a:endParaRPr b="1" sz="2500">
              <a:latin typeface="Arial Rounded"/>
              <a:ea typeface="Arial Rounded"/>
              <a:cs typeface="Arial Rounded"/>
              <a:sym typeface="Arial Rounded"/>
            </a:endParaRPr>
          </a:p>
          <a:p>
            <a:pPr indent="0" lvl="0" marL="0" rtl="0" algn="l">
              <a:lnSpc>
                <a:spcPct val="120000"/>
              </a:lnSpc>
              <a:spcBef>
                <a:spcPts val="1000"/>
              </a:spcBef>
              <a:spcAft>
                <a:spcPts val="0"/>
              </a:spcAft>
              <a:buClr>
                <a:schemeClr val="dk1"/>
              </a:buClr>
              <a:buSzPct val="100000"/>
              <a:buNone/>
            </a:pPr>
            <a:r>
              <a:t/>
            </a:r>
            <a:endParaRPr b="1" sz="2500">
              <a:latin typeface="Arial Rounded"/>
              <a:ea typeface="Arial Rounded"/>
              <a:cs typeface="Arial Rounded"/>
              <a:sym typeface="Arial Round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idx="1" type="body"/>
          </p:nvPr>
        </p:nvSpPr>
        <p:spPr>
          <a:xfrm>
            <a:off x="616527" y="1086715"/>
            <a:ext cx="11132128" cy="499081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900"/>
              <a:buChar char="•"/>
            </a:pPr>
            <a:r>
              <a:rPr b="1" lang="en-US" sz="1900">
                <a:latin typeface="Arial Rounded"/>
                <a:ea typeface="Arial Rounded"/>
                <a:cs typeface="Arial Rounded"/>
                <a:sym typeface="Arial Rounded"/>
              </a:rPr>
              <a:t>It is about executing a single query in parallel using multiple processors or disks. This can be done by dividing the data into many smaller units and execute the query on those smaller tables. We have so many queries which are complex and consume more time and resources. </a:t>
            </a:r>
            <a:endParaRPr/>
          </a:p>
          <a:p>
            <a:pPr indent="-107950" lvl="0" marL="228600" rtl="0" algn="l">
              <a:lnSpc>
                <a:spcPct val="100000"/>
              </a:lnSpc>
              <a:spcBef>
                <a:spcPts val="1000"/>
              </a:spcBef>
              <a:spcAft>
                <a:spcPts val="0"/>
              </a:spcAft>
              <a:buClr>
                <a:schemeClr val="dk1"/>
              </a:buClr>
              <a:buSzPts val="1900"/>
              <a:buNone/>
            </a:pPr>
            <a:r>
              <a:t/>
            </a:r>
            <a:endParaRPr b="1" sz="1900">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ts val="1900"/>
              <a:buNone/>
            </a:pPr>
            <a:r>
              <a:rPr b="1" lang="en-US" sz="1900">
                <a:latin typeface="Arial Rounded"/>
                <a:ea typeface="Arial Rounded"/>
                <a:cs typeface="Arial Rounded"/>
                <a:sym typeface="Arial Rounded"/>
              </a:rPr>
              <a:t>For example, consider the query given below;</a:t>
            </a:r>
            <a:endParaRPr/>
          </a:p>
          <a:p>
            <a:pPr indent="0" lvl="0" marL="0" rtl="0" algn="ctr">
              <a:lnSpc>
                <a:spcPct val="100000"/>
              </a:lnSpc>
              <a:spcBef>
                <a:spcPts val="1000"/>
              </a:spcBef>
              <a:spcAft>
                <a:spcPts val="0"/>
              </a:spcAft>
              <a:buClr>
                <a:schemeClr val="dk1"/>
              </a:buClr>
              <a:buSzPts val="1900"/>
              <a:buNone/>
            </a:pPr>
            <a:r>
              <a:rPr b="1" lang="en-US" sz="1900">
                <a:latin typeface="Arial Rounded"/>
                <a:ea typeface="Arial Rounded"/>
                <a:cs typeface="Arial Rounded"/>
                <a:sym typeface="Arial Rounded"/>
              </a:rPr>
              <a:t>SELECT * FROM Email ORDER BY Start_Date;</a:t>
            </a:r>
            <a:endParaRPr/>
          </a:p>
          <a:p>
            <a:pPr indent="0" lvl="0" marL="0" rtl="0" algn="ctr">
              <a:lnSpc>
                <a:spcPct val="100000"/>
              </a:lnSpc>
              <a:spcBef>
                <a:spcPts val="1000"/>
              </a:spcBef>
              <a:spcAft>
                <a:spcPts val="0"/>
              </a:spcAft>
              <a:buClr>
                <a:schemeClr val="dk1"/>
              </a:buClr>
              <a:buSzPts val="1900"/>
              <a:buNone/>
            </a:pPr>
            <a:r>
              <a:t/>
            </a:r>
            <a:endParaRPr b="1" sz="1900">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ts val="1900"/>
              <a:buNone/>
            </a:pPr>
            <a:r>
              <a:rPr b="1" lang="en-US" sz="1900">
                <a:latin typeface="Arial Rounded"/>
                <a:ea typeface="Arial Rounded"/>
                <a:cs typeface="Arial Rounded"/>
                <a:sym typeface="Arial Rounded"/>
              </a:rPr>
              <a:t>If 10000 records are distributed equally into 10 processors, 1000 each, then every processor can sort 1000 records in lesser time, later it can be combined/merged using other algorithms to produce final sorted result.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7" name="Google Shape;187;p14"/>
          <p:cNvPicPr preferRelativeResize="0"/>
          <p:nvPr>
            <p:ph idx="1" type="body"/>
          </p:nvPr>
        </p:nvPicPr>
        <p:blipFill rotWithShape="1">
          <a:blip r:embed="rId3">
            <a:alphaModFix/>
          </a:blip>
          <a:srcRect b="0" l="0" r="0" t="0"/>
          <a:stretch/>
        </p:blipFill>
        <p:spPr>
          <a:xfrm>
            <a:off x="838200" y="175895"/>
            <a:ext cx="9213850" cy="600138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459509" y="10650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30A0"/>
              </a:buClr>
              <a:buSzPts val="2500"/>
              <a:buFont typeface="Arial Rounded"/>
              <a:buNone/>
            </a:pPr>
            <a:r>
              <a:rPr b="1" lang="en-US" sz="2500" u="sng">
                <a:solidFill>
                  <a:srgbClr val="7030A0"/>
                </a:solidFill>
                <a:latin typeface="Arial Rounded"/>
                <a:ea typeface="Arial Rounded"/>
                <a:cs typeface="Arial Rounded"/>
                <a:sym typeface="Arial Rounded"/>
              </a:rPr>
              <a:t>Types of IntraQuery Parallelism</a:t>
            </a:r>
            <a:endParaRPr b="1" sz="2500" u="sng">
              <a:solidFill>
                <a:srgbClr val="7030A0"/>
              </a:solidFill>
              <a:latin typeface="Arial Rounded"/>
              <a:ea typeface="Arial Rounded"/>
              <a:cs typeface="Arial Rounded"/>
              <a:sym typeface="Arial Rounded"/>
            </a:endParaRPr>
          </a:p>
        </p:txBody>
      </p:sp>
      <p:sp>
        <p:nvSpPr>
          <p:cNvPr id="193" name="Google Shape;193;p15"/>
          <p:cNvSpPr txBox="1"/>
          <p:nvPr>
            <p:ph idx="1" type="body"/>
          </p:nvPr>
        </p:nvSpPr>
        <p:spPr>
          <a:xfrm>
            <a:off x="671945" y="1432070"/>
            <a:ext cx="11060545"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accent2"/>
              </a:buClr>
              <a:buSzPts val="1900"/>
              <a:buChar char="•"/>
            </a:pPr>
            <a:r>
              <a:rPr b="1" lang="en-US" sz="1900" u="sng">
                <a:solidFill>
                  <a:schemeClr val="accent2"/>
                </a:solidFill>
                <a:latin typeface="Arial Rounded"/>
                <a:ea typeface="Arial Rounded"/>
                <a:cs typeface="Arial Rounded"/>
                <a:sym typeface="Arial Rounded"/>
              </a:rPr>
              <a:t>Intra-operation parallelism</a:t>
            </a:r>
            <a:r>
              <a:rPr b="1" lang="en-US" sz="1900">
                <a:solidFill>
                  <a:schemeClr val="accent2"/>
                </a:solidFill>
                <a:latin typeface="Arial Rounded"/>
                <a:ea typeface="Arial Rounded"/>
                <a:cs typeface="Arial Rounded"/>
                <a:sym typeface="Arial Rounded"/>
              </a:rPr>
              <a:t> – </a:t>
            </a:r>
            <a:r>
              <a:rPr b="1" lang="en-US" sz="1900">
                <a:latin typeface="Arial Rounded"/>
                <a:ea typeface="Arial Rounded"/>
                <a:cs typeface="Arial Rounded"/>
                <a:sym typeface="Arial Rounded"/>
              </a:rPr>
              <a:t>the process of speeding up a query through parallelizing the execution of individual operations. The operations which can be parallelized are Sort, Join, Projection, Selection and so on.</a:t>
            </a:r>
            <a:endParaRPr/>
          </a:p>
          <a:p>
            <a:pPr indent="-107950" lvl="0" marL="228600" rtl="0" algn="l">
              <a:lnSpc>
                <a:spcPct val="100000"/>
              </a:lnSpc>
              <a:spcBef>
                <a:spcPts val="1000"/>
              </a:spcBef>
              <a:spcAft>
                <a:spcPts val="0"/>
              </a:spcAft>
              <a:buClr>
                <a:schemeClr val="dk1"/>
              </a:buClr>
              <a:buSzPts val="1900"/>
              <a:buNone/>
            </a:pPr>
            <a:r>
              <a:t/>
            </a:r>
            <a:endParaRPr b="1" sz="1900">
              <a:latin typeface="Arial Rounded"/>
              <a:ea typeface="Arial Rounded"/>
              <a:cs typeface="Arial Rounded"/>
              <a:sym typeface="Arial Rounded"/>
            </a:endParaRPr>
          </a:p>
          <a:p>
            <a:pPr indent="-228600" lvl="0" marL="228600" rtl="0" algn="l">
              <a:lnSpc>
                <a:spcPct val="100000"/>
              </a:lnSpc>
              <a:spcBef>
                <a:spcPts val="1000"/>
              </a:spcBef>
              <a:spcAft>
                <a:spcPts val="0"/>
              </a:spcAft>
              <a:buClr>
                <a:schemeClr val="accent2"/>
              </a:buClr>
              <a:buSzPts val="1900"/>
              <a:buChar char="•"/>
            </a:pPr>
            <a:r>
              <a:rPr b="1" lang="en-US" sz="1900" u="sng">
                <a:solidFill>
                  <a:schemeClr val="accent2"/>
                </a:solidFill>
                <a:latin typeface="Arial Rounded"/>
                <a:ea typeface="Arial Rounded"/>
                <a:cs typeface="Arial Rounded"/>
                <a:sym typeface="Arial Rounded"/>
              </a:rPr>
              <a:t>Inter-operation parallelism</a:t>
            </a:r>
            <a:r>
              <a:rPr b="1" lang="en-US" sz="1900">
                <a:solidFill>
                  <a:schemeClr val="accent2"/>
                </a:solidFill>
                <a:latin typeface="Arial Rounded"/>
                <a:ea typeface="Arial Rounded"/>
                <a:cs typeface="Arial Rounded"/>
                <a:sym typeface="Arial Rounded"/>
              </a:rPr>
              <a:t> –</a:t>
            </a:r>
            <a:r>
              <a:rPr b="1" lang="en-US" sz="1900">
                <a:latin typeface="Arial Rounded"/>
                <a:ea typeface="Arial Rounded"/>
                <a:cs typeface="Arial Rounded"/>
                <a:sym typeface="Arial Rounded"/>
              </a:rPr>
              <a:t> the process of speeding up a query through parallelizing various  operations which are part of the query. For example, a query which involves join of 4 tables can be executed in parallel in two processors in such a way that each processor shall join two relations locally and the result1 and result2 can be joined further to produce the final result.</a:t>
            </a:r>
            <a:endParaRPr/>
          </a:p>
          <a:p>
            <a:pPr indent="-107950" lvl="0" marL="228600" rtl="0" algn="l">
              <a:lnSpc>
                <a:spcPct val="100000"/>
              </a:lnSpc>
              <a:spcBef>
                <a:spcPts val="1000"/>
              </a:spcBef>
              <a:spcAft>
                <a:spcPts val="0"/>
              </a:spcAft>
              <a:buClr>
                <a:schemeClr val="dk1"/>
              </a:buClr>
              <a:buSzPts val="1900"/>
              <a:buNone/>
            </a:pPr>
            <a:r>
              <a:t/>
            </a:r>
            <a:endParaRPr b="1" sz="1900">
              <a:latin typeface="Arial Rounded"/>
              <a:ea typeface="Arial Rounded"/>
              <a:cs typeface="Arial Rounded"/>
              <a:sym typeface="Arial Rounded"/>
            </a:endParaRPr>
          </a:p>
          <a:p>
            <a:pPr indent="-228600" lvl="0" marL="228600" rtl="0" algn="l">
              <a:lnSpc>
                <a:spcPct val="100000"/>
              </a:lnSpc>
              <a:spcBef>
                <a:spcPts val="1000"/>
              </a:spcBef>
              <a:spcAft>
                <a:spcPts val="0"/>
              </a:spcAft>
              <a:buClr>
                <a:srgbClr val="7030A0"/>
              </a:buClr>
              <a:buSzPts val="1900"/>
              <a:buChar char="•"/>
            </a:pPr>
            <a:r>
              <a:rPr b="1" lang="en-US" sz="1900">
                <a:solidFill>
                  <a:srgbClr val="7030A0"/>
                </a:solidFill>
                <a:latin typeface="Arial Rounded"/>
                <a:ea typeface="Arial Rounded"/>
                <a:cs typeface="Arial Rounded"/>
                <a:sym typeface="Arial Rounded"/>
              </a:rPr>
              <a:t>Informix, Terradata</a:t>
            </a:r>
            <a:r>
              <a:rPr b="1" lang="en-US" sz="1900">
                <a:latin typeface="Arial Rounded"/>
                <a:ea typeface="Arial Rounded"/>
                <a:cs typeface="Arial Rounded"/>
                <a:sym typeface="Arial Rounded"/>
              </a:rPr>
              <a:t> are examples of Database systems which support </a:t>
            </a:r>
            <a:r>
              <a:rPr b="1" lang="en-US" sz="1900">
                <a:solidFill>
                  <a:srgbClr val="7030A0"/>
                </a:solidFill>
                <a:latin typeface="Arial Rounded"/>
                <a:ea typeface="Arial Rounded"/>
                <a:cs typeface="Arial Rounded"/>
                <a:sym typeface="Arial Rounded"/>
              </a:rPr>
              <a:t>Intra-query Parallelism</a:t>
            </a:r>
            <a:endParaRPr b="1" sz="1900">
              <a:solidFill>
                <a:srgbClr val="7030A0"/>
              </a:solidFill>
              <a:latin typeface="Arial Rounded"/>
              <a:ea typeface="Arial Rounded"/>
              <a:cs typeface="Arial Rounded"/>
              <a:sym typeface="Arial Rounded"/>
            </a:endParaRPr>
          </a:p>
          <a:p>
            <a:pPr indent="-107950" lvl="0" marL="228600" rtl="0" algn="l">
              <a:lnSpc>
                <a:spcPct val="100000"/>
              </a:lnSpc>
              <a:spcBef>
                <a:spcPts val="1000"/>
              </a:spcBef>
              <a:spcAft>
                <a:spcPts val="0"/>
              </a:spcAft>
              <a:buClr>
                <a:schemeClr val="dk1"/>
              </a:buClr>
              <a:buSzPts val="1900"/>
              <a:buNone/>
            </a:pPr>
            <a:r>
              <a:t/>
            </a:r>
            <a:endParaRPr b="1" sz="1900">
              <a:solidFill>
                <a:srgbClr val="7030A0"/>
              </a:solidFill>
              <a:latin typeface="Arial Rounded"/>
              <a:ea typeface="Arial Rounded"/>
              <a:cs typeface="Arial Rounded"/>
              <a:sym typeface="Arial Round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6"/>
          <p:cNvPicPr preferRelativeResize="0"/>
          <p:nvPr>
            <p:ph idx="1" type="body"/>
          </p:nvPr>
        </p:nvPicPr>
        <p:blipFill rotWithShape="1">
          <a:blip r:embed="rId3">
            <a:alphaModFix/>
          </a:blip>
          <a:srcRect b="0" l="0" r="0" t="0"/>
          <a:stretch/>
        </p:blipFill>
        <p:spPr>
          <a:xfrm>
            <a:off x="1550035" y="450215"/>
            <a:ext cx="8241030" cy="6172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7"/>
          <p:cNvSpPr txBox="1"/>
          <p:nvPr>
            <p:ph type="title"/>
          </p:nvPr>
        </p:nvSpPr>
        <p:spPr>
          <a:xfrm>
            <a:off x="838200" y="1793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55A11"/>
              </a:buClr>
              <a:buSzPts val="3000"/>
              <a:buFont typeface="Arial Rounded"/>
              <a:buNone/>
            </a:pPr>
            <a:r>
              <a:rPr b="1" lang="en-US" sz="3000" u="sng">
                <a:solidFill>
                  <a:srgbClr val="C55A11"/>
                </a:solidFill>
                <a:latin typeface="Arial Rounded"/>
                <a:ea typeface="Arial Rounded"/>
                <a:cs typeface="Arial Rounded"/>
                <a:sym typeface="Arial Rounded"/>
              </a:rPr>
              <a:t>Inter-operation Parallelism</a:t>
            </a:r>
            <a:endParaRPr/>
          </a:p>
        </p:txBody>
      </p:sp>
      <p:sp>
        <p:nvSpPr>
          <p:cNvPr id="204" name="Google Shape;204;p17"/>
          <p:cNvSpPr txBox="1"/>
          <p:nvPr>
            <p:ph idx="1" type="body"/>
          </p:nvPr>
        </p:nvSpPr>
        <p:spPr>
          <a:xfrm>
            <a:off x="280035" y="1262205"/>
            <a:ext cx="11631930" cy="5314085"/>
          </a:xfrm>
          <a:prstGeom prst="rect">
            <a:avLst/>
          </a:prstGeom>
          <a:noFill/>
          <a:ln>
            <a:noFill/>
          </a:ln>
        </p:spPr>
        <p:txBody>
          <a:bodyPr anchorCtr="0" anchor="t" bIns="45700" lIns="91425" spcFirstLastPara="1" rIns="91425" wrap="square" tIns="45700">
            <a:normAutofit fontScale="92500" lnSpcReduction="20000"/>
          </a:bodyPr>
          <a:lstStyle/>
          <a:p>
            <a:pPr indent="-228631" lvl="0" marL="228600" rtl="0" algn="l">
              <a:lnSpc>
                <a:spcPct val="110000"/>
              </a:lnSpc>
              <a:spcBef>
                <a:spcPts val="0"/>
              </a:spcBef>
              <a:spcAft>
                <a:spcPts val="0"/>
              </a:spcAft>
              <a:buClr>
                <a:schemeClr val="dk1"/>
              </a:buClr>
              <a:buSzPct val="100000"/>
              <a:buChar char="•"/>
            </a:pPr>
            <a:r>
              <a:rPr b="1" lang="en-US" sz="2100">
                <a:latin typeface="Arial Rounded"/>
                <a:ea typeface="Arial Rounded"/>
                <a:cs typeface="Arial Rounded"/>
                <a:sym typeface="Arial Rounded"/>
              </a:rPr>
              <a:t>It is about executing different operations of a query in parallel. A single query may involve multiple operations at once. We may exploit parallelism to achieve better performance of such queries. </a:t>
            </a:r>
            <a:endParaRPr/>
          </a:p>
          <a:p>
            <a:pPr indent="-105283" lvl="0" marL="228600" rtl="0" algn="l">
              <a:lnSpc>
                <a:spcPct val="110000"/>
              </a:lnSpc>
              <a:spcBef>
                <a:spcPts val="1000"/>
              </a:spcBef>
              <a:spcAft>
                <a:spcPts val="0"/>
              </a:spcAft>
              <a:buClr>
                <a:schemeClr val="dk1"/>
              </a:buClr>
              <a:buSzPct val="100000"/>
              <a:buNone/>
            </a:pPr>
            <a:r>
              <a:t/>
            </a:r>
            <a:endParaRPr b="1" sz="2100">
              <a:latin typeface="Arial Rounded"/>
              <a:ea typeface="Arial Rounded"/>
              <a:cs typeface="Arial Rounded"/>
              <a:sym typeface="Arial Rounded"/>
            </a:endParaRPr>
          </a:p>
          <a:p>
            <a:pPr indent="-228631" lvl="0" marL="228600" rtl="0" algn="l">
              <a:lnSpc>
                <a:spcPct val="110000"/>
              </a:lnSpc>
              <a:spcBef>
                <a:spcPts val="1000"/>
              </a:spcBef>
              <a:spcAft>
                <a:spcPts val="0"/>
              </a:spcAft>
              <a:buClr>
                <a:schemeClr val="dk1"/>
              </a:buClr>
              <a:buSzPct val="100000"/>
              <a:buChar char="•"/>
            </a:pPr>
            <a:r>
              <a:rPr b="1" lang="en-US" sz="2100">
                <a:latin typeface="Arial Rounded"/>
                <a:ea typeface="Arial Rounded"/>
                <a:cs typeface="Arial Rounded"/>
                <a:sym typeface="Arial Rounded"/>
              </a:rPr>
              <a:t>Consider the example query given below;</a:t>
            </a:r>
            <a:endParaRPr/>
          </a:p>
          <a:p>
            <a:pPr indent="0" lvl="0" marL="0" rtl="0" algn="ctr">
              <a:lnSpc>
                <a:spcPct val="110000"/>
              </a:lnSpc>
              <a:spcBef>
                <a:spcPts val="1000"/>
              </a:spcBef>
              <a:spcAft>
                <a:spcPts val="0"/>
              </a:spcAft>
              <a:buClr>
                <a:srgbClr val="548135"/>
              </a:buClr>
              <a:buSzPct val="100000"/>
              <a:buNone/>
            </a:pPr>
            <a:r>
              <a:rPr b="1" lang="en-US" sz="2400">
                <a:solidFill>
                  <a:srgbClr val="548135"/>
                </a:solidFill>
                <a:latin typeface="Times New Roman"/>
                <a:ea typeface="Times New Roman"/>
                <a:cs typeface="Times New Roman"/>
                <a:sym typeface="Times New Roman"/>
              </a:rPr>
              <a:t>SELECT * FROM Student, CourseRegd </a:t>
            </a:r>
            <a:endParaRPr/>
          </a:p>
          <a:p>
            <a:pPr indent="0" lvl="0" marL="0" rtl="0" algn="ctr">
              <a:lnSpc>
                <a:spcPct val="110000"/>
              </a:lnSpc>
              <a:spcBef>
                <a:spcPts val="1000"/>
              </a:spcBef>
              <a:spcAft>
                <a:spcPts val="0"/>
              </a:spcAft>
              <a:buClr>
                <a:srgbClr val="548135"/>
              </a:buClr>
              <a:buSzPct val="100000"/>
              <a:buNone/>
            </a:pPr>
            <a:r>
              <a:rPr b="1" lang="en-US" sz="2400">
                <a:solidFill>
                  <a:srgbClr val="548135"/>
                </a:solidFill>
                <a:latin typeface="Times New Roman"/>
                <a:ea typeface="Times New Roman"/>
                <a:cs typeface="Times New Roman"/>
                <a:sym typeface="Times New Roman"/>
              </a:rPr>
              <a:t>WHERE Student.Regno = CourseRegd.Regno;</a:t>
            </a:r>
            <a:endParaRPr/>
          </a:p>
          <a:p>
            <a:pPr indent="0" lvl="0" marL="0" rtl="0" algn="ctr">
              <a:lnSpc>
                <a:spcPct val="110000"/>
              </a:lnSpc>
              <a:spcBef>
                <a:spcPts val="1000"/>
              </a:spcBef>
              <a:spcAft>
                <a:spcPts val="0"/>
              </a:spcAft>
              <a:buClr>
                <a:schemeClr val="dk1"/>
              </a:buClr>
              <a:buSzPct val="100000"/>
              <a:buNone/>
            </a:pPr>
            <a:r>
              <a:t/>
            </a:r>
            <a:endParaRPr b="1" sz="1700">
              <a:latin typeface="Times New Roman"/>
              <a:ea typeface="Times New Roman"/>
              <a:cs typeface="Times New Roman"/>
              <a:sym typeface="Times New Roman"/>
            </a:endParaRPr>
          </a:p>
          <a:p>
            <a:pPr indent="0" lvl="0" marL="0" rtl="0" algn="l">
              <a:lnSpc>
                <a:spcPct val="11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For example, if Student has 10000 records and CourseRegd has 60000 records, then join requires 10000 X 60000 comparisons. If we exploit parallelism in here, we could achieve better performance.</a:t>
            </a:r>
            <a:endParaRPr/>
          </a:p>
          <a:p>
            <a:pPr indent="0" lvl="0" marL="0" rtl="0" algn="l">
              <a:lnSpc>
                <a:spcPct val="110000"/>
              </a:lnSpc>
              <a:spcBef>
                <a:spcPts val="1000"/>
              </a:spcBef>
              <a:spcAft>
                <a:spcPts val="0"/>
              </a:spcAft>
              <a:buClr>
                <a:schemeClr val="dk1"/>
              </a:buClr>
              <a:buSzPct val="100000"/>
              <a:buNone/>
            </a:pPr>
            <a:r>
              <a:t/>
            </a:r>
            <a:endParaRPr b="1" sz="2100">
              <a:latin typeface="Arial Rounded"/>
              <a:ea typeface="Arial Rounded"/>
              <a:cs typeface="Arial Rounded"/>
              <a:sym typeface="Arial Rounded"/>
            </a:endParaRPr>
          </a:p>
          <a:p>
            <a:pPr indent="0" lvl="0" marL="0" rtl="0" algn="l">
              <a:lnSpc>
                <a:spcPct val="110000"/>
              </a:lnSpc>
              <a:spcBef>
                <a:spcPts val="1000"/>
              </a:spcBef>
              <a:spcAft>
                <a:spcPts val="0"/>
              </a:spcAft>
              <a:buClr>
                <a:schemeClr val="dk1"/>
              </a:buClr>
              <a:buSzPct val="100000"/>
              <a:buNone/>
            </a:pPr>
            <a:r>
              <a:rPr b="1" lang="en-US" sz="2100">
                <a:latin typeface="Arial Rounded"/>
                <a:ea typeface="Arial Rounded"/>
                <a:cs typeface="Arial Rounded"/>
                <a:sym typeface="Arial Rounded"/>
              </a:rPr>
              <a:t>The following are the variants using which we would achieve Interoperation Parallelism:</a:t>
            </a:r>
            <a:endParaRPr/>
          </a:p>
          <a:p>
            <a:pPr indent="0" lvl="0" marL="0" rtl="0" algn="l">
              <a:lnSpc>
                <a:spcPct val="110000"/>
              </a:lnSpc>
              <a:spcBef>
                <a:spcPts val="1000"/>
              </a:spcBef>
              <a:spcAft>
                <a:spcPts val="0"/>
              </a:spcAft>
              <a:buClr>
                <a:schemeClr val="dk1"/>
              </a:buClr>
              <a:buSzPct val="100000"/>
              <a:buNone/>
            </a:pPr>
            <a:r>
              <a:rPr b="1" lang="en-US" sz="2100">
                <a:latin typeface="Arial Rounded"/>
                <a:ea typeface="Arial Rounded"/>
                <a:cs typeface="Arial Rounded"/>
                <a:sym typeface="Arial Rounded"/>
              </a:rPr>
              <a:t>1. Pipelined Parallelism</a:t>
            </a:r>
            <a:endParaRPr/>
          </a:p>
          <a:p>
            <a:pPr indent="0" lvl="0" marL="0" rtl="0" algn="l">
              <a:lnSpc>
                <a:spcPct val="110000"/>
              </a:lnSpc>
              <a:spcBef>
                <a:spcPts val="1000"/>
              </a:spcBef>
              <a:spcAft>
                <a:spcPts val="0"/>
              </a:spcAft>
              <a:buClr>
                <a:schemeClr val="dk1"/>
              </a:buClr>
              <a:buSzPct val="100000"/>
              <a:buNone/>
            </a:pPr>
            <a:r>
              <a:rPr b="1" lang="en-US" sz="2100">
                <a:latin typeface="Arial Rounded"/>
                <a:ea typeface="Arial Rounded"/>
                <a:cs typeface="Arial Rounded"/>
                <a:sym typeface="Arial Rounded"/>
              </a:rPr>
              <a:t>2. Independent Parallelism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ph type="title"/>
          </p:nvPr>
        </p:nvSpPr>
        <p:spPr>
          <a:xfrm>
            <a:off x="446405" y="265430"/>
            <a:ext cx="11096625" cy="848360"/>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400"/>
              <a:buFont typeface="Noto Sans Symbols"/>
              <a:buChar char="⮚"/>
            </a:pPr>
            <a:r>
              <a:rPr b="1" lang="en-US" sz="2400">
                <a:solidFill>
                  <a:schemeClr val="accent6"/>
                </a:solidFill>
                <a:latin typeface="Arial Rounded"/>
                <a:ea typeface="Arial Rounded"/>
                <a:cs typeface="Arial Rounded"/>
                <a:sym typeface="Arial Rounded"/>
              </a:rPr>
              <a:t>Pipelined Parallelism</a:t>
            </a:r>
            <a:endParaRPr b="1" sz="2400">
              <a:solidFill>
                <a:schemeClr val="accent6"/>
              </a:solidFill>
              <a:latin typeface="Arial Rounded"/>
              <a:ea typeface="Arial Rounded"/>
              <a:cs typeface="Arial Rounded"/>
              <a:sym typeface="Arial Rounded"/>
            </a:endParaRPr>
          </a:p>
        </p:txBody>
      </p:sp>
      <p:sp>
        <p:nvSpPr>
          <p:cNvPr id="210" name="Google Shape;210;p18"/>
          <p:cNvSpPr txBox="1"/>
          <p:nvPr>
            <p:ph idx="1" type="body"/>
          </p:nvPr>
        </p:nvSpPr>
        <p:spPr>
          <a:xfrm>
            <a:off x="446405" y="1113790"/>
            <a:ext cx="11631930" cy="508231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800"/>
              <a:buChar char="•"/>
            </a:pPr>
            <a:r>
              <a:rPr b="1" lang="en-US" sz="1800">
                <a:latin typeface="Arial Rounded"/>
                <a:ea typeface="Arial Rounded"/>
                <a:cs typeface="Arial Rounded"/>
                <a:sym typeface="Arial Rounded"/>
              </a:rPr>
              <a:t>In Pipelined Parallelism, the idea is to consume </a:t>
            </a:r>
            <a:r>
              <a:rPr b="1" lang="en-US" sz="1800">
                <a:solidFill>
                  <a:srgbClr val="00B050"/>
                </a:solidFill>
                <a:latin typeface="Arial Rounded"/>
                <a:ea typeface="Arial Rounded"/>
                <a:cs typeface="Arial Rounded"/>
                <a:sym typeface="Arial Rounded"/>
              </a:rPr>
              <a:t>the result produced by one operation by the next operation in the pipeline</a:t>
            </a:r>
            <a:r>
              <a:rPr b="1" lang="en-US" sz="1800">
                <a:latin typeface="Arial Rounded"/>
                <a:ea typeface="Arial Rounded"/>
                <a:cs typeface="Arial Rounded"/>
                <a:sym typeface="Arial Rounded"/>
              </a:rPr>
              <a:t>. For example, consider the following operation;</a:t>
            </a:r>
            <a:endParaRPr/>
          </a:p>
          <a:p>
            <a:pPr indent="0" lvl="0" marL="0" rtl="0" algn="ctr">
              <a:lnSpc>
                <a:spcPct val="90000"/>
              </a:lnSpc>
              <a:spcBef>
                <a:spcPts val="1000"/>
              </a:spcBef>
              <a:spcAft>
                <a:spcPts val="0"/>
              </a:spcAft>
              <a:buClr>
                <a:srgbClr val="012D86"/>
              </a:buClr>
              <a:buSzPts val="1800"/>
              <a:buNone/>
            </a:pPr>
            <a:r>
              <a:rPr b="1" lang="en-US" sz="1800">
                <a:solidFill>
                  <a:srgbClr val="012D86"/>
                </a:solidFill>
                <a:latin typeface="Arial Rounded"/>
                <a:ea typeface="Arial Rounded"/>
                <a:cs typeface="Arial Rounded"/>
                <a:sym typeface="Arial Rounded"/>
              </a:rPr>
              <a:t>r1 ⋈r2 ⋈ r3  ⋈ r4</a:t>
            </a:r>
            <a:endParaRPr/>
          </a:p>
          <a:p>
            <a:pPr indent="0" lvl="0" marL="0" rtl="0" algn="ctr">
              <a:lnSpc>
                <a:spcPct val="90000"/>
              </a:lnSpc>
              <a:spcBef>
                <a:spcPts val="1000"/>
              </a:spcBef>
              <a:spcAft>
                <a:spcPts val="0"/>
              </a:spcAft>
              <a:buClr>
                <a:schemeClr val="dk1"/>
              </a:buClr>
              <a:buSzPts val="1800"/>
              <a:buNone/>
            </a:pPr>
            <a:r>
              <a:t/>
            </a:r>
            <a:endParaRPr b="1" sz="18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2000"/>
              <a:buNone/>
            </a:pPr>
            <a:r>
              <a:rPr b="1" lang="en-US" sz="2000" u="sng">
                <a:latin typeface="Arial Rounded"/>
                <a:ea typeface="Arial Rounded"/>
                <a:cs typeface="Arial Rounded"/>
                <a:sym typeface="Arial Rounded"/>
              </a:rPr>
              <a:t>Advantage:-</a:t>
            </a:r>
            <a:endParaRPr/>
          </a:p>
          <a:p>
            <a:pPr indent="0" lvl="0" marL="0" rtl="0" algn="l">
              <a:lnSpc>
                <a:spcPct val="90000"/>
              </a:lnSpc>
              <a:spcBef>
                <a:spcPts val="1000"/>
              </a:spcBef>
              <a:spcAft>
                <a:spcPts val="0"/>
              </a:spcAft>
              <a:buClr>
                <a:schemeClr val="dk1"/>
              </a:buClr>
              <a:buSzPts val="1800"/>
              <a:buNone/>
            </a:pPr>
            <a:r>
              <a:rPr b="1" lang="en-US" sz="1800">
                <a:latin typeface="Arial Rounded"/>
                <a:ea typeface="Arial Rounded"/>
                <a:cs typeface="Arial Rounded"/>
                <a:sym typeface="Arial Rounded"/>
              </a:rPr>
              <a:t>We do not need to store the intermediate results, and instead the result produced at one processor can be consumed directly by the other.</a:t>
            </a:r>
            <a:endParaRPr/>
          </a:p>
          <a:p>
            <a:pPr indent="0" lvl="0" marL="0" rtl="0" algn="l">
              <a:lnSpc>
                <a:spcPct val="90000"/>
              </a:lnSpc>
              <a:spcBef>
                <a:spcPts val="1000"/>
              </a:spcBef>
              <a:spcAft>
                <a:spcPts val="0"/>
              </a:spcAft>
              <a:buClr>
                <a:schemeClr val="dk1"/>
              </a:buClr>
              <a:buSzPts val="1800"/>
              <a:buNone/>
            </a:pPr>
            <a:r>
              <a:t/>
            </a:r>
            <a:endParaRPr b="1" sz="18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2000"/>
              <a:buNone/>
            </a:pPr>
            <a:r>
              <a:rPr b="1" lang="en-US" sz="2000" u="sng">
                <a:latin typeface="Arial Rounded"/>
                <a:ea typeface="Arial Rounded"/>
                <a:cs typeface="Arial Rounded"/>
                <a:sym typeface="Arial Rounded"/>
              </a:rPr>
              <a:t>Disadvantage:-</a:t>
            </a:r>
            <a:endParaRPr/>
          </a:p>
          <a:p>
            <a:pPr indent="0" lvl="0" marL="0" rtl="0" algn="l">
              <a:lnSpc>
                <a:spcPct val="90000"/>
              </a:lnSpc>
              <a:spcBef>
                <a:spcPts val="1000"/>
              </a:spcBef>
              <a:spcAft>
                <a:spcPts val="0"/>
              </a:spcAft>
              <a:buClr>
                <a:schemeClr val="dk1"/>
              </a:buClr>
              <a:buSzPts val="1800"/>
              <a:buNone/>
            </a:pPr>
            <a:r>
              <a:rPr b="1" lang="en-US" sz="1800">
                <a:latin typeface="Arial Rounded"/>
                <a:ea typeface="Arial Rounded"/>
                <a:cs typeface="Arial Rounded"/>
                <a:sym typeface="Arial Rounded"/>
              </a:rPr>
              <a:t>1. Pipelined parallelism is not the good choice, if degree of parallelism is high.</a:t>
            </a:r>
            <a:endParaRPr/>
          </a:p>
          <a:p>
            <a:pPr indent="0" lvl="0" marL="0" rtl="0" algn="l">
              <a:lnSpc>
                <a:spcPct val="90000"/>
              </a:lnSpc>
              <a:spcBef>
                <a:spcPts val="1000"/>
              </a:spcBef>
              <a:spcAft>
                <a:spcPts val="0"/>
              </a:spcAft>
              <a:buClr>
                <a:schemeClr val="dk1"/>
              </a:buClr>
              <a:buSzPts val="1800"/>
              <a:buNone/>
            </a:pPr>
            <a:r>
              <a:rPr b="1" lang="en-US" sz="1800">
                <a:latin typeface="Arial Rounded"/>
                <a:ea typeface="Arial Rounded"/>
                <a:cs typeface="Arial Rounded"/>
                <a:sym typeface="Arial Rounded"/>
              </a:rPr>
              <a:t>2. Useful with small number of processors.</a:t>
            </a:r>
            <a:endParaRPr/>
          </a:p>
          <a:p>
            <a:pPr indent="0" lvl="0" marL="0" rtl="0" algn="l">
              <a:lnSpc>
                <a:spcPct val="90000"/>
              </a:lnSpc>
              <a:spcBef>
                <a:spcPts val="1000"/>
              </a:spcBef>
              <a:spcAft>
                <a:spcPts val="0"/>
              </a:spcAft>
              <a:buClr>
                <a:schemeClr val="dk1"/>
              </a:buClr>
              <a:buSzPts val="1800"/>
              <a:buNone/>
            </a:pPr>
            <a:r>
              <a:rPr b="1" lang="en-US" sz="1800">
                <a:latin typeface="Arial Rounded"/>
                <a:ea typeface="Arial Rounded"/>
                <a:cs typeface="Arial Rounded"/>
                <a:sym typeface="Arial Rounded"/>
              </a:rPr>
              <a:t>3. Not all operations can be pipelined. </a:t>
            </a:r>
            <a:endParaRPr/>
          </a:p>
          <a:p>
            <a:pPr indent="0" lvl="0" marL="0" rtl="0" algn="l">
              <a:lnSpc>
                <a:spcPct val="90000"/>
              </a:lnSpc>
              <a:spcBef>
                <a:spcPts val="1000"/>
              </a:spcBef>
              <a:spcAft>
                <a:spcPts val="0"/>
              </a:spcAft>
              <a:buClr>
                <a:schemeClr val="dk1"/>
              </a:buClr>
              <a:buSzPts val="1800"/>
              <a:buNone/>
            </a:pPr>
            <a:r>
              <a:t/>
            </a:r>
            <a:endParaRPr b="1" sz="1800">
              <a:latin typeface="Arial Rounded"/>
              <a:ea typeface="Arial Rounded"/>
              <a:cs typeface="Arial Rounded"/>
              <a:sym typeface="Arial Round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9"/>
          <p:cNvSpPr txBox="1"/>
          <p:nvPr>
            <p:ph type="title"/>
          </p:nvPr>
        </p:nvSpPr>
        <p:spPr>
          <a:xfrm>
            <a:off x="325120" y="365125"/>
            <a:ext cx="11550650" cy="1325880"/>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400"/>
              <a:buFont typeface="Noto Sans Symbols"/>
              <a:buChar char="⮚"/>
            </a:pPr>
            <a:r>
              <a:rPr b="1" lang="en-US" sz="2400">
                <a:solidFill>
                  <a:schemeClr val="accent6"/>
                </a:solidFill>
                <a:latin typeface="Arial Rounded"/>
                <a:ea typeface="Arial Rounded"/>
                <a:cs typeface="Arial Rounded"/>
                <a:sym typeface="Arial Rounded"/>
              </a:rPr>
              <a:t>Independent Parallelism</a:t>
            </a:r>
            <a:endParaRPr/>
          </a:p>
        </p:txBody>
      </p:sp>
      <p:sp>
        <p:nvSpPr>
          <p:cNvPr id="216" name="Google Shape;216;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b="1" lang="en-US" sz="1800">
                <a:latin typeface="Arial Rounded"/>
                <a:ea typeface="Arial Rounded"/>
                <a:cs typeface="Arial Rounded"/>
                <a:sym typeface="Arial Rounded"/>
              </a:rPr>
              <a:t>Operations that are not depending on each other can be executed in parallel at different processors. This is called as Independent Parallelism.</a:t>
            </a:r>
            <a:endParaRPr/>
          </a:p>
          <a:p>
            <a:pPr indent="-114300" lvl="0" marL="228600" rtl="0" algn="l">
              <a:lnSpc>
                <a:spcPct val="90000"/>
              </a:lnSpc>
              <a:spcBef>
                <a:spcPts val="1000"/>
              </a:spcBef>
              <a:spcAft>
                <a:spcPts val="0"/>
              </a:spcAft>
              <a:buClr>
                <a:schemeClr val="dk1"/>
              </a:buClr>
              <a:buSzPts val="1800"/>
              <a:buNone/>
            </a:pPr>
            <a:r>
              <a:t/>
            </a:r>
            <a:endParaRPr b="1" sz="1800">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1800"/>
              <a:buChar char="•"/>
            </a:pPr>
            <a:r>
              <a:rPr b="1" lang="en-US" sz="1800">
                <a:latin typeface="Arial Rounded"/>
                <a:ea typeface="Arial Rounded"/>
                <a:cs typeface="Arial Rounded"/>
                <a:sym typeface="Arial Rounded"/>
              </a:rPr>
              <a:t>For example, in the expression r1 ⋈ r2 ⋈ r3 ⋈ r4, the portion r1 ⋈ r2 can be done in one processor, and r3 ⋈ r4 can be performed in the other processor. Both results can be pipelined into the third processor to get the final result.</a:t>
            </a:r>
            <a:endParaRPr/>
          </a:p>
          <a:p>
            <a:pPr indent="-114300" lvl="0" marL="228600" rtl="0" algn="l">
              <a:lnSpc>
                <a:spcPct val="90000"/>
              </a:lnSpc>
              <a:spcBef>
                <a:spcPts val="1000"/>
              </a:spcBef>
              <a:spcAft>
                <a:spcPts val="0"/>
              </a:spcAft>
              <a:buClr>
                <a:schemeClr val="dk1"/>
              </a:buClr>
              <a:buSzPts val="1800"/>
              <a:buNone/>
            </a:pPr>
            <a:r>
              <a:t/>
            </a:r>
            <a:endParaRPr b="1" sz="18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1800"/>
              <a:buFont typeface="Arial"/>
              <a:buNone/>
            </a:pPr>
            <a:r>
              <a:rPr b="1" lang="en-US" sz="1800" u="sng">
                <a:latin typeface="Arial Rounded"/>
                <a:ea typeface="Arial Rounded"/>
                <a:cs typeface="Arial Rounded"/>
                <a:sym typeface="Arial Rounded"/>
              </a:rPr>
              <a:t>Disadvantages:</a:t>
            </a:r>
            <a:endParaRPr/>
          </a:p>
          <a:p>
            <a:pPr indent="-228600" lvl="0" marL="228600" rtl="0" algn="l">
              <a:lnSpc>
                <a:spcPct val="90000"/>
              </a:lnSpc>
              <a:spcBef>
                <a:spcPts val="1000"/>
              </a:spcBef>
              <a:spcAft>
                <a:spcPts val="0"/>
              </a:spcAft>
              <a:buClr>
                <a:schemeClr val="dk1"/>
              </a:buClr>
              <a:buSzPts val="1800"/>
              <a:buChar char="•"/>
            </a:pPr>
            <a:r>
              <a:rPr b="1" lang="en-US" sz="1800">
                <a:latin typeface="Arial Rounded"/>
                <a:ea typeface="Arial Rounded"/>
                <a:cs typeface="Arial Rounded"/>
                <a:sym typeface="Arial Rounded"/>
              </a:rPr>
              <a:t>Does not work well in case of high degree of parallelism.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0"/>
          <p:cNvPicPr preferRelativeResize="0"/>
          <p:nvPr>
            <p:ph idx="1" type="body"/>
          </p:nvPr>
        </p:nvPicPr>
        <p:blipFill rotWithShape="1">
          <a:blip r:embed="rId3">
            <a:alphaModFix/>
          </a:blip>
          <a:srcRect b="0" l="0" r="0" t="0"/>
          <a:stretch/>
        </p:blipFill>
        <p:spPr>
          <a:xfrm>
            <a:off x="1351915" y="144780"/>
            <a:ext cx="9025255" cy="607250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55A11"/>
              </a:buClr>
              <a:buSzPts val="3000"/>
              <a:buFont typeface="Arial Rounded"/>
              <a:buNone/>
            </a:pPr>
            <a:r>
              <a:rPr b="1" lang="en-US" sz="3000" u="sng">
                <a:solidFill>
                  <a:srgbClr val="C55A11"/>
                </a:solidFill>
                <a:latin typeface="Arial Rounded"/>
                <a:ea typeface="Arial Rounded"/>
                <a:cs typeface="Arial Rounded"/>
                <a:sym typeface="Arial Rounded"/>
              </a:rPr>
              <a:t>Intra-operation Parallelism</a:t>
            </a:r>
            <a:endParaRPr/>
          </a:p>
        </p:txBody>
      </p:sp>
      <p:sp>
        <p:nvSpPr>
          <p:cNvPr id="227" name="Google Shape;22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latin typeface="Arial Rounded"/>
                <a:ea typeface="Arial Rounded"/>
                <a:cs typeface="Arial Rounded"/>
                <a:sym typeface="Arial Rounded"/>
              </a:rPr>
              <a:t>It is about parallelizing a single relational operation given in a query.</a:t>
            </a:r>
            <a:endParaRPr/>
          </a:p>
          <a:p>
            <a:pPr indent="-101600" lvl="0" marL="228600" rtl="0" algn="l">
              <a:lnSpc>
                <a:spcPct val="9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Consider the example query given below;</a:t>
            </a:r>
            <a:endParaRPr/>
          </a:p>
          <a:p>
            <a:pPr indent="0" lvl="0" marL="0" rtl="0" algn="ctr">
              <a:lnSpc>
                <a:spcPct val="90000"/>
              </a:lnSpc>
              <a:spcBef>
                <a:spcPts val="1000"/>
              </a:spcBef>
              <a:spcAft>
                <a:spcPts val="0"/>
              </a:spcAft>
              <a:buClr>
                <a:srgbClr val="2F5496"/>
              </a:buClr>
              <a:buSzPts val="2000"/>
              <a:buNone/>
            </a:pPr>
            <a:r>
              <a:rPr b="1" lang="en-US" sz="2000">
                <a:solidFill>
                  <a:srgbClr val="2F5496"/>
                </a:solidFill>
                <a:latin typeface="Arial Rounded"/>
                <a:ea typeface="Arial Rounded"/>
                <a:cs typeface="Arial Rounded"/>
                <a:sym typeface="Arial Rounded"/>
              </a:rPr>
              <a:t>SELECT AVG(Salary) FROM Employee GROUP BY Dept_Id;</a:t>
            </a:r>
            <a:endParaRPr/>
          </a:p>
          <a:p>
            <a:pPr indent="-101600" lvl="0" marL="228600" rtl="0" algn="l">
              <a:lnSpc>
                <a:spcPct val="9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2"/>
          <p:cNvSpPr txBox="1"/>
          <p:nvPr>
            <p:ph idx="1" type="body"/>
          </p:nvPr>
        </p:nvSpPr>
        <p:spPr>
          <a:xfrm>
            <a:off x="267855" y="343535"/>
            <a:ext cx="11731105" cy="651446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00"/>
              <a:buChar char="•"/>
            </a:pPr>
            <a:r>
              <a:rPr b="1" lang="en-US" sz="2100">
                <a:latin typeface="Arial Rounded"/>
                <a:ea typeface="Arial Rounded"/>
                <a:cs typeface="Arial Rounded"/>
                <a:sym typeface="Arial Rounded"/>
              </a:rPr>
              <a:t>There are many such relational operations which can be executed in parallel using many processors on subsets of the table/tables mentioned in the query. </a:t>
            </a:r>
            <a:endParaRPr/>
          </a:p>
          <a:p>
            <a:pPr indent="-228600" lvl="0" marL="228600" rtl="0" algn="l">
              <a:lnSpc>
                <a:spcPct val="90000"/>
              </a:lnSpc>
              <a:spcBef>
                <a:spcPts val="1000"/>
              </a:spcBef>
              <a:spcAft>
                <a:spcPts val="0"/>
              </a:spcAft>
              <a:buClr>
                <a:schemeClr val="dk1"/>
              </a:buClr>
              <a:buSzPts val="2100"/>
              <a:buChar char="•"/>
            </a:pPr>
            <a:r>
              <a:rPr b="1" lang="en-US" sz="2100">
                <a:latin typeface="Arial Rounded"/>
                <a:ea typeface="Arial Rounded"/>
                <a:cs typeface="Arial Rounded"/>
                <a:sym typeface="Arial Rounded"/>
              </a:rPr>
              <a:t>The following list includes the relational operations and various techniques used to implement those operations in parallel.</a:t>
            </a:r>
            <a:endParaRPr/>
          </a:p>
          <a:p>
            <a:pPr indent="-95250" lvl="0" marL="228600" rtl="0" algn="l">
              <a:lnSpc>
                <a:spcPct val="90000"/>
              </a:lnSpc>
              <a:spcBef>
                <a:spcPts val="1000"/>
              </a:spcBef>
              <a:spcAft>
                <a:spcPts val="0"/>
              </a:spcAft>
              <a:buClr>
                <a:schemeClr val="dk1"/>
              </a:buClr>
              <a:buSzPts val="2100"/>
              <a:buNone/>
            </a:pPr>
            <a:r>
              <a:t/>
            </a:r>
            <a:endParaRPr b="1" sz="2100">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accent6"/>
              </a:buClr>
              <a:buSzPts val="2100"/>
              <a:buFont typeface="Noto Sans Symbols"/>
              <a:buChar char="❖"/>
            </a:pPr>
            <a:r>
              <a:rPr b="1" lang="en-US" sz="2100">
                <a:solidFill>
                  <a:schemeClr val="accent6"/>
                </a:solidFill>
                <a:latin typeface="Arial Rounded"/>
                <a:ea typeface="Arial Rounded"/>
                <a:cs typeface="Arial Rounded"/>
                <a:sym typeface="Arial Rounded"/>
              </a:rPr>
              <a:t>Parallel Sort</a:t>
            </a:r>
            <a:endParaRPr b="1" sz="2100">
              <a:solidFill>
                <a:schemeClr val="accent6"/>
              </a:solidFill>
              <a:latin typeface="Arial Rounded"/>
              <a:ea typeface="Arial Rounded"/>
              <a:cs typeface="Arial Rounded"/>
              <a:sym typeface="Arial Rounded"/>
            </a:endParaRPr>
          </a:p>
          <a:p>
            <a:pPr indent="-228600" lvl="1" marL="685800" rtl="0" algn="l">
              <a:lnSpc>
                <a:spcPct val="90000"/>
              </a:lnSpc>
              <a:spcBef>
                <a:spcPts val="500"/>
              </a:spcBef>
              <a:spcAft>
                <a:spcPts val="0"/>
              </a:spcAft>
              <a:buClr>
                <a:srgbClr val="FF0000"/>
              </a:buClr>
              <a:buSzPts val="2100"/>
              <a:buChar char="•"/>
            </a:pPr>
            <a:r>
              <a:rPr b="1" lang="en-US" sz="2100">
                <a:solidFill>
                  <a:srgbClr val="FF0000"/>
                </a:solidFill>
                <a:latin typeface="Arial Rounded"/>
                <a:ea typeface="Arial Rounded"/>
                <a:cs typeface="Arial Rounded"/>
                <a:sym typeface="Arial Rounded"/>
              </a:rPr>
              <a:t>Range Partitioning Sort</a:t>
            </a:r>
            <a:endParaRPr b="1" sz="2100">
              <a:solidFill>
                <a:srgbClr val="FF0000"/>
              </a:solidFill>
              <a:latin typeface="Arial Rounded"/>
              <a:ea typeface="Arial Rounded"/>
              <a:cs typeface="Arial Rounded"/>
              <a:sym typeface="Arial Rounded"/>
            </a:endParaRPr>
          </a:p>
          <a:p>
            <a:pPr indent="-228600" lvl="1" marL="685800" rtl="0" algn="l">
              <a:lnSpc>
                <a:spcPct val="90000"/>
              </a:lnSpc>
              <a:spcBef>
                <a:spcPts val="500"/>
              </a:spcBef>
              <a:spcAft>
                <a:spcPts val="0"/>
              </a:spcAft>
              <a:buClr>
                <a:srgbClr val="FF0000"/>
              </a:buClr>
              <a:buSzPts val="2100"/>
              <a:buChar char="•"/>
            </a:pPr>
            <a:r>
              <a:rPr b="1" lang="en-US" sz="2100">
                <a:solidFill>
                  <a:srgbClr val="FF0000"/>
                </a:solidFill>
                <a:latin typeface="Arial Rounded"/>
                <a:ea typeface="Arial Rounded"/>
                <a:cs typeface="Arial Rounded"/>
                <a:sym typeface="Arial Rounded"/>
              </a:rPr>
              <a:t>Parallel External Sort-Merge</a:t>
            </a:r>
            <a:endParaRPr b="1" sz="2100">
              <a:solidFill>
                <a:srgbClr val="FF0000"/>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accent6"/>
              </a:buClr>
              <a:buSzPts val="2100"/>
              <a:buFont typeface="Noto Sans Symbols"/>
              <a:buChar char="❖"/>
            </a:pPr>
            <a:r>
              <a:rPr b="1" lang="en-US" sz="2100">
                <a:solidFill>
                  <a:schemeClr val="accent6"/>
                </a:solidFill>
                <a:latin typeface="Arial Rounded"/>
                <a:ea typeface="Arial Rounded"/>
                <a:cs typeface="Arial Rounded"/>
                <a:sym typeface="Arial Rounded"/>
              </a:rPr>
              <a:t>Parallel Join</a:t>
            </a:r>
            <a:endParaRPr b="1" sz="2100">
              <a:solidFill>
                <a:schemeClr val="accent6"/>
              </a:solidFill>
              <a:latin typeface="Arial Rounded"/>
              <a:ea typeface="Arial Rounded"/>
              <a:cs typeface="Arial Rounded"/>
              <a:sym typeface="Arial Rounded"/>
            </a:endParaRPr>
          </a:p>
          <a:p>
            <a:pPr indent="-228600" lvl="1" marL="685800" rtl="0" algn="l">
              <a:lnSpc>
                <a:spcPct val="90000"/>
              </a:lnSpc>
              <a:spcBef>
                <a:spcPts val="500"/>
              </a:spcBef>
              <a:spcAft>
                <a:spcPts val="0"/>
              </a:spcAft>
              <a:buClr>
                <a:srgbClr val="FF0000"/>
              </a:buClr>
              <a:buSzPts val="2100"/>
              <a:buChar char="•"/>
            </a:pPr>
            <a:r>
              <a:rPr b="1" lang="en-US" sz="2100">
                <a:solidFill>
                  <a:srgbClr val="FF0000"/>
                </a:solidFill>
                <a:latin typeface="Arial Rounded"/>
                <a:ea typeface="Arial Rounded"/>
                <a:cs typeface="Arial Rounded"/>
                <a:sym typeface="Arial Rounded"/>
              </a:rPr>
              <a:t>Partitioned Join</a:t>
            </a:r>
            <a:endParaRPr b="1" sz="2100">
              <a:solidFill>
                <a:srgbClr val="FF0000"/>
              </a:solidFill>
              <a:latin typeface="Arial Rounded"/>
              <a:ea typeface="Arial Rounded"/>
              <a:cs typeface="Arial Rounded"/>
              <a:sym typeface="Arial Rounded"/>
            </a:endParaRPr>
          </a:p>
          <a:p>
            <a:pPr indent="-228600" lvl="1" marL="685800" rtl="0" algn="l">
              <a:lnSpc>
                <a:spcPct val="90000"/>
              </a:lnSpc>
              <a:spcBef>
                <a:spcPts val="500"/>
              </a:spcBef>
              <a:spcAft>
                <a:spcPts val="0"/>
              </a:spcAft>
              <a:buClr>
                <a:srgbClr val="FF0000"/>
              </a:buClr>
              <a:buSzPts val="2100"/>
              <a:buChar char="•"/>
            </a:pPr>
            <a:r>
              <a:rPr b="1" lang="en-US" sz="2100">
                <a:solidFill>
                  <a:srgbClr val="FF0000"/>
                </a:solidFill>
                <a:latin typeface="Arial Rounded"/>
                <a:ea typeface="Arial Rounded"/>
                <a:cs typeface="Arial Rounded"/>
                <a:sym typeface="Arial Rounded"/>
              </a:rPr>
              <a:t>Fragment and Replicate Join</a:t>
            </a:r>
            <a:endParaRPr b="1" sz="2100">
              <a:solidFill>
                <a:srgbClr val="FF0000"/>
              </a:solidFill>
              <a:latin typeface="Arial Rounded"/>
              <a:ea typeface="Arial Rounded"/>
              <a:cs typeface="Arial Rounded"/>
              <a:sym typeface="Arial Rounded"/>
            </a:endParaRPr>
          </a:p>
          <a:p>
            <a:pPr indent="-228600" lvl="1" marL="685800" rtl="0" algn="l">
              <a:lnSpc>
                <a:spcPct val="90000"/>
              </a:lnSpc>
              <a:spcBef>
                <a:spcPts val="500"/>
              </a:spcBef>
              <a:spcAft>
                <a:spcPts val="0"/>
              </a:spcAft>
              <a:buClr>
                <a:srgbClr val="FF0000"/>
              </a:buClr>
              <a:buSzPts val="2100"/>
              <a:buChar char="•"/>
            </a:pPr>
            <a:r>
              <a:rPr b="1" lang="en-US" sz="2100">
                <a:solidFill>
                  <a:srgbClr val="FF0000"/>
                </a:solidFill>
                <a:latin typeface="Arial Rounded"/>
                <a:ea typeface="Arial Rounded"/>
                <a:cs typeface="Arial Rounded"/>
                <a:sym typeface="Arial Rounded"/>
              </a:rPr>
              <a:t>Partitioned Parallel Hash Join</a:t>
            </a:r>
            <a:endParaRPr b="1" sz="2100">
              <a:solidFill>
                <a:srgbClr val="FF0000"/>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accent6"/>
              </a:buClr>
              <a:buSzPts val="2100"/>
              <a:buFont typeface="Noto Sans Symbols"/>
              <a:buChar char="❖"/>
            </a:pPr>
            <a:r>
              <a:rPr b="1" lang="en-US" sz="2100">
                <a:solidFill>
                  <a:schemeClr val="accent6"/>
                </a:solidFill>
                <a:latin typeface="Arial Rounded"/>
                <a:ea typeface="Arial Rounded"/>
                <a:cs typeface="Arial Rounded"/>
                <a:sym typeface="Arial Rounded"/>
              </a:rPr>
              <a:t>Selection</a:t>
            </a:r>
            <a:endParaRPr b="1" sz="2100">
              <a:solidFill>
                <a:schemeClr val="accent6"/>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accent6"/>
              </a:buClr>
              <a:buSzPts val="2100"/>
              <a:buFont typeface="Noto Sans Symbols"/>
              <a:buChar char="❖"/>
            </a:pPr>
            <a:r>
              <a:rPr b="1" lang="en-US" sz="2100">
                <a:solidFill>
                  <a:schemeClr val="accent6"/>
                </a:solidFill>
                <a:latin typeface="Arial Rounded"/>
                <a:ea typeface="Arial Rounded"/>
                <a:cs typeface="Arial Rounded"/>
                <a:sym typeface="Arial Rounded"/>
              </a:rPr>
              <a:t>Duplicate Elimination</a:t>
            </a:r>
            <a:endParaRPr b="1" sz="2100">
              <a:solidFill>
                <a:schemeClr val="accent6"/>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accent6"/>
              </a:buClr>
              <a:buSzPts val="2100"/>
              <a:buFont typeface="Noto Sans Symbols"/>
              <a:buChar char="❖"/>
            </a:pPr>
            <a:r>
              <a:rPr b="1" lang="en-US" sz="2100">
                <a:solidFill>
                  <a:schemeClr val="accent6"/>
                </a:solidFill>
                <a:latin typeface="Arial Rounded"/>
                <a:ea typeface="Arial Rounded"/>
                <a:cs typeface="Arial Rounded"/>
                <a:sym typeface="Arial Rounded"/>
              </a:rPr>
              <a:t>Projection</a:t>
            </a:r>
            <a:endParaRPr b="1" sz="2100">
              <a:solidFill>
                <a:schemeClr val="accent6"/>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accent6"/>
              </a:buClr>
              <a:buSzPts val="2100"/>
              <a:buFont typeface="Noto Sans Symbols"/>
              <a:buChar char="❖"/>
            </a:pPr>
            <a:r>
              <a:rPr b="1" lang="en-US" sz="2100">
                <a:solidFill>
                  <a:schemeClr val="accent6"/>
                </a:solidFill>
                <a:latin typeface="Arial Rounded"/>
                <a:ea typeface="Arial Rounded"/>
                <a:cs typeface="Arial Rounded"/>
                <a:sym typeface="Arial Rounded"/>
              </a:rPr>
              <a:t>Aggregation</a:t>
            </a:r>
            <a:endParaRPr b="1" sz="2100">
              <a:solidFill>
                <a:schemeClr val="accent6"/>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2100"/>
              <a:buNone/>
            </a:pPr>
            <a:r>
              <a:t/>
            </a:r>
            <a:endParaRPr b="1" sz="2100">
              <a:latin typeface="Arial Rounded"/>
              <a:ea typeface="Arial Rounded"/>
              <a:cs typeface="Arial Rounded"/>
              <a:sym typeface="Arial Rounde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699654" y="18255"/>
            <a:ext cx="10515600" cy="840727"/>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500"/>
              <a:buFont typeface="Noto Sans Symbols"/>
              <a:buChar char="❑"/>
            </a:pPr>
            <a:r>
              <a:rPr b="1" lang="en-US" sz="2500">
                <a:solidFill>
                  <a:schemeClr val="accent6"/>
                </a:solidFill>
                <a:latin typeface="Arial Rounded"/>
                <a:ea typeface="Arial Rounded"/>
                <a:cs typeface="Arial Rounded"/>
                <a:sym typeface="Arial Rounded"/>
              </a:rPr>
              <a:t>Parallel Sort - </a:t>
            </a:r>
            <a:r>
              <a:rPr b="1" lang="en-US" sz="2500">
                <a:solidFill>
                  <a:srgbClr val="FF0000"/>
                </a:solidFill>
                <a:latin typeface="Arial Rounded"/>
                <a:ea typeface="Arial Rounded"/>
                <a:cs typeface="Arial Rounded"/>
                <a:sym typeface="Arial Rounded"/>
              </a:rPr>
              <a:t>Range Partitioning Sort</a:t>
            </a:r>
            <a:endParaRPr/>
          </a:p>
        </p:txBody>
      </p:sp>
      <p:sp>
        <p:nvSpPr>
          <p:cNvPr id="238" name="Google Shape;238;p23"/>
          <p:cNvSpPr txBox="1"/>
          <p:nvPr>
            <p:ph idx="1" type="body"/>
          </p:nvPr>
        </p:nvSpPr>
        <p:spPr>
          <a:xfrm>
            <a:off x="457200" y="975879"/>
            <a:ext cx="11277600" cy="510164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None/>
            </a:pPr>
            <a:r>
              <a:rPr b="1" lang="en-US" sz="2000">
                <a:latin typeface="Arial Rounded"/>
                <a:ea typeface="Arial Rounded"/>
                <a:cs typeface="Arial Rounded"/>
                <a:sym typeface="Arial Rounded"/>
              </a:rPr>
              <a:t>Assumptions:</a:t>
            </a:r>
            <a:endParaRPr/>
          </a:p>
          <a:p>
            <a:pPr indent="-228600" lvl="0" marL="228600" rtl="0" algn="l">
              <a:lnSpc>
                <a:spcPct val="10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Assume n processors, P0, P1, …, Pn-1 and n disks D0, D1, …, Dn-1.</a:t>
            </a:r>
            <a:endParaRPr/>
          </a:p>
          <a:p>
            <a:pPr indent="-228600" lvl="0" marL="228600" rtl="0" algn="l">
              <a:lnSpc>
                <a:spcPct val="10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Disk Di is associated with Processor Pi.</a:t>
            </a:r>
            <a:endParaRPr/>
          </a:p>
          <a:p>
            <a:pPr indent="-228600" lvl="0" marL="228600" rtl="0" algn="l">
              <a:lnSpc>
                <a:spcPct val="10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Relation R is partitioned into R0, R1, …, Rn-1 using Round-robin technique or Hash Partitioning technique or Range Partitioning technique (if range partitioned on some other attribute other than sorting attribute)</a:t>
            </a:r>
            <a:endParaRPr/>
          </a:p>
          <a:p>
            <a:pPr indent="-101600" lvl="0" marL="228600" rtl="0" algn="l">
              <a:lnSpc>
                <a:spcPct val="10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a:p>
            <a:pPr indent="0" lvl="0" marL="0" rtl="0" algn="l">
              <a:lnSpc>
                <a:spcPct val="100000"/>
              </a:lnSpc>
              <a:spcBef>
                <a:spcPts val="1000"/>
              </a:spcBef>
              <a:spcAft>
                <a:spcPts val="0"/>
              </a:spcAft>
              <a:buClr>
                <a:srgbClr val="0070C0"/>
              </a:buClr>
              <a:buSzPts val="2000"/>
              <a:buNone/>
            </a:pPr>
            <a:r>
              <a:rPr b="1" lang="en-US" sz="2000">
                <a:solidFill>
                  <a:srgbClr val="0070C0"/>
                </a:solidFill>
                <a:latin typeface="Arial Rounded"/>
                <a:ea typeface="Arial Rounded"/>
                <a:cs typeface="Arial Rounded"/>
                <a:sym typeface="Arial Rounded"/>
              </a:rPr>
              <a:t>Steps:</a:t>
            </a:r>
            <a:endParaRPr/>
          </a:p>
          <a:p>
            <a:pPr indent="0" lvl="0" marL="0" rtl="0" algn="l">
              <a:lnSpc>
                <a:spcPct val="100000"/>
              </a:lnSpc>
              <a:spcBef>
                <a:spcPts val="1000"/>
              </a:spcBef>
              <a:spcAft>
                <a:spcPts val="0"/>
              </a:spcAft>
              <a:buClr>
                <a:srgbClr val="0070C0"/>
              </a:buClr>
              <a:buSzPts val="2000"/>
              <a:buNone/>
            </a:pPr>
            <a:r>
              <a:rPr b="1" lang="en-US" sz="2000">
                <a:solidFill>
                  <a:srgbClr val="0070C0"/>
                </a:solidFill>
                <a:latin typeface="Arial Rounded"/>
                <a:ea typeface="Arial Rounded"/>
                <a:cs typeface="Arial Rounded"/>
                <a:sym typeface="Arial Rounded"/>
              </a:rPr>
              <a:t>Step 1:</a:t>
            </a:r>
            <a:r>
              <a:rPr b="1" lang="en-US" sz="2000">
                <a:latin typeface="Arial Rounded"/>
                <a:ea typeface="Arial Rounded"/>
                <a:cs typeface="Arial Rounded"/>
                <a:sym typeface="Arial Rounded"/>
              </a:rPr>
              <a:t> Partition the relations Ri on the sorting attribute A at every processor using a range vector v. Send the partitioned records which fall in the ith range to Processor Pi where they are temporarily stored in Di.</a:t>
            </a:r>
            <a:endParaRPr/>
          </a:p>
          <a:p>
            <a:pPr indent="0" lvl="0" marL="0" rtl="0" algn="l">
              <a:lnSpc>
                <a:spcPct val="100000"/>
              </a:lnSpc>
              <a:spcBef>
                <a:spcPts val="1000"/>
              </a:spcBef>
              <a:spcAft>
                <a:spcPts val="0"/>
              </a:spcAft>
              <a:buClr>
                <a:srgbClr val="0070C0"/>
              </a:buClr>
              <a:buSzPts val="2000"/>
              <a:buNone/>
            </a:pPr>
            <a:r>
              <a:rPr b="1" lang="en-US" sz="2000">
                <a:solidFill>
                  <a:srgbClr val="0070C0"/>
                </a:solidFill>
                <a:latin typeface="Arial Rounded"/>
                <a:ea typeface="Arial Rounded"/>
                <a:cs typeface="Arial Rounded"/>
                <a:sym typeface="Arial Rounded"/>
              </a:rPr>
              <a:t>Step 2: </a:t>
            </a:r>
            <a:r>
              <a:rPr b="1" lang="en-US" sz="2000">
                <a:latin typeface="Arial Rounded"/>
                <a:ea typeface="Arial Rounded"/>
                <a:cs typeface="Arial Rounded"/>
                <a:sym typeface="Arial Rounded"/>
              </a:rPr>
              <a:t>Sort each partition locally at each processor Pi. And, send the sorted results for merging with all the other sorted results which is trivial process.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500"/>
              <a:buFont typeface="Noto Sans Symbols"/>
              <a:buChar char="❑"/>
            </a:pPr>
            <a:r>
              <a:rPr b="1" lang="en-US" sz="2500">
                <a:solidFill>
                  <a:schemeClr val="accent6"/>
                </a:solidFill>
                <a:latin typeface="Arial Rounded"/>
                <a:ea typeface="Arial Rounded"/>
                <a:cs typeface="Arial Rounded"/>
                <a:sym typeface="Arial Rounded"/>
              </a:rPr>
              <a:t>Parallel Sort - </a:t>
            </a:r>
            <a:r>
              <a:rPr b="1" lang="en-US" sz="2500">
                <a:solidFill>
                  <a:srgbClr val="FF0000"/>
                </a:solidFill>
                <a:latin typeface="Arial Rounded"/>
                <a:ea typeface="Arial Rounded"/>
                <a:cs typeface="Arial Rounded"/>
                <a:sym typeface="Arial Rounded"/>
              </a:rPr>
              <a:t>Range Partitioning Sort</a:t>
            </a:r>
            <a:endParaRPr/>
          </a:p>
        </p:txBody>
      </p:sp>
      <p:sp>
        <p:nvSpPr>
          <p:cNvPr id="244" name="Google Shape;244;p24"/>
          <p:cNvSpPr txBox="1"/>
          <p:nvPr>
            <p:ph idx="1" type="body"/>
          </p:nvPr>
        </p:nvSpPr>
        <p:spPr>
          <a:xfrm>
            <a:off x="838200" y="1853334"/>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lang="en-US" sz="2000">
                <a:latin typeface="Arial Rounded"/>
                <a:ea typeface="Arial Rounded"/>
                <a:cs typeface="Arial Rounded"/>
                <a:sym typeface="Arial Rounded"/>
              </a:rPr>
              <a:t>Example:</a:t>
            </a:r>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Consider the following relation schema Employee:-</a:t>
            </a:r>
            <a:endParaRPr/>
          </a:p>
          <a:p>
            <a:pPr indent="0" lvl="0" marL="0" rtl="0" algn="l">
              <a:lnSpc>
                <a:spcPct val="90000"/>
              </a:lnSpc>
              <a:spcBef>
                <a:spcPts val="1000"/>
              </a:spcBef>
              <a:spcAft>
                <a:spcPts val="0"/>
              </a:spcAft>
              <a:buClr>
                <a:schemeClr val="dk1"/>
              </a:buClr>
              <a:buSzPts val="2000"/>
              <a:buNone/>
            </a:pPr>
            <a:r>
              <a:rPr b="1" lang="en-US" sz="2000">
                <a:latin typeface="Arial Rounded"/>
                <a:ea typeface="Arial Rounded"/>
                <a:cs typeface="Arial Rounded"/>
                <a:sym typeface="Arial Rounded"/>
              </a:rPr>
              <a:t>Employee (Emp_ID, EName, Salary)</a:t>
            </a:r>
            <a:endParaRPr/>
          </a:p>
          <a:p>
            <a:pPr indent="0" lvl="0" marL="0" rtl="0" algn="l">
              <a:lnSpc>
                <a:spcPct val="9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Assume that relation Employee is partitioned using Round-robin technique into 3 disks D0, D1, and D2 which are associated with processors P0, P1, and P2. </a:t>
            </a:r>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At processors P0, P1, and P2, the relations are named Employee0, Employee1 and Employee2 respectively.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IMG_256" id="249" name="Google Shape;249;p25">
            <a:hlinkClick r:id="rId3"/>
          </p:cNvPr>
          <p:cNvPicPr preferRelativeResize="0"/>
          <p:nvPr>
            <p:ph idx="1" type="body"/>
          </p:nvPr>
        </p:nvPicPr>
        <p:blipFill rotWithShape="1">
          <a:blip r:embed="rId4">
            <a:alphaModFix/>
          </a:blip>
          <a:srcRect b="0" l="0" r="0" t="0"/>
          <a:stretch/>
        </p:blipFill>
        <p:spPr>
          <a:xfrm>
            <a:off x="1202055" y="1722755"/>
            <a:ext cx="8613775" cy="2886075"/>
          </a:xfrm>
          <a:prstGeom prst="rect">
            <a:avLst/>
          </a:prstGeom>
          <a:noFill/>
          <a:ln>
            <a:noFill/>
          </a:ln>
        </p:spPr>
      </p:pic>
      <p:sp>
        <p:nvSpPr>
          <p:cNvPr id="250" name="Google Shape;250;p25"/>
          <p:cNvSpPr/>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marR="0" rtl="0" algn="l">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51" name="Google Shape;251;p25"/>
          <p:cNvSpPr/>
          <p:nvPr/>
        </p:nvSpPr>
        <p:spPr>
          <a:xfrm>
            <a:off x="685800" y="3794760"/>
            <a:ext cx="10515600" cy="2541270"/>
          </a:xfrm>
          <a:prstGeom prst="rect">
            <a:avLst/>
          </a:prstGeom>
          <a:noFill/>
          <a:ln>
            <a:noFill/>
          </a:ln>
        </p:spPr>
        <p:txBody>
          <a:bodyPr anchorCtr="0" anchor="t" bIns="45700" lIns="91425" spcFirstLastPara="1" rIns="91425" wrap="square" tIns="45700">
            <a:normAutofit/>
          </a:bodyPr>
          <a:lstStyle/>
          <a:p>
            <a:pPr indent="-50800" lvl="0" marL="228600" marR="0" rtl="0" algn="l">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52" name="Google Shape;252;p25"/>
          <p:cNvSpPr/>
          <p:nvPr/>
        </p:nvSpPr>
        <p:spPr>
          <a:xfrm>
            <a:off x="965200" y="4736465"/>
            <a:ext cx="10515600" cy="156781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Assume that the following sorting query is initiated.</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C00000"/>
              </a:buClr>
              <a:buSzPts val="2400"/>
              <a:buFont typeface="Arial"/>
              <a:buNone/>
            </a:pPr>
            <a:r>
              <a:rPr b="1" lang="en-US" sz="2400">
                <a:solidFill>
                  <a:srgbClr val="C00000"/>
                </a:solidFill>
                <a:latin typeface="Calibri"/>
                <a:ea typeface="Calibri"/>
                <a:cs typeface="Calibri"/>
                <a:sym typeface="Calibri"/>
              </a:rPr>
              <a:t>SELECT * FROM Employee ORDER BY Salary;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6"/>
          <p:cNvSpPr txBox="1"/>
          <p:nvPr>
            <p:ph idx="1" type="body"/>
          </p:nvPr>
        </p:nvSpPr>
        <p:spPr>
          <a:xfrm>
            <a:off x="604982" y="988840"/>
            <a:ext cx="11088254" cy="572137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b="1" lang="en-US" sz="1800">
                <a:latin typeface="Arial Rounded"/>
                <a:ea typeface="Arial Rounded"/>
                <a:cs typeface="Arial Rounded"/>
                <a:sym typeface="Arial Rounded"/>
              </a:rPr>
              <a:t>The Range-Partitioning technique works as follows;</a:t>
            </a:r>
            <a:endParaRPr/>
          </a:p>
          <a:p>
            <a:pPr indent="0" lvl="0" marL="0" rtl="0" algn="l">
              <a:lnSpc>
                <a:spcPct val="100000"/>
              </a:lnSpc>
              <a:spcBef>
                <a:spcPts val="1000"/>
              </a:spcBef>
              <a:spcAft>
                <a:spcPts val="0"/>
              </a:spcAft>
              <a:buClr>
                <a:schemeClr val="accent1"/>
              </a:buClr>
              <a:buSzPts val="1800"/>
              <a:buNone/>
            </a:pPr>
            <a:r>
              <a:rPr b="1" lang="en-US" sz="1800">
                <a:solidFill>
                  <a:schemeClr val="accent1"/>
                </a:solidFill>
                <a:latin typeface="Arial Rounded"/>
                <a:ea typeface="Arial Rounded"/>
                <a:cs typeface="Arial Rounded"/>
                <a:sym typeface="Arial Rounded"/>
              </a:rPr>
              <a:t>Step 1:</a:t>
            </a:r>
            <a:endParaRPr/>
          </a:p>
          <a:p>
            <a:pPr indent="-228600" lvl="0" marL="228600" rtl="0" algn="l">
              <a:lnSpc>
                <a:spcPct val="100000"/>
              </a:lnSpc>
              <a:spcBef>
                <a:spcPts val="1000"/>
              </a:spcBef>
              <a:spcAft>
                <a:spcPts val="0"/>
              </a:spcAft>
              <a:buClr>
                <a:schemeClr val="dk1"/>
              </a:buClr>
              <a:buSzPts val="1800"/>
              <a:buChar char="•"/>
            </a:pPr>
            <a:r>
              <a:rPr b="1" lang="en-US" sz="1800">
                <a:latin typeface="Arial Rounded"/>
                <a:ea typeface="Arial Rounded"/>
                <a:cs typeface="Arial Rounded"/>
                <a:sym typeface="Arial Rounded"/>
              </a:rPr>
              <a:t>At first we have to identify a range vector v on the Salary attribute. The range vector is of the form v[v0, v1, …, vn-2]. For our example, let us assume the following range vector;</a:t>
            </a:r>
            <a:endParaRPr/>
          </a:p>
          <a:p>
            <a:pPr indent="0" lvl="0" marL="0" rtl="0" algn="l">
              <a:lnSpc>
                <a:spcPct val="100000"/>
              </a:lnSpc>
              <a:spcBef>
                <a:spcPts val="1000"/>
              </a:spcBef>
              <a:spcAft>
                <a:spcPts val="0"/>
              </a:spcAft>
              <a:buClr>
                <a:schemeClr val="dk1"/>
              </a:buClr>
              <a:buSzPts val="1800"/>
              <a:buNone/>
            </a:pPr>
            <a:r>
              <a:rPr b="1" lang="en-US" sz="1800">
                <a:latin typeface="Arial Rounded"/>
                <a:ea typeface="Arial Rounded"/>
                <a:cs typeface="Arial Rounded"/>
                <a:sym typeface="Arial Rounded"/>
              </a:rPr>
              <a:t>	</a:t>
            </a:r>
            <a:r>
              <a:rPr b="1" lang="en-US" sz="1800">
                <a:solidFill>
                  <a:srgbClr val="FF0000"/>
                </a:solidFill>
                <a:latin typeface="Arial Rounded"/>
                <a:ea typeface="Arial Rounded"/>
                <a:cs typeface="Arial Rounded"/>
                <a:sym typeface="Arial Rounded"/>
              </a:rPr>
              <a:t>v[14000, 24000]</a:t>
            </a:r>
            <a:endParaRPr/>
          </a:p>
          <a:p>
            <a:pPr indent="-228600" lvl="0" marL="228600" rtl="0" algn="l">
              <a:lnSpc>
                <a:spcPct val="100000"/>
              </a:lnSpc>
              <a:spcBef>
                <a:spcPts val="1000"/>
              </a:spcBef>
              <a:spcAft>
                <a:spcPts val="0"/>
              </a:spcAft>
              <a:buClr>
                <a:schemeClr val="dk1"/>
              </a:buClr>
              <a:buSzPts val="1800"/>
              <a:buChar char="•"/>
            </a:pPr>
            <a:r>
              <a:rPr b="1" lang="en-US" sz="1800">
                <a:latin typeface="Arial Rounded"/>
                <a:ea typeface="Arial Rounded"/>
                <a:cs typeface="Arial Rounded"/>
                <a:sym typeface="Arial Rounded"/>
              </a:rPr>
              <a:t>This range vector represents 3 ranges, </a:t>
            </a:r>
            <a:r>
              <a:rPr b="1" lang="en-US" sz="1800">
                <a:solidFill>
                  <a:srgbClr val="FF0000"/>
                </a:solidFill>
                <a:latin typeface="Arial Rounded"/>
                <a:ea typeface="Arial Rounded"/>
                <a:cs typeface="Arial Rounded"/>
                <a:sym typeface="Arial Rounded"/>
              </a:rPr>
              <a:t>range 0 (14000 and less), </a:t>
            </a:r>
            <a:r>
              <a:rPr b="1" lang="en-US" sz="1800">
                <a:solidFill>
                  <a:srgbClr val="00B0F0"/>
                </a:solidFill>
                <a:latin typeface="Arial Rounded"/>
                <a:ea typeface="Arial Rounded"/>
                <a:cs typeface="Arial Rounded"/>
                <a:sym typeface="Arial Rounded"/>
              </a:rPr>
              <a:t>range 1 (14001 to 24000) </a:t>
            </a:r>
            <a:r>
              <a:rPr b="1" lang="en-US" sz="1800">
                <a:latin typeface="Arial Rounded"/>
                <a:ea typeface="Arial Rounded"/>
                <a:cs typeface="Arial Rounded"/>
                <a:sym typeface="Arial Rounded"/>
              </a:rPr>
              <a:t>and </a:t>
            </a:r>
            <a:r>
              <a:rPr b="1" lang="en-US" sz="1800">
                <a:solidFill>
                  <a:srgbClr val="7030A0"/>
                </a:solidFill>
                <a:latin typeface="Arial Rounded"/>
                <a:ea typeface="Arial Rounded"/>
                <a:cs typeface="Arial Rounded"/>
                <a:sym typeface="Arial Rounded"/>
              </a:rPr>
              <a:t>range 2 (24001 and more).</a:t>
            </a:r>
            <a:endParaRPr/>
          </a:p>
          <a:p>
            <a:pPr indent="-228600" lvl="0" marL="228600" rtl="0" algn="l">
              <a:lnSpc>
                <a:spcPct val="100000"/>
              </a:lnSpc>
              <a:spcBef>
                <a:spcPts val="1000"/>
              </a:spcBef>
              <a:spcAft>
                <a:spcPts val="0"/>
              </a:spcAft>
              <a:buClr>
                <a:schemeClr val="dk1"/>
              </a:buClr>
              <a:buSzPts val="1800"/>
              <a:buChar char="•"/>
            </a:pPr>
            <a:r>
              <a:rPr b="1" lang="en-US" sz="1800">
                <a:latin typeface="Arial Rounded"/>
                <a:ea typeface="Arial Rounded"/>
                <a:cs typeface="Arial Rounded"/>
                <a:sym typeface="Arial Rounded"/>
              </a:rPr>
              <a:t>Redistribute the relations Employee0, Employee1 and Employee2 using these range vectors into 3 disks temporarily. After this distribution </a:t>
            </a:r>
            <a:r>
              <a:rPr b="1" lang="en-US" sz="1800">
                <a:solidFill>
                  <a:srgbClr val="FF0000"/>
                </a:solidFill>
                <a:latin typeface="Arial Rounded"/>
                <a:ea typeface="Arial Rounded"/>
                <a:cs typeface="Arial Rounded"/>
                <a:sym typeface="Arial Rounded"/>
              </a:rPr>
              <a:t>disk 0 will have range 0 records (i.e, records with salary value less than or equal to 14000)</a:t>
            </a:r>
            <a:r>
              <a:rPr b="1" lang="en-US" sz="1800">
                <a:latin typeface="Arial Rounded"/>
                <a:ea typeface="Arial Rounded"/>
                <a:cs typeface="Arial Rounded"/>
                <a:sym typeface="Arial Rounded"/>
              </a:rPr>
              <a:t>, </a:t>
            </a:r>
            <a:r>
              <a:rPr b="1" lang="en-US" sz="1800">
                <a:solidFill>
                  <a:srgbClr val="00B0F0"/>
                </a:solidFill>
                <a:latin typeface="Arial Rounded"/>
                <a:ea typeface="Arial Rounded"/>
                <a:cs typeface="Arial Rounded"/>
                <a:sym typeface="Arial Rounded"/>
              </a:rPr>
              <a:t>disk 1 will have range 1 records (i.e, records with salary value greater than 14000 and less than or equal to 24000)</a:t>
            </a:r>
            <a:r>
              <a:rPr b="1" lang="en-US" sz="1800">
                <a:latin typeface="Arial Rounded"/>
                <a:ea typeface="Arial Rounded"/>
                <a:cs typeface="Arial Rounded"/>
                <a:sym typeface="Arial Rounded"/>
              </a:rPr>
              <a:t>, and </a:t>
            </a:r>
            <a:r>
              <a:rPr b="1" lang="en-US" sz="1800">
                <a:solidFill>
                  <a:srgbClr val="7030A0"/>
                </a:solidFill>
                <a:latin typeface="Arial Rounded"/>
                <a:ea typeface="Arial Rounded"/>
                <a:cs typeface="Arial Rounded"/>
                <a:sym typeface="Arial Rounded"/>
              </a:rPr>
              <a:t>disk 2 will have range 2 records (i.e, records with salary value greater than 24000).</a:t>
            </a:r>
            <a:endParaRPr/>
          </a:p>
          <a:p>
            <a:pPr indent="-228600" lvl="0" marL="228600" rtl="0" algn="l">
              <a:lnSpc>
                <a:spcPct val="100000"/>
              </a:lnSpc>
              <a:spcBef>
                <a:spcPts val="1000"/>
              </a:spcBef>
              <a:spcAft>
                <a:spcPts val="0"/>
              </a:spcAft>
              <a:buClr>
                <a:schemeClr val="dk1"/>
              </a:buClr>
              <a:buSzPts val="1800"/>
              <a:buChar char="•"/>
            </a:pPr>
            <a:r>
              <a:rPr b="1" lang="en-US" sz="1800">
                <a:latin typeface="Arial Rounded"/>
                <a:ea typeface="Arial Rounded"/>
                <a:cs typeface="Arial Rounded"/>
                <a:sym typeface="Arial Rounded"/>
              </a:rPr>
              <a:t>This redistribution according to range vector v is represented in Figure 2 as links to all the disks from all the relations. Temp_Employee0, Temp_Employee1, and Temp_Employee2, are the relations after successful redistribution. These tables are stored temporarily in disks D0, D1, and D2. (They can also be stored in Main memories (M0, M1, M2) if they fit into RAM).</a:t>
            </a:r>
            <a:endParaRPr/>
          </a:p>
        </p:txBody>
      </p:sp>
      <p:sp>
        <p:nvSpPr>
          <p:cNvPr id="258" name="Google Shape;258;p26"/>
          <p:cNvSpPr/>
          <p:nvPr/>
        </p:nvSpPr>
        <p:spPr>
          <a:xfrm>
            <a:off x="604982" y="157018"/>
            <a:ext cx="10515600" cy="841058"/>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90000"/>
              </a:lnSpc>
              <a:spcBef>
                <a:spcPts val="0"/>
              </a:spcBef>
              <a:spcAft>
                <a:spcPts val="0"/>
              </a:spcAft>
              <a:buClr>
                <a:schemeClr val="accent6"/>
              </a:buClr>
              <a:buSzPts val="2500"/>
              <a:buFont typeface="Noto Sans Symbols"/>
              <a:buChar char="❑"/>
            </a:pPr>
            <a:r>
              <a:rPr b="1" lang="en-US" sz="2500">
                <a:solidFill>
                  <a:schemeClr val="accent6"/>
                </a:solidFill>
                <a:latin typeface="Arial Rounded"/>
                <a:ea typeface="Arial Rounded"/>
                <a:cs typeface="Arial Rounded"/>
                <a:sym typeface="Arial Rounded"/>
              </a:rPr>
              <a:t>Parallel Sort - </a:t>
            </a:r>
            <a:r>
              <a:rPr b="1" lang="en-US" sz="2500">
                <a:solidFill>
                  <a:srgbClr val="FF0000"/>
                </a:solidFill>
                <a:latin typeface="Arial Rounded"/>
                <a:ea typeface="Arial Rounded"/>
                <a:cs typeface="Arial Rounded"/>
                <a:sym typeface="Arial Rounded"/>
              </a:rPr>
              <a:t>Range Partitioning Sort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IMG_256" id="263" name="Google Shape;263;p27">
            <a:hlinkClick r:id="rId3"/>
          </p:cNvPr>
          <p:cNvPicPr preferRelativeResize="0"/>
          <p:nvPr>
            <p:ph idx="1" type="body"/>
          </p:nvPr>
        </p:nvPicPr>
        <p:blipFill rotWithShape="1">
          <a:blip r:embed="rId4">
            <a:alphaModFix/>
          </a:blip>
          <a:srcRect b="0" l="0" r="0" t="0"/>
          <a:stretch/>
        </p:blipFill>
        <p:spPr>
          <a:xfrm>
            <a:off x="1867525" y="66700"/>
            <a:ext cx="8309100" cy="6562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txBox="1"/>
          <p:nvPr>
            <p:ph idx="1" type="body"/>
          </p:nvPr>
        </p:nvSpPr>
        <p:spPr>
          <a:xfrm>
            <a:off x="690419" y="942543"/>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accent1"/>
              </a:buClr>
              <a:buSzPts val="2000"/>
              <a:buNone/>
            </a:pPr>
            <a:r>
              <a:rPr b="1" lang="en-US" sz="2000">
                <a:solidFill>
                  <a:schemeClr val="accent1"/>
                </a:solidFill>
                <a:latin typeface="Arial Rounded"/>
                <a:ea typeface="Arial Rounded"/>
                <a:cs typeface="Arial Rounded"/>
                <a:sym typeface="Arial Rounded"/>
              </a:rPr>
              <a:t>Step 2:</a:t>
            </a:r>
            <a:endParaRPr/>
          </a:p>
          <a:p>
            <a:pPr indent="-228600" lvl="0" marL="228600" rtl="0" algn="l">
              <a:lnSpc>
                <a:spcPct val="10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Now, we got temporary relations at all the disks after redistribution.</a:t>
            </a:r>
            <a:endParaRPr/>
          </a:p>
          <a:p>
            <a:pPr indent="-228600" lvl="0" marL="228600" rtl="0" algn="l">
              <a:lnSpc>
                <a:spcPct val="10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At this point, all the processors sort the data assigned to them in ascending order of Salary individually. </a:t>
            </a:r>
            <a:r>
              <a:rPr b="1" lang="en-US" sz="2000">
                <a:solidFill>
                  <a:srgbClr val="FF0000"/>
                </a:solidFill>
                <a:latin typeface="Arial Rounded"/>
                <a:ea typeface="Arial Rounded"/>
                <a:cs typeface="Arial Rounded"/>
                <a:sym typeface="Arial Rounded"/>
              </a:rPr>
              <a:t>The process of performing the same operation in parallel on different sets of data is called Data Parallelism.</a:t>
            </a:r>
            <a:endParaRPr>
              <a:solidFill>
                <a:srgbClr val="FF0000"/>
              </a:solidFill>
            </a:endParaRPr>
          </a:p>
          <a:p>
            <a:pPr indent="-101600" lvl="0" marL="228600" rtl="0" algn="l">
              <a:lnSpc>
                <a:spcPct val="10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a:p>
            <a:pPr indent="0" lvl="0" marL="0" rtl="0" algn="l">
              <a:lnSpc>
                <a:spcPct val="100000"/>
              </a:lnSpc>
              <a:spcBef>
                <a:spcPts val="1000"/>
              </a:spcBef>
              <a:spcAft>
                <a:spcPts val="0"/>
              </a:spcAft>
              <a:buClr>
                <a:schemeClr val="accent1"/>
              </a:buClr>
              <a:buSzPts val="2000"/>
              <a:buNone/>
            </a:pPr>
            <a:r>
              <a:rPr b="1" lang="en-US" sz="2000">
                <a:solidFill>
                  <a:schemeClr val="accent1"/>
                </a:solidFill>
                <a:latin typeface="Arial Rounded"/>
                <a:ea typeface="Arial Rounded"/>
                <a:cs typeface="Arial Rounded"/>
                <a:sym typeface="Arial Rounded"/>
              </a:rPr>
              <a:t>Final Result:</a:t>
            </a:r>
            <a:endParaRPr/>
          </a:p>
          <a:p>
            <a:pPr indent="-228600" lvl="0" marL="228600" rtl="0" algn="l">
              <a:lnSpc>
                <a:spcPct val="10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After the processors completed the sorting, we can simply collect the data from different processors and merge them. This merge process is straightforward as we have data already sorted for every range. Hence, collecting sorted records from partition 0, partition 1 and partition 2 and merging them will give us final sorted output.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9"/>
          <p:cNvSpPr txBox="1"/>
          <p:nvPr>
            <p:ph type="title"/>
          </p:nvPr>
        </p:nvSpPr>
        <p:spPr>
          <a:xfrm>
            <a:off x="838200" y="50651"/>
            <a:ext cx="10515600" cy="1039200"/>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700"/>
              <a:buFont typeface="Noto Sans Symbols"/>
              <a:buChar char="❑"/>
            </a:pPr>
            <a:r>
              <a:rPr b="1" lang="en-US" sz="2700">
                <a:solidFill>
                  <a:schemeClr val="accent6"/>
                </a:solidFill>
                <a:latin typeface="Arial Rounded"/>
                <a:ea typeface="Arial Rounded"/>
                <a:cs typeface="Arial Rounded"/>
                <a:sym typeface="Arial Rounded"/>
              </a:rPr>
              <a:t>Parallel Sort - </a:t>
            </a:r>
            <a:r>
              <a:rPr b="1" lang="en-US" sz="2700">
                <a:solidFill>
                  <a:srgbClr val="FF0000"/>
                </a:solidFill>
                <a:latin typeface="Arial Rounded"/>
                <a:ea typeface="Arial Rounded"/>
                <a:cs typeface="Arial Rounded"/>
                <a:sym typeface="Arial Rounded"/>
              </a:rPr>
              <a:t>Parallel External Sort-Merge</a:t>
            </a:r>
            <a:endParaRPr/>
          </a:p>
        </p:txBody>
      </p:sp>
      <p:sp>
        <p:nvSpPr>
          <p:cNvPr id="274" name="Google Shape;274;p29"/>
          <p:cNvSpPr txBox="1"/>
          <p:nvPr>
            <p:ph idx="1" type="body"/>
          </p:nvPr>
        </p:nvSpPr>
        <p:spPr>
          <a:xfrm>
            <a:off x="524164" y="1089891"/>
            <a:ext cx="11002818" cy="5218546"/>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rgbClr val="7030A0"/>
              </a:buClr>
              <a:buSzPts val="2200"/>
              <a:buNone/>
            </a:pPr>
            <a:r>
              <a:rPr b="1" lang="en-US" sz="2200">
                <a:solidFill>
                  <a:srgbClr val="7030A0"/>
                </a:solidFill>
                <a:latin typeface="Arial Rounded"/>
                <a:ea typeface="Arial Rounded"/>
                <a:cs typeface="Arial Rounded"/>
                <a:sym typeface="Arial Rounded"/>
              </a:rPr>
              <a:t>Steps:</a:t>
            </a:r>
            <a:endParaRPr/>
          </a:p>
          <a:p>
            <a:pPr indent="0" lvl="0" marL="0" rtl="0" algn="l">
              <a:lnSpc>
                <a:spcPct val="100000"/>
              </a:lnSpc>
              <a:spcBef>
                <a:spcPts val="1000"/>
              </a:spcBef>
              <a:spcAft>
                <a:spcPts val="0"/>
              </a:spcAft>
              <a:buClr>
                <a:srgbClr val="7030A0"/>
              </a:buClr>
              <a:buSzPts val="2200"/>
              <a:buNone/>
            </a:pPr>
            <a:r>
              <a:rPr b="1" lang="en-US" sz="2200">
                <a:solidFill>
                  <a:srgbClr val="7030A0"/>
                </a:solidFill>
                <a:latin typeface="Arial Rounded"/>
                <a:ea typeface="Arial Rounded"/>
                <a:cs typeface="Arial Rounded"/>
                <a:sym typeface="Arial Rounded"/>
              </a:rPr>
              <a:t>Step 1:</a:t>
            </a:r>
            <a:r>
              <a:rPr b="1" lang="en-US" sz="2200">
                <a:latin typeface="Arial Rounded"/>
                <a:ea typeface="Arial Rounded"/>
                <a:cs typeface="Arial Rounded"/>
                <a:sym typeface="Arial Rounded"/>
              </a:rPr>
              <a:t> Sort the relation partition Ri which is stored on disk Di on the sorting attribute of the query.</a:t>
            </a:r>
            <a:endParaRPr/>
          </a:p>
          <a:p>
            <a:pPr indent="0" lvl="0" marL="0" rtl="0" algn="l">
              <a:lnSpc>
                <a:spcPct val="10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a:p>
            <a:pPr indent="0" lvl="0" marL="0" rtl="0" algn="l">
              <a:lnSpc>
                <a:spcPct val="100000"/>
              </a:lnSpc>
              <a:spcBef>
                <a:spcPts val="1000"/>
              </a:spcBef>
              <a:spcAft>
                <a:spcPts val="0"/>
              </a:spcAft>
              <a:buClr>
                <a:srgbClr val="7030A0"/>
              </a:buClr>
              <a:buSzPts val="2200"/>
              <a:buNone/>
            </a:pPr>
            <a:r>
              <a:rPr b="1" lang="en-US" sz="2200">
                <a:solidFill>
                  <a:srgbClr val="7030A0"/>
                </a:solidFill>
                <a:latin typeface="Arial Rounded"/>
                <a:ea typeface="Arial Rounded"/>
                <a:cs typeface="Arial Rounded"/>
                <a:sym typeface="Arial Rounded"/>
              </a:rPr>
              <a:t>Step 2:</a:t>
            </a:r>
            <a:r>
              <a:rPr b="1" lang="en-US" sz="2200">
                <a:latin typeface="Arial Rounded"/>
                <a:ea typeface="Arial Rounded"/>
                <a:cs typeface="Arial Rounded"/>
                <a:sym typeface="Arial Rounded"/>
              </a:rPr>
              <a:t> Identify a range partition vector v and range partition every Ri into processors, P0, P1, …, Pn-1 using vector v.</a:t>
            </a:r>
            <a:endParaRPr/>
          </a:p>
          <a:p>
            <a:pPr indent="0" lvl="0" marL="0" rtl="0" algn="l">
              <a:lnSpc>
                <a:spcPct val="10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a:p>
            <a:pPr indent="0" lvl="0" marL="0" rtl="0" algn="l">
              <a:lnSpc>
                <a:spcPct val="100000"/>
              </a:lnSpc>
              <a:spcBef>
                <a:spcPts val="1000"/>
              </a:spcBef>
              <a:spcAft>
                <a:spcPts val="0"/>
              </a:spcAft>
              <a:buClr>
                <a:srgbClr val="7030A0"/>
              </a:buClr>
              <a:buSzPts val="2200"/>
              <a:buNone/>
            </a:pPr>
            <a:r>
              <a:rPr b="1" lang="en-US" sz="2200">
                <a:solidFill>
                  <a:srgbClr val="7030A0"/>
                </a:solidFill>
                <a:latin typeface="Arial Rounded"/>
                <a:ea typeface="Arial Rounded"/>
                <a:cs typeface="Arial Rounded"/>
                <a:sym typeface="Arial Rounded"/>
              </a:rPr>
              <a:t>Step 3:</a:t>
            </a:r>
            <a:r>
              <a:rPr b="1" lang="en-US" sz="2200">
                <a:latin typeface="Arial Rounded"/>
                <a:ea typeface="Arial Rounded"/>
                <a:cs typeface="Arial Rounded"/>
                <a:sym typeface="Arial Rounded"/>
              </a:rPr>
              <a:t> Each processor Pi performs a merge on the incoming range partitioned data from every other processors (The data are actually transferred in order. That is, all processors send first partition into P0, then all processors sends second partition into P1, and so on).</a:t>
            </a:r>
            <a:endParaRPr/>
          </a:p>
          <a:p>
            <a:pPr indent="0" lvl="0" marL="0" rtl="0" algn="l">
              <a:lnSpc>
                <a:spcPct val="10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a:p>
            <a:pPr indent="0" lvl="0" marL="0" rtl="0" algn="l">
              <a:lnSpc>
                <a:spcPct val="100000"/>
              </a:lnSpc>
              <a:spcBef>
                <a:spcPts val="1000"/>
              </a:spcBef>
              <a:spcAft>
                <a:spcPts val="0"/>
              </a:spcAft>
              <a:buClr>
                <a:srgbClr val="7030A0"/>
              </a:buClr>
              <a:buSzPts val="2200"/>
              <a:buNone/>
            </a:pPr>
            <a:r>
              <a:rPr b="1" lang="en-US" sz="2200">
                <a:solidFill>
                  <a:srgbClr val="7030A0"/>
                </a:solidFill>
                <a:latin typeface="Arial Rounded"/>
                <a:ea typeface="Arial Rounded"/>
                <a:cs typeface="Arial Rounded"/>
                <a:sym typeface="Arial Rounded"/>
              </a:rPr>
              <a:t>Step 4:</a:t>
            </a:r>
            <a:r>
              <a:rPr b="1" lang="en-US" sz="2200">
                <a:latin typeface="Arial Rounded"/>
                <a:ea typeface="Arial Rounded"/>
                <a:cs typeface="Arial Rounded"/>
                <a:sym typeface="Arial Rounded"/>
              </a:rPr>
              <a:t> Finally, concatenate all the sorted data from different processors to get the final result.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0"/>
          <p:cNvSpPr txBox="1"/>
          <p:nvPr>
            <p:ph type="title"/>
          </p:nvPr>
        </p:nvSpPr>
        <p:spPr>
          <a:xfrm>
            <a:off x="838200" y="-177642"/>
            <a:ext cx="10515600" cy="1325563"/>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500"/>
              <a:buFont typeface="Noto Sans Symbols"/>
              <a:buChar char="❑"/>
            </a:pPr>
            <a:r>
              <a:rPr b="1" lang="en-US" sz="2500">
                <a:solidFill>
                  <a:schemeClr val="accent6"/>
                </a:solidFill>
                <a:latin typeface="Arial Rounded"/>
                <a:ea typeface="Arial Rounded"/>
                <a:cs typeface="Arial Rounded"/>
                <a:sym typeface="Arial Rounded"/>
              </a:rPr>
              <a:t>Parallel Sort - </a:t>
            </a:r>
            <a:r>
              <a:rPr b="1" lang="en-US" sz="2500">
                <a:solidFill>
                  <a:srgbClr val="FF0000"/>
                </a:solidFill>
                <a:latin typeface="Arial Rounded"/>
                <a:ea typeface="Arial Rounded"/>
                <a:cs typeface="Arial Rounded"/>
                <a:sym typeface="Arial Rounded"/>
              </a:rPr>
              <a:t>Parallel External Sort-Merge</a:t>
            </a:r>
            <a:endParaRPr/>
          </a:p>
        </p:txBody>
      </p:sp>
      <p:sp>
        <p:nvSpPr>
          <p:cNvPr id="280" name="Google Shape;280;p30"/>
          <p:cNvSpPr txBox="1"/>
          <p:nvPr>
            <p:ph idx="1" type="body"/>
          </p:nvPr>
        </p:nvSpPr>
        <p:spPr>
          <a:xfrm>
            <a:off x="542636" y="1113472"/>
            <a:ext cx="10273030" cy="46310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lang="en-US" sz="2000">
                <a:latin typeface="Arial Rounded"/>
                <a:ea typeface="Arial Rounded"/>
                <a:cs typeface="Arial Rounded"/>
                <a:sym typeface="Arial Rounded"/>
              </a:rPr>
              <a:t>Example:</a:t>
            </a:r>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Consider the following relation schema Employee:- Employee (Emp_ID, EName, Salary)</a:t>
            </a:r>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Assume that relation Employee is permanently partitioned using Round-robin technique into 3 disks D0, D1, and D2 which are associated with processors P0, P1, and P2. At processors P0, P1, and P2, the relations are named Employee0, Employee1 and Employee2 respectively.</a:t>
            </a:r>
            <a:endParaRPr/>
          </a:p>
        </p:txBody>
      </p:sp>
      <p:pic>
        <p:nvPicPr>
          <p:cNvPr descr="IMG_256" id="281" name="Google Shape;281;p30"/>
          <p:cNvPicPr preferRelativeResize="0"/>
          <p:nvPr>
            <p:ph idx="2" type="body"/>
          </p:nvPr>
        </p:nvPicPr>
        <p:blipFill rotWithShape="1">
          <a:blip r:embed="rId3">
            <a:alphaModFix/>
          </a:blip>
          <a:srcRect b="0" l="0" r="0" t="0"/>
          <a:stretch/>
        </p:blipFill>
        <p:spPr>
          <a:xfrm>
            <a:off x="2429935" y="3587635"/>
            <a:ext cx="8127900" cy="2723400"/>
          </a:xfrm>
          <a:prstGeom prst="rect">
            <a:avLst/>
          </a:prstGeom>
          <a:noFill/>
          <a:ln>
            <a:noFill/>
          </a:ln>
        </p:spPr>
      </p:pic>
      <p:sp>
        <p:nvSpPr>
          <p:cNvPr id="282" name="Google Shape;282;p30"/>
          <p:cNvSpPr txBox="1"/>
          <p:nvPr/>
        </p:nvSpPr>
        <p:spPr>
          <a:xfrm>
            <a:off x="4633270" y="6311150"/>
            <a:ext cx="5079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222222"/>
                </a:solidFill>
                <a:latin typeface="Times New Roman"/>
                <a:ea typeface="Times New Roman"/>
                <a:cs typeface="Times New Roman"/>
                <a:sym typeface="Times New Roman"/>
              </a:rPr>
              <a:t>Partitioned Employee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1"/>
          <p:cNvSpPr txBox="1"/>
          <p:nvPr>
            <p:ph type="title"/>
          </p:nvPr>
        </p:nvSpPr>
        <p:spPr>
          <a:xfrm>
            <a:off x="838200" y="13882"/>
            <a:ext cx="10515600" cy="1325563"/>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6"/>
              </a:buClr>
              <a:buSzPts val="2500"/>
              <a:buFont typeface="Noto Sans Symbols"/>
              <a:buChar char="❑"/>
            </a:pPr>
            <a:r>
              <a:rPr b="1" lang="en-US" sz="2500">
                <a:solidFill>
                  <a:schemeClr val="accent6"/>
                </a:solidFill>
                <a:latin typeface="Arial Rounded"/>
                <a:ea typeface="Arial Rounded"/>
                <a:cs typeface="Arial Rounded"/>
                <a:sym typeface="Arial Rounded"/>
              </a:rPr>
              <a:t>Parallel Sort - </a:t>
            </a:r>
            <a:r>
              <a:rPr b="1" lang="en-US" sz="2500">
                <a:solidFill>
                  <a:srgbClr val="FF0000"/>
                </a:solidFill>
                <a:latin typeface="Arial Rounded"/>
                <a:ea typeface="Arial Rounded"/>
                <a:cs typeface="Arial Rounded"/>
                <a:sym typeface="Arial Rounded"/>
              </a:rPr>
              <a:t>Parallel External Sort-Merge</a:t>
            </a:r>
            <a:endParaRPr/>
          </a:p>
        </p:txBody>
      </p:sp>
      <p:sp>
        <p:nvSpPr>
          <p:cNvPr id="288" name="Google Shape;288;p31"/>
          <p:cNvSpPr txBox="1"/>
          <p:nvPr>
            <p:ph idx="1" type="body"/>
          </p:nvPr>
        </p:nvSpPr>
        <p:spPr>
          <a:xfrm>
            <a:off x="551871" y="1038224"/>
            <a:ext cx="11261437" cy="46310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lang="en-US" sz="2000">
                <a:latin typeface="Arial Rounded"/>
                <a:ea typeface="Arial Rounded"/>
                <a:cs typeface="Arial Rounded"/>
                <a:sym typeface="Arial Rounded"/>
              </a:rPr>
              <a:t>Assume that the following sorting query is initiated.</a:t>
            </a:r>
            <a:endParaRPr/>
          </a:p>
          <a:p>
            <a:pPr indent="0" lvl="0" marL="0" rtl="0" algn="l">
              <a:lnSpc>
                <a:spcPct val="90000"/>
              </a:lnSpc>
              <a:spcBef>
                <a:spcPts val="1000"/>
              </a:spcBef>
              <a:spcAft>
                <a:spcPts val="0"/>
              </a:spcAft>
              <a:buClr>
                <a:srgbClr val="FE4444"/>
              </a:buClr>
              <a:buSzPts val="2000"/>
              <a:buNone/>
            </a:pPr>
            <a:r>
              <a:rPr b="1" lang="en-US" sz="2000">
                <a:solidFill>
                  <a:srgbClr val="FE4444"/>
                </a:solidFill>
                <a:latin typeface="Arial Rounded"/>
                <a:ea typeface="Arial Rounded"/>
                <a:cs typeface="Arial Rounded"/>
                <a:sym typeface="Arial Rounded"/>
              </a:rPr>
              <a:t>SELECT * FROM Employee ORDER BY Salary;</a:t>
            </a:r>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As already said, the table Employee is not partitioned on the sorting attribute Salary. Then, the Parallel External Sort-Merge technique works as follows;</a:t>
            </a:r>
            <a:endParaRPr/>
          </a:p>
          <a:p>
            <a:pPr indent="0" lvl="0" marL="0" rtl="0" algn="l">
              <a:lnSpc>
                <a:spcPct val="90000"/>
              </a:lnSpc>
              <a:spcBef>
                <a:spcPts val="1000"/>
              </a:spcBef>
              <a:spcAft>
                <a:spcPts val="0"/>
              </a:spcAft>
              <a:buClr>
                <a:srgbClr val="548135"/>
              </a:buClr>
              <a:buSzPts val="2000"/>
              <a:buNone/>
            </a:pPr>
            <a:r>
              <a:rPr b="1" lang="en-US" sz="2000">
                <a:solidFill>
                  <a:srgbClr val="548135"/>
                </a:solidFill>
                <a:latin typeface="Arial Rounded"/>
                <a:ea typeface="Arial Rounded"/>
                <a:cs typeface="Arial Rounded"/>
                <a:sym typeface="Arial Rounded"/>
              </a:rPr>
              <a:t>Step 1:</a:t>
            </a:r>
            <a:endParaRPr/>
          </a:p>
          <a:p>
            <a:pPr indent="-228600" lvl="0" marL="228600" rtl="0" algn="l">
              <a:lnSpc>
                <a:spcPct val="90000"/>
              </a:lnSpc>
              <a:spcBef>
                <a:spcPts val="1000"/>
              </a:spcBef>
              <a:spcAft>
                <a:spcPts val="0"/>
              </a:spcAft>
              <a:buClr>
                <a:schemeClr val="dk1"/>
              </a:buClr>
              <a:buSzPts val="2000"/>
              <a:buChar char="•"/>
            </a:pPr>
            <a:r>
              <a:rPr b="1" lang="en-US" sz="2000">
                <a:latin typeface="Arial Rounded"/>
                <a:ea typeface="Arial Rounded"/>
                <a:cs typeface="Arial Rounded"/>
                <a:sym typeface="Arial Rounded"/>
              </a:rPr>
              <a:t>Sort the data stored in every partition (every disk) using the ordering attribute Salary. (Sorting of data in every partition is done temporarily). At this stage every Employee contains salary values of range minimum to maximum. The partitions sorted in ascending order is shown below</a:t>
            </a:r>
            <a:endParaRPr/>
          </a:p>
        </p:txBody>
      </p:sp>
      <p:sp>
        <p:nvSpPr>
          <p:cNvPr id="289" name="Google Shape;289;p31"/>
          <p:cNvSpPr txBox="1"/>
          <p:nvPr/>
        </p:nvSpPr>
        <p:spPr>
          <a:xfrm>
            <a:off x="3407410" y="6230620"/>
            <a:ext cx="6590030" cy="3371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222222"/>
                </a:solidFill>
                <a:latin typeface="Times New Roman"/>
                <a:ea typeface="Times New Roman"/>
                <a:cs typeface="Times New Roman"/>
                <a:sym typeface="Times New Roman"/>
              </a:rPr>
              <a:t>Partitioned Employee in ascending order on Salary attribute</a:t>
            </a:r>
            <a:endParaRPr/>
          </a:p>
        </p:txBody>
      </p:sp>
      <p:pic>
        <p:nvPicPr>
          <p:cNvPr descr="IMG_257" id="290" name="Google Shape;290;p31">
            <a:hlinkClick r:id="rId3"/>
          </p:cNvPr>
          <p:cNvPicPr preferRelativeResize="0"/>
          <p:nvPr/>
        </p:nvPicPr>
        <p:blipFill rotWithShape="1">
          <a:blip r:embed="rId4">
            <a:alphaModFix/>
          </a:blip>
          <a:srcRect b="0" l="0" r="0" t="0"/>
          <a:stretch/>
        </p:blipFill>
        <p:spPr>
          <a:xfrm>
            <a:off x="3322955" y="4100945"/>
            <a:ext cx="5753100" cy="2183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idx="1" type="body"/>
          </p:nvPr>
        </p:nvSpPr>
        <p:spPr>
          <a:xfrm>
            <a:off x="173182" y="218497"/>
            <a:ext cx="6181436" cy="435165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548135"/>
              </a:buClr>
              <a:buSzPts val="2200"/>
              <a:buNone/>
            </a:pPr>
            <a:r>
              <a:rPr b="1" lang="en-US" sz="2200">
                <a:solidFill>
                  <a:srgbClr val="548135"/>
                </a:solidFill>
                <a:latin typeface="Arial Rounded"/>
                <a:ea typeface="Arial Rounded"/>
                <a:cs typeface="Arial Rounded"/>
                <a:sym typeface="Arial Rounded"/>
              </a:rPr>
              <a:t>Step 2:</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We have to identify a range vector v on the Salary attribute. The range vector is of the form v[v0, v1, …, vn-2]. For our example, let us assume the following range vector;</a:t>
            </a:r>
            <a:endParaRPr/>
          </a:p>
          <a:p>
            <a:pPr indent="0" lvl="0" marL="0" rtl="0" algn="l">
              <a:lnSpc>
                <a:spcPct val="90000"/>
              </a:lnSpc>
              <a:spcBef>
                <a:spcPts val="1000"/>
              </a:spcBef>
              <a:spcAft>
                <a:spcPts val="0"/>
              </a:spcAft>
              <a:buClr>
                <a:schemeClr val="accent6"/>
              </a:buClr>
              <a:buSzPts val="2200"/>
              <a:buNone/>
            </a:pPr>
            <a:r>
              <a:rPr b="1" lang="en-US" sz="2200">
                <a:solidFill>
                  <a:schemeClr val="accent6"/>
                </a:solidFill>
                <a:latin typeface="Arial Rounded"/>
                <a:ea typeface="Arial Rounded"/>
                <a:cs typeface="Arial Rounded"/>
                <a:sym typeface="Arial Rounded"/>
              </a:rPr>
              <a:t>v[14000, 24000]</a:t>
            </a:r>
            <a:endParaRPr/>
          </a:p>
          <a:p>
            <a:pPr indent="0" lvl="0" marL="0" rtl="0" algn="l">
              <a:lnSpc>
                <a:spcPct val="90000"/>
              </a:lnSpc>
              <a:spcBef>
                <a:spcPts val="1000"/>
              </a:spcBef>
              <a:spcAft>
                <a:spcPts val="0"/>
              </a:spcAft>
              <a:buClr>
                <a:schemeClr val="dk1"/>
              </a:buClr>
              <a:buSzPts val="1500"/>
              <a:buNone/>
            </a:pPr>
            <a:r>
              <a:t/>
            </a:r>
            <a:endParaRPr b="1" sz="1500">
              <a:solidFill>
                <a:schemeClr val="accent6"/>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This range vector represents 3 ranges, </a:t>
            </a:r>
            <a:r>
              <a:rPr b="1" lang="en-US" sz="2200">
                <a:solidFill>
                  <a:srgbClr val="FF0000"/>
                </a:solidFill>
                <a:latin typeface="Arial Rounded"/>
                <a:ea typeface="Arial Rounded"/>
                <a:cs typeface="Arial Rounded"/>
                <a:sym typeface="Arial Rounded"/>
              </a:rPr>
              <a:t>range 0 (14000 and less), </a:t>
            </a:r>
            <a:r>
              <a:rPr b="1" lang="en-US" sz="2200">
                <a:solidFill>
                  <a:schemeClr val="accent1"/>
                </a:solidFill>
                <a:latin typeface="Arial Rounded"/>
                <a:ea typeface="Arial Rounded"/>
                <a:cs typeface="Arial Rounded"/>
                <a:sym typeface="Arial Rounded"/>
              </a:rPr>
              <a:t>range 1 (14001 to 24000) </a:t>
            </a:r>
            <a:r>
              <a:rPr b="1" lang="en-US" sz="2200">
                <a:solidFill>
                  <a:srgbClr val="FF0000"/>
                </a:solidFill>
                <a:latin typeface="Arial Rounded"/>
                <a:ea typeface="Arial Rounded"/>
                <a:cs typeface="Arial Rounded"/>
                <a:sym typeface="Arial Rounded"/>
              </a:rPr>
              <a:t>and </a:t>
            </a:r>
            <a:r>
              <a:rPr b="1" lang="en-US" sz="2200">
                <a:solidFill>
                  <a:srgbClr val="7030A0"/>
                </a:solidFill>
                <a:latin typeface="Arial Rounded"/>
                <a:ea typeface="Arial Rounded"/>
                <a:cs typeface="Arial Rounded"/>
                <a:sym typeface="Arial Rounded"/>
              </a:rPr>
              <a:t>range 2 (24001 and more).</a:t>
            </a:r>
            <a:endParaRPr/>
          </a:p>
          <a:p>
            <a:pPr indent="0" lvl="0" marL="0" rtl="0" algn="l">
              <a:lnSpc>
                <a:spcPct val="90000"/>
              </a:lnSpc>
              <a:spcBef>
                <a:spcPts val="1000"/>
              </a:spcBef>
              <a:spcAft>
                <a:spcPts val="0"/>
              </a:spcAft>
              <a:buClr>
                <a:schemeClr val="dk1"/>
              </a:buClr>
              <a:buSzPts val="1500"/>
              <a:buNone/>
            </a:pPr>
            <a:r>
              <a:t/>
            </a:r>
            <a:endParaRPr b="1" sz="1500">
              <a:solidFill>
                <a:srgbClr val="7030A0"/>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Redistribute every partition (Employee0, Employee1 and Employee2) using these range vectors into 3 disks temporarily. What would be the status of Temp_Employee 0, 1, and 2 after distributing Employee 0 is given in Figure.</a:t>
            </a:r>
            <a:endParaRPr/>
          </a:p>
        </p:txBody>
      </p:sp>
      <p:pic>
        <p:nvPicPr>
          <p:cNvPr descr="IMG_258" id="296" name="Google Shape;296;p32">
            <a:hlinkClick r:id="rId3"/>
          </p:cNvPr>
          <p:cNvPicPr preferRelativeResize="0"/>
          <p:nvPr>
            <p:ph idx="2" type="body"/>
          </p:nvPr>
        </p:nvPicPr>
        <p:blipFill rotWithShape="1">
          <a:blip r:embed="rId4">
            <a:alphaModFix/>
          </a:blip>
          <a:srcRect b="0" l="0" r="0" t="0"/>
          <a:stretch/>
        </p:blipFill>
        <p:spPr>
          <a:xfrm>
            <a:off x="6354625" y="110825"/>
            <a:ext cx="5779200" cy="6175800"/>
          </a:xfrm>
          <a:prstGeom prst="rect">
            <a:avLst/>
          </a:prstGeom>
          <a:noFill/>
          <a:ln>
            <a:noFill/>
          </a:ln>
        </p:spPr>
      </p:pic>
      <p:graphicFrame>
        <p:nvGraphicFramePr>
          <p:cNvPr id="297" name="Google Shape;297;p32"/>
          <p:cNvGraphicFramePr/>
          <p:nvPr/>
        </p:nvGraphicFramePr>
        <p:xfrm>
          <a:off x="5695215" y="6352074"/>
          <a:ext cx="3000000" cy="3000000"/>
        </p:xfrm>
        <a:graphic>
          <a:graphicData uri="http://schemas.openxmlformats.org/drawingml/2006/table">
            <a:tbl>
              <a:tblPr bandRow="1" firstRow="1">
                <a:noFill/>
                <a:tableStyleId>{A0BC9838-24BF-43BE-99B5-6777831EF74C}</a:tableStyleId>
              </a:tblPr>
              <a:tblGrid>
                <a:gridCol w="6598275"/>
              </a:tblGrid>
              <a:tr h="200250">
                <a:tc>
                  <a:txBody>
                    <a:bodyPr/>
                    <a:lstStyle/>
                    <a:p>
                      <a:pPr indent="0" lvl="0" marL="0" marR="0" rtl="0" algn="ctr">
                        <a:spcBef>
                          <a:spcPts val="0"/>
                        </a:spcBef>
                        <a:spcAft>
                          <a:spcPts val="0"/>
                        </a:spcAft>
                        <a:buClr>
                          <a:srgbClr val="222222"/>
                        </a:buClr>
                        <a:buSzPts val="1400"/>
                        <a:buFont typeface="Times New Roman"/>
                        <a:buNone/>
                      </a:pPr>
                      <a:r>
                        <a:rPr b="1" lang="en-US" sz="1400" u="none" cap="none" strike="noStrike">
                          <a:solidFill>
                            <a:srgbClr val="222222"/>
                          </a:solidFill>
                          <a:latin typeface="Times New Roman"/>
                          <a:ea typeface="Times New Roman"/>
                          <a:cs typeface="Times New Roman"/>
                          <a:sym typeface="Times New Roman"/>
                        </a:rPr>
                        <a:t>Distribution of Employee 0 according to the range vector</a:t>
                      </a:r>
                      <a:endParaRPr b="1" sz="1400" u="none" cap="none" strike="noStrike">
                        <a:solidFill>
                          <a:srgbClr val="222222"/>
                        </a:solidFill>
                        <a:latin typeface="Times New Roman"/>
                        <a:ea typeface="Times New Roman"/>
                        <a:cs typeface="Times New Roman"/>
                        <a:sym typeface="Times New Roman"/>
                      </a:endParaRPr>
                    </a:p>
                  </a:txBody>
                  <a:tcPr marT="19050" marB="19050" marR="19050" marL="19050" anchor="ctr">
                    <a:lnL cap="flat" cmpd="sng" w="12700">
                      <a:solidFill>
                        <a:srgbClr val="EEEEEE"/>
                      </a:solidFill>
                      <a:prstDash val="solid"/>
                      <a:round/>
                      <a:headEnd len="sm" w="sm" type="none"/>
                      <a:tailEnd len="sm" w="sm" type="none"/>
                    </a:lnL>
                    <a:lnR cap="flat" cmpd="sng" w="12700">
                      <a:solidFill>
                        <a:srgbClr val="EEEEEE"/>
                      </a:solidFill>
                      <a:prstDash val="solid"/>
                      <a:round/>
                      <a:headEnd len="sm" w="sm" type="none"/>
                      <a:tailEnd len="sm" w="sm" type="none"/>
                    </a:lnR>
                    <a:lnT cap="flat" cmpd="sng" w="12700">
                      <a:solidFill>
                        <a:srgbClr val="EEEEEE"/>
                      </a:solidFill>
                      <a:prstDash val="solid"/>
                      <a:round/>
                      <a:headEnd len="sm" w="sm" type="none"/>
                      <a:tailEnd len="sm" w="sm" type="none"/>
                    </a:lnT>
                    <a:lnB cap="flat" cmpd="sng" w="12700">
                      <a:solidFill>
                        <a:srgbClr val="EEEEE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ph idx="1" type="body"/>
          </p:nvPr>
        </p:nvSpPr>
        <p:spPr>
          <a:xfrm>
            <a:off x="378691" y="1825625"/>
            <a:ext cx="5641109"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48135"/>
              </a:buClr>
              <a:buSzPts val="2100"/>
              <a:buNone/>
            </a:pPr>
            <a:r>
              <a:rPr b="1" lang="en-US" sz="2100">
                <a:solidFill>
                  <a:srgbClr val="548135"/>
                </a:solidFill>
                <a:latin typeface="Arial Rounded"/>
                <a:ea typeface="Arial Rounded"/>
                <a:cs typeface="Arial Rounded"/>
                <a:sym typeface="Arial Rounded"/>
              </a:rPr>
              <a:t>Step 3:</a:t>
            </a:r>
            <a:endParaRPr/>
          </a:p>
          <a:p>
            <a:pPr indent="0" lvl="0" marL="0" rtl="0" algn="l">
              <a:lnSpc>
                <a:spcPct val="90000"/>
              </a:lnSpc>
              <a:spcBef>
                <a:spcPts val="1000"/>
              </a:spcBef>
              <a:spcAft>
                <a:spcPts val="0"/>
              </a:spcAft>
              <a:buClr>
                <a:schemeClr val="dk1"/>
              </a:buClr>
              <a:buSzPts val="2100"/>
              <a:buNone/>
            </a:pPr>
            <a:r>
              <a:rPr b="1" lang="en-US" sz="2100">
                <a:latin typeface="Arial Rounded"/>
                <a:ea typeface="Arial Rounded"/>
                <a:cs typeface="Arial Rounded"/>
                <a:sym typeface="Arial Rounded"/>
              </a:rPr>
              <a:t>Actually, the above said distribution is executed at all processors in parallel such that processors P0, P1, and P2 are sending the first partition of Employee 0, 1, and 2 to disk 0. Upon receiving the records from various partitions, the receiving processor P0 merges the sorted data. </a:t>
            </a:r>
            <a:endParaRPr/>
          </a:p>
        </p:txBody>
      </p:sp>
      <p:graphicFrame>
        <p:nvGraphicFramePr>
          <p:cNvPr id="303" name="Google Shape;303;p33"/>
          <p:cNvGraphicFramePr/>
          <p:nvPr/>
        </p:nvGraphicFramePr>
        <p:xfrm>
          <a:off x="5462265" y="6384830"/>
          <a:ext cx="3000000" cy="3000000"/>
        </p:xfrm>
        <a:graphic>
          <a:graphicData uri="http://schemas.openxmlformats.org/drawingml/2006/table">
            <a:tbl>
              <a:tblPr bandRow="1" firstRow="1">
                <a:noFill/>
                <a:tableStyleId>{A0BC9838-24BF-43BE-99B5-6777831EF74C}</a:tableStyleId>
              </a:tblPr>
              <a:tblGrid>
                <a:gridCol w="6598275"/>
              </a:tblGrid>
              <a:tr h="254000">
                <a:tc>
                  <a:txBody>
                    <a:bodyPr/>
                    <a:lstStyle/>
                    <a:p>
                      <a:pPr indent="0" lvl="0" marL="0" marR="0" rtl="0" algn="ctr">
                        <a:spcBef>
                          <a:spcPts val="0"/>
                        </a:spcBef>
                        <a:spcAft>
                          <a:spcPts val="0"/>
                        </a:spcAft>
                        <a:buClr>
                          <a:srgbClr val="222222"/>
                        </a:buClr>
                        <a:buSzPts val="1400"/>
                        <a:buFont typeface="Times New Roman"/>
                        <a:buNone/>
                      </a:pPr>
                      <a:r>
                        <a:rPr b="1" lang="en-US" sz="1400" u="none" cap="none" strike="noStrike">
                          <a:solidFill>
                            <a:srgbClr val="222222"/>
                          </a:solidFill>
                          <a:latin typeface="Times New Roman"/>
                          <a:ea typeface="Times New Roman"/>
                          <a:cs typeface="Times New Roman"/>
                          <a:sym typeface="Times New Roman"/>
                        </a:rPr>
                        <a:t>Merging data of range &lt;=14000 at D0 from all the disks</a:t>
                      </a:r>
                      <a:endParaRPr/>
                    </a:p>
                  </a:txBody>
                  <a:tcPr marT="19050" marB="19050" marR="19050" marL="19050" anchor="ctr">
                    <a:lnL cap="flat" cmpd="sng" w="12700">
                      <a:solidFill>
                        <a:srgbClr val="EEEEEE"/>
                      </a:solidFill>
                      <a:prstDash val="solid"/>
                      <a:round/>
                      <a:headEnd len="sm" w="sm" type="none"/>
                      <a:tailEnd len="sm" w="sm" type="none"/>
                    </a:lnL>
                    <a:lnR cap="flat" cmpd="sng" w="12700">
                      <a:solidFill>
                        <a:srgbClr val="EEEEEE"/>
                      </a:solidFill>
                      <a:prstDash val="solid"/>
                      <a:round/>
                      <a:headEnd len="sm" w="sm" type="none"/>
                      <a:tailEnd len="sm" w="sm" type="none"/>
                    </a:lnR>
                    <a:lnT cap="flat" cmpd="sng" w="12700">
                      <a:solidFill>
                        <a:srgbClr val="EEEEEE"/>
                      </a:solidFill>
                      <a:prstDash val="solid"/>
                      <a:round/>
                      <a:headEnd len="sm" w="sm" type="none"/>
                      <a:tailEnd len="sm" w="sm" type="none"/>
                    </a:lnT>
                    <a:lnB cap="flat" cmpd="sng" w="12700">
                      <a:solidFill>
                        <a:srgbClr val="EEEEEE"/>
                      </a:solidFill>
                      <a:prstDash val="solid"/>
                      <a:round/>
                      <a:headEnd len="sm" w="sm" type="none"/>
                      <a:tailEnd len="sm" w="sm" type="none"/>
                    </a:lnB>
                    <a:solidFill>
                      <a:srgbClr val="FFFFFF"/>
                    </a:solidFill>
                  </a:tcPr>
                </a:tc>
              </a:tr>
            </a:tbl>
          </a:graphicData>
        </a:graphic>
      </p:graphicFrame>
      <p:pic>
        <p:nvPicPr>
          <p:cNvPr descr="IMG_259" id="304" name="Google Shape;304;p33">
            <a:hlinkClick r:id="rId3"/>
          </p:cNvPr>
          <p:cNvPicPr preferRelativeResize="0"/>
          <p:nvPr>
            <p:ph idx="2" type="body"/>
          </p:nvPr>
        </p:nvPicPr>
        <p:blipFill rotWithShape="1">
          <a:blip r:embed="rId4">
            <a:alphaModFix/>
          </a:blip>
          <a:srcRect b="0" l="0" r="0" t="0"/>
          <a:stretch/>
        </p:blipFill>
        <p:spPr>
          <a:xfrm>
            <a:off x="5870450" y="139200"/>
            <a:ext cx="6117300" cy="6133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idx="1" type="body"/>
          </p:nvPr>
        </p:nvSpPr>
        <p:spPr>
          <a:xfrm>
            <a:off x="492125" y="1825625"/>
            <a:ext cx="5527675" cy="43516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b="1" lang="en-US" sz="2200">
                <a:latin typeface="Arial Rounded"/>
                <a:ea typeface="Arial Rounded"/>
                <a:cs typeface="Arial Rounded"/>
                <a:sym typeface="Arial Rounded"/>
              </a:rPr>
              <a:t>The above said process is done at all processors for different partitions. </a:t>
            </a:r>
            <a:endParaRPr/>
          </a:p>
          <a:p>
            <a:pPr indent="-228600" lvl="0" marL="228600" rtl="0" algn="l">
              <a:lnSpc>
                <a:spcPct val="90000"/>
              </a:lnSpc>
              <a:spcBef>
                <a:spcPts val="1000"/>
              </a:spcBef>
              <a:spcAft>
                <a:spcPts val="0"/>
              </a:spcAft>
              <a:buClr>
                <a:srgbClr val="548135"/>
              </a:buClr>
              <a:buSzPts val="2200"/>
              <a:buChar char="•"/>
            </a:pPr>
            <a:r>
              <a:rPr b="1" lang="en-US" sz="2200">
                <a:solidFill>
                  <a:srgbClr val="548135"/>
                </a:solidFill>
                <a:latin typeface="Arial Rounded"/>
                <a:ea typeface="Arial Rounded"/>
                <a:cs typeface="Arial Rounded"/>
                <a:sym typeface="Arial Rounded"/>
              </a:rPr>
              <a:t>The final version of Temp_Employee 0, 1, and 2 </a:t>
            </a:r>
            <a:endParaRPr/>
          </a:p>
          <a:p>
            <a:pPr indent="-88900" lvl="0" marL="228600" rtl="0" algn="l">
              <a:lnSpc>
                <a:spcPct val="90000"/>
              </a:lnSpc>
              <a:spcBef>
                <a:spcPts val="1000"/>
              </a:spcBef>
              <a:spcAft>
                <a:spcPts val="0"/>
              </a:spcAft>
              <a:buClr>
                <a:schemeClr val="dk1"/>
              </a:buClr>
              <a:buSzPts val="2200"/>
              <a:buNone/>
            </a:pPr>
            <a:r>
              <a:t/>
            </a:r>
            <a:endParaRPr b="1" sz="2200">
              <a:solidFill>
                <a:srgbClr val="548135"/>
              </a:solidFill>
              <a:latin typeface="Arial Rounded"/>
              <a:ea typeface="Arial Rounded"/>
              <a:cs typeface="Arial Rounded"/>
              <a:sym typeface="Arial Rounded"/>
            </a:endParaRPr>
          </a:p>
          <a:p>
            <a:pPr indent="0" lvl="0" marL="0" rtl="0" algn="l">
              <a:lnSpc>
                <a:spcPct val="90000"/>
              </a:lnSpc>
              <a:spcBef>
                <a:spcPts val="1000"/>
              </a:spcBef>
              <a:spcAft>
                <a:spcPts val="0"/>
              </a:spcAft>
              <a:buClr>
                <a:srgbClr val="548135"/>
              </a:buClr>
              <a:buSzPts val="2100"/>
              <a:buNone/>
            </a:pPr>
            <a:r>
              <a:rPr b="1" lang="en-US" sz="2100">
                <a:solidFill>
                  <a:srgbClr val="548135"/>
                </a:solidFill>
                <a:latin typeface="Arial Rounded"/>
                <a:ea typeface="Arial Rounded"/>
                <a:cs typeface="Arial Rounded"/>
                <a:sym typeface="Arial Rounded"/>
              </a:rPr>
              <a:t>Step 4: </a:t>
            </a:r>
            <a:r>
              <a:rPr b="1" lang="en-US" sz="2200">
                <a:latin typeface="Arial Rounded"/>
                <a:ea typeface="Arial Rounded"/>
                <a:cs typeface="Arial Rounded"/>
                <a:sym typeface="Arial Rounded"/>
              </a:rPr>
              <a:t>Finally, concatenate all the sorted data from different processors to get the final result.</a:t>
            </a:r>
            <a:endParaRPr/>
          </a:p>
          <a:p>
            <a:pPr indent="0" lvl="0" marL="0" rtl="0" algn="l">
              <a:lnSpc>
                <a:spcPct val="90000"/>
              </a:lnSpc>
              <a:spcBef>
                <a:spcPts val="1000"/>
              </a:spcBef>
              <a:spcAft>
                <a:spcPts val="0"/>
              </a:spcAft>
              <a:buClr>
                <a:schemeClr val="dk1"/>
              </a:buClr>
              <a:buSzPts val="2200"/>
              <a:buNone/>
            </a:pPr>
            <a:r>
              <a:t/>
            </a:r>
            <a:endParaRPr b="1" sz="2200">
              <a:solidFill>
                <a:srgbClr val="548135"/>
              </a:solidFill>
              <a:latin typeface="Arial Rounded"/>
              <a:ea typeface="Arial Rounded"/>
              <a:cs typeface="Arial Rounded"/>
              <a:sym typeface="Arial Rounded"/>
            </a:endParaRPr>
          </a:p>
        </p:txBody>
      </p:sp>
      <p:pic>
        <p:nvPicPr>
          <p:cNvPr descr="IMG_260" id="310" name="Google Shape;310;p34">
            <a:hlinkClick r:id="rId3"/>
          </p:cNvPr>
          <p:cNvPicPr preferRelativeResize="0"/>
          <p:nvPr>
            <p:ph idx="2" type="body"/>
          </p:nvPr>
        </p:nvPicPr>
        <p:blipFill rotWithShape="1">
          <a:blip r:embed="rId4">
            <a:alphaModFix/>
          </a:blip>
          <a:srcRect b="0" l="0" r="0" t="0"/>
          <a:stretch/>
        </p:blipFill>
        <p:spPr>
          <a:xfrm>
            <a:off x="5989955" y="240145"/>
            <a:ext cx="5788025" cy="631051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a:t>
            </a:r>
            <a:r>
              <a:rPr b="1" lang="en-US" sz="2700">
                <a:solidFill>
                  <a:srgbClr val="7030A0"/>
                </a:solidFill>
                <a:latin typeface="Arial Rounded"/>
                <a:ea typeface="Arial Rounded"/>
                <a:cs typeface="Arial Rounded"/>
                <a:sym typeface="Arial Rounded"/>
              </a:rPr>
              <a:t>- Partitioned Join</a:t>
            </a:r>
            <a:endParaRPr/>
          </a:p>
        </p:txBody>
      </p:sp>
      <p:sp>
        <p:nvSpPr>
          <p:cNvPr id="316" name="Google Shape;316;p35"/>
          <p:cNvSpPr txBox="1"/>
          <p:nvPr>
            <p:ph idx="1" type="body"/>
          </p:nvPr>
        </p:nvSpPr>
        <p:spPr>
          <a:xfrm>
            <a:off x="700087" y="1571798"/>
            <a:ext cx="10791825" cy="43516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B0F0"/>
              </a:buClr>
              <a:buSzPts val="2200"/>
              <a:buChar char="•"/>
            </a:pPr>
            <a:r>
              <a:rPr b="1" lang="en-US" sz="2200">
                <a:solidFill>
                  <a:srgbClr val="00B0F0"/>
                </a:solidFill>
                <a:latin typeface="Arial Rounded"/>
                <a:ea typeface="Arial Rounded"/>
                <a:cs typeface="Arial Rounded"/>
                <a:sym typeface="Arial Rounded"/>
              </a:rPr>
              <a:t>The relational tables that are to be joined gets partitioned on the joining attributes of both tables using same partitioning function to perform Join operation in parallel.</a:t>
            </a:r>
            <a:endParaRPr/>
          </a:p>
          <a:p>
            <a:pPr indent="0" lvl="0" marL="0" rtl="0" algn="l">
              <a:lnSpc>
                <a:spcPct val="9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2200"/>
              <a:buNone/>
            </a:pPr>
            <a:r>
              <a:rPr b="1" lang="en-US" sz="2200">
                <a:latin typeface="Arial Rounded"/>
                <a:ea typeface="Arial Rounded"/>
                <a:cs typeface="Arial Rounded"/>
                <a:sym typeface="Arial Rounded"/>
              </a:rPr>
              <a:t>How does Partitioned Join work?</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Assume that relational tables r and s need to be joined using attributes r.A and s.B. The system partitions both r and s using same partitioning technique into n partitions. In this process A and B attributes (joining attributes) to be used as partitioning attributes as well for r and s respectively. r is partitioned into r0, r1, r2, …, rn-1 and s is partitioned into s0, s1, s2, …, sn-1. Then, the system sends partitions ri and si into processor Pi, where the join is performed locally.</a:t>
            </a:r>
            <a:endParaRPr/>
          </a:p>
          <a:p>
            <a:pPr indent="-88900" lvl="0" marL="228600" rtl="0" algn="l">
              <a:lnSpc>
                <a:spcPct val="9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838200" y="374015"/>
            <a:ext cx="10515600" cy="1325563"/>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Partitioned Join</a:t>
            </a:r>
            <a:br>
              <a:rPr b="1" lang="en-US" sz="2700">
                <a:solidFill>
                  <a:schemeClr val="accent2"/>
                </a:solidFill>
                <a:latin typeface="Arial Rounded"/>
                <a:ea typeface="Arial Rounded"/>
                <a:cs typeface="Arial Rounded"/>
                <a:sym typeface="Arial Rounded"/>
              </a:rPr>
            </a:br>
            <a:endParaRPr b="1" sz="2700">
              <a:solidFill>
                <a:schemeClr val="accent2"/>
              </a:solidFill>
              <a:latin typeface="Arial Rounded"/>
              <a:ea typeface="Arial Rounded"/>
              <a:cs typeface="Arial Rounded"/>
              <a:sym typeface="Arial Rounded"/>
            </a:endParaRPr>
          </a:p>
        </p:txBody>
      </p:sp>
      <p:pic>
        <p:nvPicPr>
          <p:cNvPr id="322" name="Google Shape;322;p36"/>
          <p:cNvPicPr preferRelativeResize="0"/>
          <p:nvPr>
            <p:ph idx="1" type="body"/>
          </p:nvPr>
        </p:nvPicPr>
        <p:blipFill rotWithShape="1">
          <a:blip r:embed="rId3">
            <a:alphaModFix/>
          </a:blip>
          <a:srcRect b="0" l="0" r="0" t="0"/>
          <a:stretch/>
        </p:blipFill>
        <p:spPr>
          <a:xfrm>
            <a:off x="3094355" y="1550035"/>
            <a:ext cx="5385435" cy="50768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Partitioned Join</a:t>
            </a:r>
            <a:endParaRPr/>
          </a:p>
        </p:txBody>
      </p:sp>
      <p:sp>
        <p:nvSpPr>
          <p:cNvPr id="328" name="Google Shape;328;p37"/>
          <p:cNvSpPr txBox="1"/>
          <p:nvPr>
            <p:ph idx="1" type="body"/>
          </p:nvPr>
        </p:nvSpPr>
        <p:spPr>
          <a:xfrm>
            <a:off x="561975" y="1520825"/>
            <a:ext cx="11168207" cy="43516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b="1" lang="en-US" sz="2200">
                <a:latin typeface="Arial Rounded"/>
                <a:ea typeface="Arial Rounded"/>
                <a:cs typeface="Arial Rounded"/>
                <a:sym typeface="Arial Rounded"/>
              </a:rPr>
              <a:t>What type of joins can we perform in parallel using Partitioned Join?</a:t>
            </a:r>
            <a:endParaRPr b="1" sz="2200">
              <a:latin typeface="Arial Rounded"/>
              <a:ea typeface="Arial Rounded"/>
              <a:cs typeface="Arial Rounded"/>
              <a:sym typeface="Arial Rounded"/>
            </a:endParaRPr>
          </a:p>
          <a:p>
            <a:pPr indent="-228600" lvl="0" marL="228600" rtl="0" algn="l">
              <a:lnSpc>
                <a:spcPct val="90000"/>
              </a:lnSpc>
              <a:spcBef>
                <a:spcPts val="1000"/>
              </a:spcBef>
              <a:spcAft>
                <a:spcPts val="0"/>
              </a:spcAft>
              <a:buClr>
                <a:srgbClr val="7030A0"/>
              </a:buClr>
              <a:buSzPts val="2200"/>
              <a:buChar char="•"/>
            </a:pPr>
            <a:r>
              <a:rPr b="1" lang="en-US" sz="2200">
                <a:solidFill>
                  <a:srgbClr val="7030A0"/>
                </a:solidFill>
                <a:latin typeface="Arial Rounded"/>
                <a:ea typeface="Arial Rounded"/>
                <a:cs typeface="Arial Rounded"/>
                <a:sym typeface="Arial Rounded"/>
              </a:rPr>
              <a:t>Only joins such as Equi-Joins and Natural Joins can be performed using Partitioned join technique.</a:t>
            </a:r>
            <a:endParaRPr b="1" sz="2200">
              <a:solidFill>
                <a:srgbClr val="7030A0"/>
              </a:solidFill>
              <a:latin typeface="Arial Rounded"/>
              <a:ea typeface="Arial Rounded"/>
              <a:cs typeface="Arial Rounded"/>
              <a:sym typeface="Arial Rounded"/>
            </a:endParaRPr>
          </a:p>
          <a:p>
            <a:pPr indent="-88900" lvl="0" marL="228600" rtl="0" algn="l">
              <a:lnSpc>
                <a:spcPct val="90000"/>
              </a:lnSpc>
              <a:spcBef>
                <a:spcPts val="1000"/>
              </a:spcBef>
              <a:spcAft>
                <a:spcPts val="0"/>
              </a:spcAft>
              <a:buClr>
                <a:schemeClr val="dk1"/>
              </a:buClr>
              <a:buSzPts val="2200"/>
              <a:buNone/>
            </a:pPr>
            <a:r>
              <a:t/>
            </a:r>
            <a:endParaRPr b="1" sz="22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ts val="2200"/>
              <a:buNone/>
            </a:pPr>
            <a:r>
              <a:rPr b="1" lang="en-US" sz="2200">
                <a:latin typeface="Arial Rounded"/>
                <a:ea typeface="Arial Rounded"/>
                <a:cs typeface="Arial Rounded"/>
                <a:sym typeface="Arial Rounded"/>
              </a:rPr>
              <a:t>Why Equi-Jion and Natural Jion?</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Equi-Join or Natural Join is done between two tables using an equality condition such as r.A = s.B. The tuples which are satisfying this condition, i.e, same value for both A and B, are joined together. Others are discarded. Hence, if we partition the relations r and s on applying certain partitioning technique on both A and B, then the tuples having same value for A and B will end up in the same partition.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graphicFrame>
        <p:nvGraphicFramePr>
          <p:cNvPr id="333" name="Google Shape;333;p38"/>
          <p:cNvGraphicFramePr/>
          <p:nvPr/>
        </p:nvGraphicFramePr>
        <p:xfrm>
          <a:off x="838200" y="2472171"/>
          <a:ext cx="3000000" cy="3000000"/>
        </p:xfrm>
        <a:graphic>
          <a:graphicData uri="http://schemas.openxmlformats.org/drawingml/2006/table">
            <a:tbl>
              <a:tblPr bandRow="1" firstRow="1">
                <a:noFill/>
                <a:tableStyleId>{A0BC9838-24BF-43BE-99B5-6777831EF74C}</a:tableStyleId>
              </a:tblPr>
              <a:tblGrid>
                <a:gridCol w="826125"/>
                <a:gridCol w="782950"/>
                <a:gridCol w="871225"/>
                <a:gridCol w="2701300"/>
              </a:tblGrid>
              <a:tr h="548650">
                <a:tc>
                  <a:txBody>
                    <a:bodyPr/>
                    <a:lstStyle/>
                    <a:p>
                      <a:pPr indent="0" lvl="0" marL="0" marR="0" rtl="0" algn="ctr">
                        <a:spcBef>
                          <a:spcPts val="0"/>
                        </a:spcBef>
                        <a:spcAft>
                          <a:spcPts val="0"/>
                        </a:spcAft>
                        <a:buClr>
                          <a:schemeClr val="dk1"/>
                        </a:buClr>
                        <a:buSzPts val="1600"/>
                        <a:buFont typeface="Times New Roman"/>
                        <a:buNone/>
                      </a:pPr>
                      <a:r>
                        <a:rPr b="1" i="1" lang="en-US" sz="1600" u="none" cap="none" strike="noStrike">
                          <a:latin typeface="Times New Roman"/>
                          <a:ea typeface="Times New Roman"/>
                          <a:cs typeface="Times New Roman"/>
                          <a:sym typeface="Times New Roman"/>
                        </a:rPr>
                        <a:t>RegNo</a:t>
                      </a:r>
                      <a:endParaRPr b="1" i="1"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1" i="1" lang="en-US" sz="1600" u="none" cap="none" strike="noStrike">
                          <a:latin typeface="Times New Roman"/>
                          <a:ea typeface="Times New Roman"/>
                          <a:cs typeface="Times New Roman"/>
                          <a:sym typeface="Times New Roman"/>
                        </a:rPr>
                        <a:t>SName</a:t>
                      </a:r>
                      <a:endParaRPr b="1" i="1"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1" i="1" lang="en-US" sz="1600" u="none" cap="none" strike="noStrike">
                          <a:latin typeface="Times New Roman"/>
                          <a:ea typeface="Times New Roman"/>
                          <a:cs typeface="Times New Roman"/>
                          <a:sym typeface="Times New Roman"/>
                        </a:rPr>
                        <a:t>Gen</a:t>
                      </a:r>
                      <a:endParaRPr b="1" i="1"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1" i="1" lang="en-US" sz="1600" u="none" cap="none" strike="noStrike">
                          <a:latin typeface="Times New Roman"/>
                          <a:ea typeface="Times New Roman"/>
                          <a:cs typeface="Times New Roman"/>
                          <a:sym typeface="Times New Roman"/>
                        </a:rPr>
                        <a:t>Phone</a:t>
                      </a:r>
                      <a:endParaRPr b="1" i="1"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5750">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1</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Sundar</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M</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9898786756</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5750">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3</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Karthik</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M</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8798987867</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90500">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4</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John</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M</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7898886756</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90500">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2</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Ram</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M</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600"/>
                        <a:buFont typeface="Times New Roman"/>
                        <a:buNone/>
                      </a:pPr>
                      <a:r>
                        <a:rPr b="0" lang="en-US" sz="1600" u="none" cap="none" strike="noStrike">
                          <a:latin typeface="Times New Roman"/>
                          <a:ea typeface="Times New Roman"/>
                          <a:cs typeface="Times New Roman"/>
                          <a:sym typeface="Times New Roman"/>
                        </a:rPr>
                        <a:t>9897786776</a:t>
                      </a:r>
                      <a:endParaRPr b="0"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34" name="Google Shape;334;p38"/>
          <p:cNvSpPr txBox="1"/>
          <p:nvPr/>
        </p:nvSpPr>
        <p:spPr>
          <a:xfrm>
            <a:off x="371706" y="4602768"/>
            <a:ext cx="50800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222222"/>
                </a:solidFill>
                <a:latin typeface="Times New Roman"/>
                <a:ea typeface="Times New Roman"/>
                <a:cs typeface="Times New Roman"/>
                <a:sym typeface="Times New Roman"/>
              </a:rPr>
              <a:t>Table 1 - STUDENT</a:t>
            </a:r>
            <a:endParaRPr sz="1600">
              <a:solidFill>
                <a:schemeClr val="dk1"/>
              </a:solidFill>
              <a:latin typeface="Calibri"/>
              <a:ea typeface="Calibri"/>
              <a:cs typeface="Calibri"/>
              <a:sym typeface="Calibri"/>
            </a:endParaRPr>
          </a:p>
        </p:txBody>
      </p:sp>
      <p:graphicFrame>
        <p:nvGraphicFramePr>
          <p:cNvPr id="335" name="Google Shape;335;p38"/>
          <p:cNvGraphicFramePr/>
          <p:nvPr/>
        </p:nvGraphicFramePr>
        <p:xfrm>
          <a:off x="7407910" y="2472171"/>
          <a:ext cx="3000000" cy="3000000"/>
        </p:xfrm>
        <a:graphic>
          <a:graphicData uri="http://schemas.openxmlformats.org/drawingml/2006/table">
            <a:tbl>
              <a:tblPr bandRow="1" firstRow="1">
                <a:noFill/>
                <a:tableStyleId>{A0BC9838-24BF-43BE-99B5-6777831EF74C}</a:tableStyleId>
              </a:tblPr>
              <a:tblGrid>
                <a:gridCol w="1298575"/>
                <a:gridCol w="1298575"/>
              </a:tblGrid>
              <a:tr h="141600">
                <a:tc>
                  <a:txBody>
                    <a:bodyPr/>
                    <a:lstStyle/>
                    <a:p>
                      <a:pPr indent="0" lvl="0" marL="0" marR="0" rtl="0" algn="ctr">
                        <a:spcBef>
                          <a:spcPts val="0"/>
                        </a:spcBef>
                        <a:spcAft>
                          <a:spcPts val="0"/>
                        </a:spcAft>
                        <a:buClr>
                          <a:schemeClr val="dk1"/>
                        </a:buClr>
                        <a:buSzPts val="1800"/>
                        <a:buFont typeface="Times New Roman"/>
                        <a:buNone/>
                      </a:pPr>
                      <a:r>
                        <a:rPr b="1" i="1" lang="en-US" sz="1800" u="none" cap="none" strike="noStrike">
                          <a:latin typeface="Times New Roman"/>
                          <a:ea typeface="Times New Roman"/>
                          <a:cs typeface="Times New Roman"/>
                          <a:sym typeface="Times New Roman"/>
                        </a:rPr>
                        <a:t>RegNo</a:t>
                      </a:r>
                      <a:endParaRPr b="1" i="1"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Times New Roman"/>
                        <a:buNone/>
                      </a:pPr>
                      <a:r>
                        <a:rPr b="1" i="1" lang="en-US" sz="1800" u="none" cap="none" strike="noStrike">
                          <a:latin typeface="Times New Roman"/>
                          <a:ea typeface="Times New Roman"/>
                          <a:cs typeface="Times New Roman"/>
                          <a:sym typeface="Times New Roman"/>
                        </a:rPr>
                        <a:t>Courses</a:t>
                      </a:r>
                      <a:endParaRPr b="1" i="1"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60025">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4</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Database</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9375">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2</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Database</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0675">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3</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Data Structures</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99400">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1</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800"/>
                        <a:buFont typeface="Times New Roman"/>
                        <a:buNone/>
                      </a:pPr>
                      <a:r>
                        <a:rPr b="0" lang="en-US" sz="1800" u="none" cap="none" strike="noStrike">
                          <a:latin typeface="Times New Roman"/>
                          <a:ea typeface="Times New Roman"/>
                          <a:cs typeface="Times New Roman"/>
                          <a:sym typeface="Times New Roman"/>
                        </a:rPr>
                        <a:t>Multimedia</a:t>
                      </a:r>
                      <a:endParaRPr b="0" sz="18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36" name="Google Shape;336;p38"/>
          <p:cNvSpPr txBox="1"/>
          <p:nvPr/>
        </p:nvSpPr>
        <p:spPr>
          <a:xfrm>
            <a:off x="7465060" y="4510405"/>
            <a:ext cx="50800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222222"/>
                </a:solidFill>
                <a:latin typeface="Times New Roman"/>
                <a:ea typeface="Times New Roman"/>
                <a:cs typeface="Times New Roman"/>
                <a:sym typeface="Times New Roman"/>
              </a:rPr>
              <a:t>Table 2 – COURSES_REGD</a:t>
            </a:r>
            <a:endParaRPr sz="1600">
              <a:solidFill>
                <a:schemeClr val="dk1"/>
              </a:solidFill>
              <a:latin typeface="Calibri"/>
              <a:ea typeface="Calibri"/>
              <a:cs typeface="Calibri"/>
              <a:sym typeface="Calibri"/>
            </a:endParaRPr>
          </a:p>
        </p:txBody>
      </p:sp>
      <p:sp>
        <p:nvSpPr>
          <p:cNvPr id="337" name="Google Shape;337;p38"/>
          <p:cNvSpPr/>
          <p:nvPr/>
        </p:nvSpPr>
        <p:spPr>
          <a:xfrm>
            <a:off x="965200" y="492125"/>
            <a:ext cx="10515600" cy="1325563"/>
          </a:xfrm>
          <a:prstGeom prst="rect">
            <a:avLst/>
          </a:prstGeom>
          <a:noFill/>
          <a:ln>
            <a:noFill/>
          </a:ln>
        </p:spPr>
        <p:txBody>
          <a:bodyPr anchorCtr="0" anchor="ctr" bIns="45700" lIns="91425" spcFirstLastPara="1" rIns="91425" wrap="square" tIns="45700">
            <a:normAutofit/>
          </a:bodyPr>
          <a:lstStyle/>
          <a:p>
            <a:pPr indent="-457200" lvl="0" marL="457200" marR="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a:t>
            </a:r>
            <a:r>
              <a:rPr b="1" lang="en-US" sz="2700">
                <a:solidFill>
                  <a:srgbClr val="7030A0"/>
                </a:solidFill>
                <a:latin typeface="Arial Rounded"/>
                <a:ea typeface="Arial Rounded"/>
                <a:cs typeface="Arial Rounded"/>
                <a:sym typeface="Arial Rounded"/>
              </a:rPr>
              <a:t>- Partitioned Join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9"/>
          <p:cNvSpPr txBox="1"/>
          <p:nvPr>
            <p:ph idx="1" type="body"/>
          </p:nvPr>
        </p:nvSpPr>
        <p:spPr>
          <a:xfrm>
            <a:off x="751205" y="1594716"/>
            <a:ext cx="10602595" cy="43516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b="1" lang="en-US" sz="2200">
                <a:latin typeface="Arial Rounded"/>
                <a:ea typeface="Arial Rounded"/>
                <a:cs typeface="Arial Rounded"/>
                <a:sym typeface="Arial Rounded"/>
              </a:rPr>
              <a:t>Let us assume the following;</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The RegNo attributes of tables STUDENT and COURSES_REGD are used for joining.</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Observe the order of tuples in both tables. They are not in particular order. They are stored in random order on RegNo.</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Partition the tables on RegNo attribute using </a:t>
            </a:r>
            <a:r>
              <a:rPr b="1" lang="en-US" sz="2200">
                <a:solidFill>
                  <a:srgbClr val="7030A0"/>
                </a:solidFill>
                <a:latin typeface="Arial Rounded"/>
                <a:ea typeface="Arial Rounded"/>
                <a:cs typeface="Arial Rounded"/>
                <a:sym typeface="Arial Rounded"/>
              </a:rPr>
              <a:t>Hash Partition</a:t>
            </a:r>
            <a:r>
              <a:rPr b="1" lang="en-US" sz="2200">
                <a:latin typeface="Arial Rounded"/>
                <a:ea typeface="Arial Rounded"/>
                <a:cs typeface="Arial Rounded"/>
                <a:sym typeface="Arial Rounded"/>
              </a:rPr>
              <a:t>. We have 2 disks and we need to partition the relational tables into two partitions (possibly equal). Hence, n is 2.</a:t>
            </a:r>
            <a:endParaRPr/>
          </a:p>
          <a:p>
            <a:pPr indent="-228600" lvl="0" marL="228600" rtl="0" algn="l">
              <a:lnSpc>
                <a:spcPct val="90000"/>
              </a:lnSpc>
              <a:spcBef>
                <a:spcPts val="1000"/>
              </a:spcBef>
              <a:spcAft>
                <a:spcPts val="0"/>
              </a:spcAft>
              <a:buClr>
                <a:schemeClr val="dk1"/>
              </a:buClr>
              <a:buSzPts val="2200"/>
              <a:buChar char="•"/>
            </a:pPr>
            <a:r>
              <a:rPr b="1" lang="en-US" sz="2200">
                <a:latin typeface="Arial Rounded"/>
                <a:ea typeface="Arial Rounded"/>
                <a:cs typeface="Arial Rounded"/>
                <a:sym typeface="Arial Rounded"/>
              </a:rPr>
              <a:t>The hash function is, </a:t>
            </a:r>
            <a:r>
              <a:rPr b="1" lang="en-US" sz="2200">
                <a:solidFill>
                  <a:srgbClr val="7030A0"/>
                </a:solidFill>
                <a:latin typeface="Arial Rounded"/>
                <a:ea typeface="Arial Rounded"/>
                <a:cs typeface="Arial Rounded"/>
                <a:sym typeface="Arial Rounded"/>
              </a:rPr>
              <a:t>h(RegNo) = (RegNo mod n) = (RegNo mod 2)</a:t>
            </a:r>
            <a:r>
              <a:rPr b="1" lang="en-US" sz="2200">
                <a:latin typeface="Arial Rounded"/>
                <a:ea typeface="Arial Rounded"/>
                <a:cs typeface="Arial Rounded"/>
                <a:sym typeface="Arial Rounded"/>
              </a:rPr>
              <a:t>. And, if we apply the hash function we shall get the tables STUDENT and COURSES_REGD partitioned into Disk0 and Disk1 as stated below.</a:t>
            </a:r>
            <a:endParaRPr/>
          </a:p>
        </p:txBody>
      </p:sp>
      <p:sp>
        <p:nvSpPr>
          <p:cNvPr id="343" name="Google Shape;34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Partitioned Join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0"/>
          <p:cNvPicPr preferRelativeResize="0"/>
          <p:nvPr>
            <p:ph idx="1" type="body"/>
          </p:nvPr>
        </p:nvPicPr>
        <p:blipFill rotWithShape="1">
          <a:blip r:embed="rId3">
            <a:alphaModFix/>
          </a:blip>
          <a:srcRect b="0" l="0" r="0" t="0"/>
          <a:stretch/>
        </p:blipFill>
        <p:spPr>
          <a:xfrm>
            <a:off x="149226" y="526473"/>
            <a:ext cx="6879648" cy="4876800"/>
          </a:xfrm>
          <a:prstGeom prst="rect">
            <a:avLst/>
          </a:prstGeom>
          <a:noFill/>
          <a:ln>
            <a:noFill/>
          </a:ln>
        </p:spPr>
      </p:pic>
      <p:sp>
        <p:nvSpPr>
          <p:cNvPr id="349" name="Google Shape;349;p40"/>
          <p:cNvSpPr/>
          <p:nvPr/>
        </p:nvSpPr>
        <p:spPr>
          <a:xfrm>
            <a:off x="7195127" y="166601"/>
            <a:ext cx="4645891" cy="435165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100"/>
              <a:buFont typeface="Arial"/>
              <a:buChar char="•"/>
            </a:pPr>
            <a:r>
              <a:rPr b="1" lang="en-US" sz="2100">
                <a:solidFill>
                  <a:schemeClr val="dk1"/>
                </a:solidFill>
                <a:latin typeface="Arial Rounded"/>
                <a:ea typeface="Arial Rounded"/>
                <a:cs typeface="Arial Rounded"/>
                <a:sym typeface="Arial Rounded"/>
              </a:rPr>
              <a:t>From the above table, it is very clear that the same RegNo values of both tables STUDENT and COURSES_REGD are sent to same partitions. Now, join can be performed locally at every processor in parallel.</a:t>
            </a:r>
            <a:endParaRPr/>
          </a:p>
          <a:p>
            <a:pPr indent="-95250" lvl="0" marL="228600" marR="0" rtl="0" algn="l">
              <a:lnSpc>
                <a:spcPct val="90000"/>
              </a:lnSpc>
              <a:spcBef>
                <a:spcPts val="1000"/>
              </a:spcBef>
              <a:spcAft>
                <a:spcPts val="0"/>
              </a:spcAft>
              <a:buClr>
                <a:schemeClr val="dk1"/>
              </a:buClr>
              <a:buSzPts val="2100"/>
              <a:buFont typeface="Arial"/>
              <a:buNone/>
            </a:pPr>
            <a:r>
              <a:t/>
            </a:r>
            <a:endParaRPr b="1" sz="2100">
              <a:solidFill>
                <a:schemeClr val="dk1"/>
              </a:solidFill>
              <a:latin typeface="Arial Rounded"/>
              <a:ea typeface="Arial Rounded"/>
              <a:cs typeface="Arial Rounded"/>
              <a:sym typeface="Arial Rounded"/>
            </a:endParaRPr>
          </a:p>
          <a:p>
            <a:pPr indent="-228600" lvl="0" marL="228600" marR="0" rtl="0" algn="l">
              <a:lnSpc>
                <a:spcPct val="90000"/>
              </a:lnSpc>
              <a:spcBef>
                <a:spcPts val="1000"/>
              </a:spcBef>
              <a:spcAft>
                <a:spcPts val="0"/>
              </a:spcAft>
              <a:buClr>
                <a:schemeClr val="dk1"/>
              </a:buClr>
              <a:buSzPts val="2100"/>
              <a:buFont typeface="Arial"/>
              <a:buChar char="•"/>
            </a:pPr>
            <a:r>
              <a:rPr b="1" lang="en-US" sz="2100">
                <a:solidFill>
                  <a:schemeClr val="dk1"/>
                </a:solidFill>
                <a:latin typeface="Arial Rounded"/>
                <a:ea typeface="Arial Rounded"/>
                <a:cs typeface="Arial Rounded"/>
                <a:sym typeface="Arial Rounded"/>
              </a:rPr>
              <a:t>One more interesting fact about this join is, only 4 (2 Student records X 2 Courses_regd records) comparisons need to be done in every partition for our example. Hence, we need total of 8 comparisons in partitioned join against 16 (4 X 4) in conventional join.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descr="IMG_256" id="354" name="Google Shape;354;p41">
            <a:hlinkClick r:id="rId3"/>
          </p:cNvPr>
          <p:cNvPicPr preferRelativeResize="0"/>
          <p:nvPr>
            <p:ph idx="1" type="body"/>
          </p:nvPr>
        </p:nvPicPr>
        <p:blipFill rotWithShape="1">
          <a:blip r:embed="rId4">
            <a:alphaModFix/>
          </a:blip>
          <a:srcRect b="0" l="0" r="0" t="0"/>
          <a:stretch/>
        </p:blipFill>
        <p:spPr>
          <a:xfrm>
            <a:off x="1107440" y="637308"/>
            <a:ext cx="10160924" cy="584228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2"/>
          <p:cNvSpPr txBox="1"/>
          <p:nvPr>
            <p:ph type="title"/>
          </p:nvPr>
        </p:nvSpPr>
        <p:spPr>
          <a:xfrm>
            <a:off x="380385" y="5"/>
            <a:ext cx="11061000" cy="13260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 </a:t>
            </a:r>
            <a:endParaRPr/>
          </a:p>
        </p:txBody>
      </p:sp>
      <p:pic>
        <p:nvPicPr>
          <p:cNvPr id="360" name="Google Shape;360;p42"/>
          <p:cNvPicPr preferRelativeResize="0"/>
          <p:nvPr>
            <p:ph idx="1" type="body"/>
          </p:nvPr>
        </p:nvPicPr>
        <p:blipFill rotWithShape="1">
          <a:blip r:embed="rId3">
            <a:alphaModFix/>
          </a:blip>
          <a:srcRect b="0" l="0" r="0" t="0"/>
          <a:stretch/>
        </p:blipFill>
        <p:spPr>
          <a:xfrm>
            <a:off x="199400" y="999375"/>
            <a:ext cx="7646100" cy="5700900"/>
          </a:xfrm>
          <a:prstGeom prst="rect">
            <a:avLst/>
          </a:prstGeom>
          <a:noFill/>
          <a:ln>
            <a:noFill/>
          </a:ln>
        </p:spPr>
      </p:pic>
      <p:sp>
        <p:nvSpPr>
          <p:cNvPr id="361" name="Google Shape;361;p42"/>
          <p:cNvSpPr/>
          <p:nvPr/>
        </p:nvSpPr>
        <p:spPr>
          <a:xfrm>
            <a:off x="7637780" y="1311910"/>
            <a:ext cx="4236720" cy="4351655"/>
          </a:xfrm>
          <a:prstGeom prst="rect">
            <a:avLst/>
          </a:prstGeom>
          <a:noFill/>
          <a:ln>
            <a:noFill/>
          </a:ln>
        </p:spPr>
        <p:txBody>
          <a:bodyPr anchorCtr="0" anchor="t" bIns="45700" lIns="91425" spcFirstLastPara="1" rIns="91425" wrap="square" tIns="45700">
            <a:normAutofit/>
          </a:bodyPr>
          <a:lstStyle/>
          <a:p>
            <a:pPr indent="-50800" lvl="0" marL="228600" marR="0" rtl="0" algn="l">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362" name="Google Shape;362;p42"/>
          <p:cNvSpPr/>
          <p:nvPr/>
        </p:nvSpPr>
        <p:spPr>
          <a:xfrm>
            <a:off x="7764780" y="1438910"/>
            <a:ext cx="4236720" cy="435165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100"/>
              <a:buFont typeface="Arial"/>
              <a:buChar char="•"/>
            </a:pPr>
            <a:r>
              <a:rPr b="1" lang="en-US" sz="2100">
                <a:solidFill>
                  <a:schemeClr val="dk1"/>
                </a:solidFill>
                <a:latin typeface="Arial Rounded"/>
                <a:ea typeface="Arial Rounded"/>
                <a:cs typeface="Arial Rounded"/>
                <a:sym typeface="Arial Rounded"/>
              </a:rPr>
              <a:t>Fragment means </a:t>
            </a:r>
            <a:r>
              <a:rPr b="1" lang="en-US" sz="2100">
                <a:solidFill>
                  <a:srgbClr val="14CD68"/>
                </a:solidFill>
                <a:latin typeface="Arial Rounded"/>
                <a:ea typeface="Arial Rounded"/>
                <a:cs typeface="Arial Rounded"/>
                <a:sym typeface="Arial Rounded"/>
              </a:rPr>
              <a:t>partitioning a table either horizontally or vertically </a:t>
            </a:r>
            <a:r>
              <a:rPr b="1" lang="en-US" sz="2100">
                <a:solidFill>
                  <a:schemeClr val="dk1"/>
                </a:solidFill>
                <a:latin typeface="Arial Rounded"/>
                <a:ea typeface="Arial Rounded"/>
                <a:cs typeface="Arial Rounded"/>
                <a:sym typeface="Arial Rounded"/>
              </a:rPr>
              <a:t>(Horizontal and Vertical fragmentation). </a:t>
            </a:r>
            <a:endParaRPr/>
          </a:p>
          <a:p>
            <a:pPr indent="-95250" lvl="0" marL="228600" marR="0" rtl="0" algn="l">
              <a:lnSpc>
                <a:spcPct val="90000"/>
              </a:lnSpc>
              <a:spcBef>
                <a:spcPts val="1000"/>
              </a:spcBef>
              <a:spcAft>
                <a:spcPts val="0"/>
              </a:spcAft>
              <a:buClr>
                <a:schemeClr val="dk1"/>
              </a:buClr>
              <a:buSzPts val="2100"/>
              <a:buFont typeface="Arial"/>
              <a:buNone/>
            </a:pPr>
            <a:r>
              <a:t/>
            </a:r>
            <a:endParaRPr b="1" sz="2100">
              <a:solidFill>
                <a:schemeClr val="dk1"/>
              </a:solidFill>
              <a:latin typeface="Arial Rounded"/>
              <a:ea typeface="Arial Rounded"/>
              <a:cs typeface="Arial Rounded"/>
              <a:sym typeface="Arial Rounded"/>
            </a:endParaRPr>
          </a:p>
          <a:p>
            <a:pPr indent="-228600" lvl="0" marL="228600" marR="0" rtl="0" algn="l">
              <a:lnSpc>
                <a:spcPct val="90000"/>
              </a:lnSpc>
              <a:spcBef>
                <a:spcPts val="1000"/>
              </a:spcBef>
              <a:spcAft>
                <a:spcPts val="0"/>
              </a:spcAft>
              <a:buClr>
                <a:schemeClr val="dk1"/>
              </a:buClr>
              <a:buSzPts val="2100"/>
              <a:buFont typeface="Arial"/>
              <a:buChar char="•"/>
            </a:pPr>
            <a:r>
              <a:rPr b="1" lang="en-US" sz="2100">
                <a:solidFill>
                  <a:schemeClr val="dk1"/>
                </a:solidFill>
                <a:latin typeface="Arial Rounded"/>
                <a:ea typeface="Arial Rounded"/>
                <a:cs typeface="Arial Rounded"/>
                <a:sym typeface="Arial Rounded"/>
              </a:rPr>
              <a:t>Replicate means </a:t>
            </a:r>
            <a:r>
              <a:rPr b="1" lang="en-US" sz="2100">
                <a:solidFill>
                  <a:srgbClr val="14CD68"/>
                </a:solidFill>
                <a:latin typeface="Arial Rounded"/>
                <a:ea typeface="Arial Rounded"/>
                <a:cs typeface="Arial Rounded"/>
                <a:sym typeface="Arial Rounded"/>
              </a:rPr>
              <a:t>duplicating the relation, i.e, generating similar copies of a table. </a:t>
            </a:r>
            <a:r>
              <a:rPr b="1" lang="en-US" sz="2100">
                <a:solidFill>
                  <a:schemeClr val="dk1"/>
                </a:solidFill>
                <a:latin typeface="Arial Rounded"/>
                <a:ea typeface="Arial Rounded"/>
                <a:cs typeface="Arial Rounded"/>
                <a:sym typeface="Arial Rounded"/>
              </a:rPr>
              <a:t>This join is performed by fragmenting and replicating the tables to be joined.</a:t>
            </a:r>
            <a:endParaRPr/>
          </a:p>
          <a:p>
            <a:pPr indent="-95250" lvl="0" marL="228600" marR="0" rtl="0" algn="l">
              <a:lnSpc>
                <a:spcPct val="90000"/>
              </a:lnSpc>
              <a:spcBef>
                <a:spcPts val="1000"/>
              </a:spcBef>
              <a:spcAft>
                <a:spcPts val="0"/>
              </a:spcAft>
              <a:buClr>
                <a:schemeClr val="dk1"/>
              </a:buClr>
              <a:buSzPts val="2100"/>
              <a:buFont typeface="Arial"/>
              <a:buNone/>
            </a:pPr>
            <a:r>
              <a:t/>
            </a:r>
            <a:endParaRPr b="1" sz="2100">
              <a:solidFill>
                <a:schemeClr val="dk1"/>
              </a:solidFill>
              <a:latin typeface="Arial Rounded"/>
              <a:ea typeface="Arial Rounded"/>
              <a:cs typeface="Arial Rounded"/>
              <a:sym typeface="Arial Rounde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094c81e6b9_0_0"/>
          <p:cNvSpPr txBox="1"/>
          <p:nvPr>
            <p:ph type="title"/>
          </p:nvPr>
        </p:nvSpPr>
        <p:spPr>
          <a:xfrm>
            <a:off x="140335" y="0"/>
            <a:ext cx="11667600" cy="13260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b="1" sz="2700">
              <a:solidFill>
                <a:srgbClr val="7030A0"/>
              </a:solidFill>
              <a:latin typeface="Arial Rounded"/>
              <a:ea typeface="Arial Rounded"/>
              <a:cs typeface="Arial Rounded"/>
              <a:sym typeface="Arial Rounded"/>
            </a:endParaRPr>
          </a:p>
        </p:txBody>
      </p:sp>
      <p:sp>
        <p:nvSpPr>
          <p:cNvPr id="368" name="Google Shape;368;g3094c81e6b9_0_0"/>
          <p:cNvSpPr txBox="1"/>
          <p:nvPr>
            <p:ph idx="1" type="body"/>
          </p:nvPr>
        </p:nvSpPr>
        <p:spPr>
          <a:xfrm>
            <a:off x="226752" y="975360"/>
            <a:ext cx="10515600" cy="435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800"/>
              <a:buNone/>
            </a:pPr>
            <a:r>
              <a:rPr lang="en-US">
                <a:solidFill>
                  <a:srgbClr val="C00000"/>
                </a:solidFill>
                <a:latin typeface="Times New Roman"/>
                <a:ea typeface="Times New Roman"/>
                <a:cs typeface="Times New Roman"/>
                <a:sym typeface="Times New Roman"/>
              </a:rPr>
              <a:t>(a) Asymmetric Fragment and Replicate Join</a:t>
            </a:r>
            <a:endParaRPr/>
          </a:p>
        </p:txBody>
      </p:sp>
      <p:sp>
        <p:nvSpPr>
          <p:cNvPr id="369" name="Google Shape;369;g3094c81e6b9_0_0"/>
          <p:cNvSpPr txBox="1"/>
          <p:nvPr/>
        </p:nvSpPr>
        <p:spPr>
          <a:xfrm>
            <a:off x="478888" y="1642300"/>
            <a:ext cx="11328900" cy="51303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0"/>
              </a:spcAft>
              <a:buClr>
                <a:schemeClr val="dk1"/>
              </a:buClr>
              <a:buSzPts val="1100"/>
              <a:buFont typeface="Arial"/>
              <a:buNone/>
            </a:pPr>
            <a:r>
              <a:rPr lang="en-US" sz="2000">
                <a:solidFill>
                  <a:srgbClr val="222222"/>
                </a:solidFill>
                <a:highlight>
                  <a:srgbClr val="FFFFFF"/>
                </a:highlight>
                <a:latin typeface="Arial Rounded"/>
                <a:ea typeface="Arial Rounded"/>
                <a:cs typeface="Arial Rounded"/>
                <a:sym typeface="Arial Rounded"/>
              </a:rPr>
              <a:t>It is a variant of Fragment and Replicate join. It works as follows;</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SzPts val="1100"/>
              <a:buNone/>
            </a:pPr>
            <a:r>
              <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SzPts val="1100"/>
              <a:buNone/>
            </a:pPr>
            <a:r>
              <a:rPr lang="en-US" sz="2000">
                <a:solidFill>
                  <a:srgbClr val="222222"/>
                </a:solidFill>
                <a:highlight>
                  <a:srgbClr val="FFFFFF"/>
                </a:highlight>
                <a:latin typeface="Arial Rounded"/>
                <a:ea typeface="Arial Rounded"/>
                <a:cs typeface="Arial Rounded"/>
                <a:sym typeface="Arial Rounded"/>
              </a:rPr>
              <a:t>1. The system fragments table r into n fragments such that r</a:t>
            </a:r>
            <a:r>
              <a:rPr baseline="-25000" lang="en-US" sz="2000">
                <a:solidFill>
                  <a:srgbClr val="222222"/>
                </a:solidFill>
                <a:highlight>
                  <a:srgbClr val="FFFFFF"/>
                </a:highlight>
                <a:latin typeface="Arial Rounded"/>
                <a:ea typeface="Arial Rounded"/>
                <a:cs typeface="Arial Rounded"/>
                <a:sym typeface="Arial Rounded"/>
              </a:rPr>
              <a:t>0</a:t>
            </a:r>
            <a:r>
              <a:rPr lang="en-US" sz="2000">
                <a:solidFill>
                  <a:srgbClr val="222222"/>
                </a:solidFill>
                <a:highlight>
                  <a:srgbClr val="FFFFFF"/>
                </a:highlight>
                <a:latin typeface="Arial Rounded"/>
                <a:ea typeface="Arial Rounded"/>
                <a:cs typeface="Arial Rounded"/>
                <a:sym typeface="Arial Rounded"/>
              </a:rPr>
              <a:t>, r</a:t>
            </a:r>
            <a:r>
              <a:rPr baseline="-25000" lang="en-US" sz="2000">
                <a:solidFill>
                  <a:srgbClr val="222222"/>
                </a:solidFill>
                <a:highlight>
                  <a:srgbClr val="FFFFFF"/>
                </a:highlight>
                <a:latin typeface="Arial Rounded"/>
                <a:ea typeface="Arial Rounded"/>
                <a:cs typeface="Arial Rounded"/>
                <a:sym typeface="Arial Rounded"/>
              </a:rPr>
              <a:t>1</a:t>
            </a:r>
            <a:r>
              <a:rPr lang="en-US" sz="2000">
                <a:solidFill>
                  <a:srgbClr val="222222"/>
                </a:solidFill>
                <a:highlight>
                  <a:srgbClr val="FFFFFF"/>
                </a:highlight>
                <a:latin typeface="Arial Rounded"/>
                <a:ea typeface="Arial Rounded"/>
                <a:cs typeface="Arial Rounded"/>
                <a:sym typeface="Arial Rounded"/>
              </a:rPr>
              <a:t>, r</a:t>
            </a:r>
            <a:r>
              <a:rPr baseline="-25000" lang="en-US" sz="2000">
                <a:solidFill>
                  <a:srgbClr val="222222"/>
                </a:solidFill>
                <a:highlight>
                  <a:srgbClr val="FFFFFF"/>
                </a:highlight>
                <a:latin typeface="Arial Rounded"/>
                <a:ea typeface="Arial Rounded"/>
                <a:cs typeface="Arial Rounded"/>
                <a:sym typeface="Arial Rounded"/>
              </a:rPr>
              <a:t>2</a:t>
            </a:r>
            <a:r>
              <a:rPr lang="en-US" sz="2000">
                <a:solidFill>
                  <a:srgbClr val="222222"/>
                </a:solidFill>
                <a:highlight>
                  <a:srgbClr val="FFFFFF"/>
                </a:highlight>
                <a:latin typeface="Arial Rounded"/>
                <a:ea typeface="Arial Rounded"/>
                <a:cs typeface="Arial Rounded"/>
                <a:sym typeface="Arial Rounded"/>
              </a:rPr>
              <a:t>, .., r</a:t>
            </a:r>
            <a:r>
              <a:rPr baseline="-25000" lang="en-US" sz="2000">
                <a:solidFill>
                  <a:srgbClr val="222222"/>
                </a:solidFill>
                <a:highlight>
                  <a:srgbClr val="FFFFFF"/>
                </a:highlight>
                <a:latin typeface="Arial Rounded"/>
                <a:ea typeface="Arial Rounded"/>
                <a:cs typeface="Arial Rounded"/>
                <a:sym typeface="Arial Rounded"/>
              </a:rPr>
              <a:t>n-1</a:t>
            </a:r>
            <a:r>
              <a:rPr lang="en-US" sz="2000">
                <a:solidFill>
                  <a:srgbClr val="222222"/>
                </a:solidFill>
                <a:highlight>
                  <a:srgbClr val="FFFFFF"/>
                </a:highlight>
                <a:latin typeface="Arial Rounded"/>
                <a:ea typeface="Arial Rounded"/>
                <a:cs typeface="Arial Rounded"/>
                <a:sym typeface="Arial Rounded"/>
              </a:rPr>
              <a:t>, where r is one of the tables that is to be joined and n represents the number of processors. Any partitioning technique, round-robin, hash or range partitioning could be used to partition the relation.</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Clr>
                <a:schemeClr val="dk1"/>
              </a:buClr>
              <a:buSzPts val="1100"/>
              <a:buFont typeface="Arial"/>
              <a:buNone/>
            </a:pPr>
            <a:r>
              <a:t/>
            </a:r>
            <a:endParaRPr sz="12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SzPts val="1100"/>
              <a:buNone/>
            </a:pPr>
            <a:r>
              <a:rPr lang="en-US" sz="2000">
                <a:solidFill>
                  <a:srgbClr val="222222"/>
                </a:solidFill>
                <a:highlight>
                  <a:srgbClr val="FFFFFF"/>
                </a:highlight>
                <a:latin typeface="Arial Rounded"/>
                <a:ea typeface="Arial Rounded"/>
                <a:cs typeface="Arial Rounded"/>
                <a:sym typeface="Arial Rounded"/>
              </a:rPr>
              <a:t>2. The system replicates the other table, say s into n processors. That is, the system generates n copies of s and sends to n processors.</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Clr>
                <a:schemeClr val="dk1"/>
              </a:buClr>
              <a:buSzPts val="1100"/>
              <a:buFont typeface="Arial"/>
              <a:buNone/>
            </a:pPr>
            <a:r>
              <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Clr>
                <a:schemeClr val="dk1"/>
              </a:buClr>
              <a:buSzPts val="1100"/>
              <a:buFont typeface="Arial"/>
              <a:buNone/>
            </a:pPr>
            <a:r>
              <a:rPr lang="en-US" sz="2000">
                <a:solidFill>
                  <a:srgbClr val="222222"/>
                </a:solidFill>
                <a:highlight>
                  <a:srgbClr val="FFFFFF"/>
                </a:highlight>
                <a:latin typeface="Arial Rounded"/>
                <a:ea typeface="Arial Rounded"/>
                <a:cs typeface="Arial Rounded"/>
                <a:sym typeface="Arial Rounded"/>
              </a:rPr>
              <a:t>3. Now we have, r</a:t>
            </a:r>
            <a:r>
              <a:rPr baseline="-25000" lang="en-US" sz="2000">
                <a:solidFill>
                  <a:srgbClr val="222222"/>
                </a:solidFill>
                <a:highlight>
                  <a:srgbClr val="FFFFFF"/>
                </a:highlight>
                <a:latin typeface="Arial Rounded"/>
                <a:ea typeface="Arial Rounded"/>
                <a:cs typeface="Arial Rounded"/>
                <a:sym typeface="Arial Rounded"/>
              </a:rPr>
              <a:t>0</a:t>
            </a:r>
            <a:r>
              <a:rPr lang="en-US" sz="2000">
                <a:solidFill>
                  <a:srgbClr val="222222"/>
                </a:solidFill>
                <a:highlight>
                  <a:srgbClr val="FFFFFF"/>
                </a:highlight>
                <a:latin typeface="Arial Rounded"/>
                <a:ea typeface="Arial Rounded"/>
                <a:cs typeface="Arial Rounded"/>
                <a:sym typeface="Arial Rounded"/>
              </a:rPr>
              <a:t> and s in processor P</a:t>
            </a:r>
            <a:r>
              <a:rPr baseline="-25000" lang="en-US" sz="2000">
                <a:solidFill>
                  <a:srgbClr val="222222"/>
                </a:solidFill>
                <a:highlight>
                  <a:srgbClr val="FFFFFF"/>
                </a:highlight>
                <a:latin typeface="Arial Rounded"/>
                <a:ea typeface="Arial Rounded"/>
                <a:cs typeface="Arial Rounded"/>
                <a:sym typeface="Arial Rounded"/>
              </a:rPr>
              <a:t>0</a:t>
            </a:r>
            <a:r>
              <a:rPr lang="en-US" sz="2000">
                <a:solidFill>
                  <a:srgbClr val="222222"/>
                </a:solidFill>
                <a:highlight>
                  <a:srgbClr val="FFFFFF"/>
                </a:highlight>
                <a:latin typeface="Arial Rounded"/>
                <a:ea typeface="Arial Rounded"/>
                <a:cs typeface="Arial Rounded"/>
                <a:sym typeface="Arial Rounded"/>
              </a:rPr>
              <a:t>,  r</a:t>
            </a:r>
            <a:r>
              <a:rPr baseline="-25000" lang="en-US" sz="2000">
                <a:solidFill>
                  <a:srgbClr val="222222"/>
                </a:solidFill>
                <a:highlight>
                  <a:srgbClr val="FFFFFF"/>
                </a:highlight>
                <a:latin typeface="Arial Rounded"/>
                <a:ea typeface="Arial Rounded"/>
                <a:cs typeface="Arial Rounded"/>
                <a:sym typeface="Arial Rounded"/>
              </a:rPr>
              <a:t>1</a:t>
            </a:r>
            <a:r>
              <a:rPr lang="en-US" sz="2000">
                <a:solidFill>
                  <a:srgbClr val="222222"/>
                </a:solidFill>
                <a:highlight>
                  <a:srgbClr val="FFFFFF"/>
                </a:highlight>
                <a:latin typeface="Arial Rounded"/>
                <a:ea typeface="Arial Rounded"/>
                <a:cs typeface="Arial Rounded"/>
                <a:sym typeface="Arial Rounded"/>
              </a:rPr>
              <a:t> and s in processor P</a:t>
            </a:r>
            <a:r>
              <a:rPr baseline="-25000" lang="en-US" sz="2000">
                <a:solidFill>
                  <a:srgbClr val="222222"/>
                </a:solidFill>
                <a:highlight>
                  <a:srgbClr val="FFFFFF"/>
                </a:highlight>
                <a:latin typeface="Arial Rounded"/>
                <a:ea typeface="Arial Rounded"/>
                <a:cs typeface="Arial Rounded"/>
                <a:sym typeface="Arial Rounded"/>
              </a:rPr>
              <a:t>1</a:t>
            </a:r>
            <a:r>
              <a:rPr lang="en-US" sz="2000">
                <a:solidFill>
                  <a:srgbClr val="222222"/>
                </a:solidFill>
                <a:highlight>
                  <a:srgbClr val="FFFFFF"/>
                </a:highlight>
                <a:latin typeface="Arial Rounded"/>
                <a:ea typeface="Arial Rounded"/>
                <a:cs typeface="Arial Rounded"/>
                <a:sym typeface="Arial Rounded"/>
              </a:rPr>
              <a:t>, r</a:t>
            </a:r>
            <a:r>
              <a:rPr baseline="-25000" lang="en-US" sz="2000">
                <a:solidFill>
                  <a:srgbClr val="222222"/>
                </a:solidFill>
                <a:highlight>
                  <a:srgbClr val="FFFFFF"/>
                </a:highlight>
                <a:latin typeface="Arial Rounded"/>
                <a:ea typeface="Arial Rounded"/>
                <a:cs typeface="Arial Rounded"/>
                <a:sym typeface="Arial Rounded"/>
              </a:rPr>
              <a:t>2</a:t>
            </a:r>
            <a:r>
              <a:rPr lang="en-US" sz="2000">
                <a:solidFill>
                  <a:srgbClr val="222222"/>
                </a:solidFill>
                <a:highlight>
                  <a:srgbClr val="FFFFFF"/>
                </a:highlight>
                <a:latin typeface="Arial Rounded"/>
                <a:ea typeface="Arial Rounded"/>
                <a:cs typeface="Arial Rounded"/>
                <a:sym typeface="Arial Rounded"/>
              </a:rPr>
              <a:t> and s in processor P</a:t>
            </a:r>
            <a:r>
              <a:rPr baseline="-25000" lang="en-US" sz="2000">
                <a:solidFill>
                  <a:srgbClr val="222222"/>
                </a:solidFill>
                <a:highlight>
                  <a:srgbClr val="FFFFFF"/>
                </a:highlight>
                <a:latin typeface="Arial Rounded"/>
                <a:ea typeface="Arial Rounded"/>
                <a:cs typeface="Arial Rounded"/>
                <a:sym typeface="Arial Rounded"/>
              </a:rPr>
              <a:t>2</a:t>
            </a:r>
            <a:r>
              <a:rPr lang="en-US" sz="2000">
                <a:solidFill>
                  <a:srgbClr val="222222"/>
                </a:solidFill>
                <a:highlight>
                  <a:srgbClr val="FFFFFF"/>
                </a:highlight>
                <a:latin typeface="Arial Rounded"/>
                <a:ea typeface="Arial Rounded"/>
                <a:cs typeface="Arial Rounded"/>
                <a:sym typeface="Arial Rounded"/>
              </a:rPr>
              <a:t>, .., r</a:t>
            </a:r>
            <a:r>
              <a:rPr baseline="-25000" lang="en-US" sz="2000">
                <a:solidFill>
                  <a:srgbClr val="222222"/>
                </a:solidFill>
                <a:highlight>
                  <a:srgbClr val="FFFFFF"/>
                </a:highlight>
                <a:latin typeface="Arial Rounded"/>
                <a:ea typeface="Arial Rounded"/>
                <a:cs typeface="Arial Rounded"/>
                <a:sym typeface="Arial Rounded"/>
              </a:rPr>
              <a:t>n-1</a:t>
            </a:r>
            <a:r>
              <a:rPr lang="en-US" sz="2000">
                <a:solidFill>
                  <a:srgbClr val="222222"/>
                </a:solidFill>
                <a:highlight>
                  <a:srgbClr val="FFFFFF"/>
                </a:highlight>
                <a:latin typeface="Arial Rounded"/>
                <a:ea typeface="Arial Rounded"/>
                <a:cs typeface="Arial Rounded"/>
                <a:sym typeface="Arial Rounded"/>
              </a:rPr>
              <a:t> and s in processor P</a:t>
            </a:r>
            <a:r>
              <a:rPr baseline="-25000" lang="en-US" sz="2000">
                <a:solidFill>
                  <a:srgbClr val="222222"/>
                </a:solidFill>
                <a:highlight>
                  <a:srgbClr val="FFFFFF"/>
                </a:highlight>
                <a:latin typeface="Arial Rounded"/>
                <a:ea typeface="Arial Rounded"/>
                <a:cs typeface="Arial Rounded"/>
                <a:sym typeface="Arial Rounded"/>
              </a:rPr>
              <a:t>n-1</a:t>
            </a:r>
            <a:r>
              <a:rPr lang="en-US" sz="2000">
                <a:solidFill>
                  <a:srgbClr val="222222"/>
                </a:solidFill>
                <a:highlight>
                  <a:srgbClr val="FFFFFF"/>
                </a:highlight>
                <a:latin typeface="Arial Rounded"/>
                <a:ea typeface="Arial Rounded"/>
                <a:cs typeface="Arial Rounded"/>
                <a:sym typeface="Arial Rounded"/>
              </a:rPr>
              <a:t>. The processor Pi is performing the join locally on r</a:t>
            </a:r>
            <a:r>
              <a:rPr baseline="-25000" lang="en-US" sz="2000">
                <a:solidFill>
                  <a:srgbClr val="222222"/>
                </a:solidFill>
                <a:highlight>
                  <a:srgbClr val="FFFFFF"/>
                </a:highlight>
                <a:latin typeface="Arial Rounded"/>
                <a:ea typeface="Arial Rounded"/>
                <a:cs typeface="Arial Rounded"/>
                <a:sym typeface="Arial Rounded"/>
              </a:rPr>
              <a:t>i</a:t>
            </a:r>
            <a:r>
              <a:rPr lang="en-US" sz="2000">
                <a:solidFill>
                  <a:srgbClr val="222222"/>
                </a:solidFill>
                <a:highlight>
                  <a:srgbClr val="FFFFFF"/>
                </a:highlight>
                <a:latin typeface="Arial Rounded"/>
                <a:ea typeface="Arial Rounded"/>
                <a:cs typeface="Arial Rounded"/>
                <a:sym typeface="Arial Rounded"/>
              </a:rPr>
              <a:t> and s.</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300"/>
              </a:spcAft>
              <a:buSzPts val="1100"/>
              <a:buNone/>
            </a:pPr>
            <a:r>
              <a:t/>
            </a:r>
            <a:endParaRPr b="1" sz="2000">
              <a:solidFill>
                <a:schemeClr val="dk1"/>
              </a:solidFill>
              <a:latin typeface="Arial Rounded"/>
              <a:ea typeface="Arial Rounded"/>
              <a:cs typeface="Arial Rounded"/>
              <a:sym typeface="Arial Rounde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094c81e6b9_0_9"/>
          <p:cNvSpPr txBox="1"/>
          <p:nvPr>
            <p:ph type="title"/>
          </p:nvPr>
        </p:nvSpPr>
        <p:spPr>
          <a:xfrm>
            <a:off x="140335" y="0"/>
            <a:ext cx="11667600" cy="13260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b="1" sz="2700">
              <a:solidFill>
                <a:srgbClr val="7030A0"/>
              </a:solidFill>
              <a:latin typeface="Arial Rounded"/>
              <a:ea typeface="Arial Rounded"/>
              <a:cs typeface="Arial Rounded"/>
              <a:sym typeface="Arial Rounded"/>
            </a:endParaRPr>
          </a:p>
        </p:txBody>
      </p:sp>
      <p:pic>
        <p:nvPicPr>
          <p:cNvPr descr="IMG_257" id="375" name="Google Shape;375;g3094c81e6b9_0_9"/>
          <p:cNvPicPr preferRelativeResize="0"/>
          <p:nvPr>
            <p:ph idx="2" type="body"/>
          </p:nvPr>
        </p:nvPicPr>
        <p:blipFill rotWithShape="1">
          <a:blip r:embed="rId3">
            <a:alphaModFix/>
          </a:blip>
          <a:srcRect b="0" l="0" r="0" t="0"/>
          <a:stretch/>
        </p:blipFill>
        <p:spPr>
          <a:xfrm>
            <a:off x="1271325" y="1133525"/>
            <a:ext cx="10536600" cy="5566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ph type="title"/>
          </p:nvPr>
        </p:nvSpPr>
        <p:spPr>
          <a:xfrm>
            <a:off x="140335" y="0"/>
            <a:ext cx="11667490" cy="132588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b="1" sz="2700">
              <a:solidFill>
                <a:srgbClr val="7030A0"/>
              </a:solidFill>
              <a:latin typeface="Arial Rounded"/>
              <a:ea typeface="Arial Rounded"/>
              <a:cs typeface="Arial Rounded"/>
              <a:sym typeface="Arial Rounded"/>
            </a:endParaRPr>
          </a:p>
        </p:txBody>
      </p:sp>
      <p:sp>
        <p:nvSpPr>
          <p:cNvPr id="381" name="Google Shape;381;p43"/>
          <p:cNvSpPr txBox="1"/>
          <p:nvPr>
            <p:ph idx="1" type="body"/>
          </p:nvPr>
        </p:nvSpPr>
        <p:spPr>
          <a:xfrm>
            <a:off x="226752" y="975360"/>
            <a:ext cx="10515600" cy="43516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800"/>
              <a:buNone/>
            </a:pPr>
            <a:r>
              <a:rPr lang="en-US">
                <a:solidFill>
                  <a:srgbClr val="C00000"/>
                </a:solidFill>
                <a:latin typeface="Times New Roman"/>
                <a:ea typeface="Times New Roman"/>
                <a:cs typeface="Times New Roman"/>
                <a:sym typeface="Times New Roman"/>
              </a:rPr>
              <a:t>(a) Asymmetric Fragment and Replicate Join</a:t>
            </a:r>
            <a:endParaRPr/>
          </a:p>
        </p:txBody>
      </p:sp>
      <p:sp>
        <p:nvSpPr>
          <p:cNvPr id="382" name="Google Shape;382;p43"/>
          <p:cNvSpPr txBox="1"/>
          <p:nvPr/>
        </p:nvSpPr>
        <p:spPr>
          <a:xfrm>
            <a:off x="562714" y="1726125"/>
            <a:ext cx="11245200" cy="25551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Arial Rounded"/>
              <a:buAutoNum type="arabicPeriod"/>
            </a:pPr>
            <a:r>
              <a:rPr b="1" lang="en-US" sz="2000">
                <a:solidFill>
                  <a:schemeClr val="dk1"/>
                </a:solidFill>
                <a:latin typeface="Arial Rounded"/>
                <a:ea typeface="Arial Rounded"/>
                <a:cs typeface="Arial Rounded"/>
                <a:sym typeface="Arial Rounded"/>
              </a:rPr>
              <a:t>Non-equi join can be performed in parallel.</a:t>
            </a:r>
            <a:endParaRPr/>
          </a:p>
          <a:p>
            <a:pPr indent="-330200" lvl="0" marL="457200" marR="0" rtl="0" algn="l">
              <a:spcBef>
                <a:spcPts val="0"/>
              </a:spcBef>
              <a:spcAft>
                <a:spcPts val="0"/>
              </a:spcAft>
              <a:buClr>
                <a:schemeClr val="dk1"/>
              </a:buClr>
              <a:buSzPts val="2000"/>
              <a:buFont typeface="Calibri"/>
              <a:buNone/>
            </a:pPr>
            <a:r>
              <a:t/>
            </a:r>
            <a:endParaRPr b="1" sz="2000">
              <a:solidFill>
                <a:schemeClr val="dk1"/>
              </a:solidFill>
              <a:latin typeface="Arial Rounded"/>
              <a:ea typeface="Arial Rounded"/>
              <a:cs typeface="Arial Rounded"/>
              <a:sym typeface="Arial Rounded"/>
            </a:endParaRPr>
          </a:p>
          <a:p>
            <a:pPr indent="-355600" lvl="0" marL="457200" marR="0" rtl="0" algn="l">
              <a:spcBef>
                <a:spcPts val="0"/>
              </a:spcBef>
              <a:spcAft>
                <a:spcPts val="0"/>
              </a:spcAft>
              <a:buClr>
                <a:schemeClr val="dk1"/>
              </a:buClr>
              <a:buSzPts val="2000"/>
              <a:buFont typeface="Arial Rounded"/>
              <a:buAutoNum type="arabicPeriod"/>
            </a:pPr>
            <a:r>
              <a:rPr b="1" lang="en-US" sz="2000">
                <a:solidFill>
                  <a:schemeClr val="dk1"/>
                </a:solidFill>
                <a:latin typeface="Arial Rounded"/>
                <a:ea typeface="Arial Rounded"/>
                <a:cs typeface="Arial Rounded"/>
                <a:sym typeface="Arial Rounded"/>
              </a:rPr>
              <a:t>If one of the relations to be joined is already partitioned into n processors, this technique is best suited, because we need to replicate the other relation.</a:t>
            </a:r>
            <a:endParaRPr/>
          </a:p>
          <a:p>
            <a:pPr indent="0" lvl="0" marL="0" marR="0" rtl="0" algn="l">
              <a:spcBef>
                <a:spcPts val="0"/>
              </a:spcBef>
              <a:spcAft>
                <a:spcPts val="0"/>
              </a:spcAft>
              <a:buNone/>
            </a:pPr>
            <a:r>
              <a:t/>
            </a:r>
            <a:endParaRPr b="1" sz="2000">
              <a:solidFill>
                <a:schemeClr val="dk1"/>
              </a:solidFill>
              <a:latin typeface="Arial Rounded"/>
              <a:ea typeface="Arial Rounded"/>
              <a:cs typeface="Arial Rounded"/>
              <a:sym typeface="Arial Rounded"/>
            </a:endParaRPr>
          </a:p>
          <a:p>
            <a:pPr indent="-355600" lvl="0" marL="457200" marR="0" rtl="0" algn="l">
              <a:spcBef>
                <a:spcPts val="0"/>
              </a:spcBef>
              <a:spcAft>
                <a:spcPts val="0"/>
              </a:spcAft>
              <a:buClr>
                <a:schemeClr val="dk1"/>
              </a:buClr>
              <a:buSzPts val="2000"/>
              <a:buFont typeface="Arial Rounded"/>
              <a:buAutoNum type="arabicPeriod"/>
            </a:pPr>
            <a:r>
              <a:rPr b="1" lang="en-US" sz="2000">
                <a:solidFill>
                  <a:schemeClr val="dk1"/>
                </a:solidFill>
                <a:latin typeface="Arial Rounded"/>
                <a:ea typeface="Arial Rounded"/>
                <a:cs typeface="Arial Rounded"/>
                <a:sym typeface="Arial Rounded"/>
              </a:rPr>
              <a:t>Unlike in Partitioned Join, any partitioning techniques can be used.</a:t>
            </a:r>
            <a:endParaRPr/>
          </a:p>
          <a:p>
            <a:pPr indent="0" lvl="0" marL="0" marR="0" rtl="0" algn="l">
              <a:spcBef>
                <a:spcPts val="0"/>
              </a:spcBef>
              <a:spcAft>
                <a:spcPts val="0"/>
              </a:spcAft>
              <a:buNone/>
            </a:pPr>
            <a:r>
              <a:t/>
            </a:r>
            <a:endParaRPr b="1" sz="2000">
              <a:solidFill>
                <a:schemeClr val="dk1"/>
              </a:solidFill>
              <a:latin typeface="Arial Rounded"/>
              <a:ea typeface="Arial Rounded"/>
              <a:cs typeface="Arial Rounded"/>
              <a:sym typeface="Arial Rounded"/>
            </a:endParaRPr>
          </a:p>
          <a:p>
            <a:pPr indent="-355600" lvl="0" marL="457200" marR="0" rtl="0" algn="l">
              <a:spcBef>
                <a:spcPts val="0"/>
              </a:spcBef>
              <a:spcAft>
                <a:spcPts val="0"/>
              </a:spcAft>
              <a:buClr>
                <a:schemeClr val="dk1"/>
              </a:buClr>
              <a:buSzPts val="2000"/>
              <a:buFont typeface="Arial Rounded"/>
              <a:buAutoNum type="arabicPeriod"/>
            </a:pPr>
            <a:r>
              <a:rPr b="1" lang="en-US" sz="2000">
                <a:solidFill>
                  <a:schemeClr val="dk1"/>
                </a:solidFill>
                <a:latin typeface="Arial Rounded"/>
                <a:ea typeface="Arial Rounded"/>
                <a:cs typeface="Arial Rounded"/>
                <a:sym typeface="Arial Rounded"/>
              </a:rPr>
              <a:t>If one of the relations to be joined is very small, the technique performs better.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4"/>
          <p:cNvSpPr txBox="1"/>
          <p:nvPr>
            <p:ph type="title"/>
          </p:nvPr>
        </p:nvSpPr>
        <p:spPr>
          <a:xfrm>
            <a:off x="491490" y="337416"/>
            <a:ext cx="11325860" cy="132588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a:p>
        </p:txBody>
      </p:sp>
      <p:sp>
        <p:nvSpPr>
          <p:cNvPr id="388" name="Google Shape;388;p44"/>
          <p:cNvSpPr txBox="1"/>
          <p:nvPr>
            <p:ph idx="1" type="body"/>
          </p:nvPr>
        </p:nvSpPr>
        <p:spPr>
          <a:xfrm>
            <a:off x="491500" y="1385225"/>
            <a:ext cx="11454000" cy="43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2700"/>
              <a:buNone/>
            </a:pPr>
            <a:r>
              <a:rPr lang="en-US">
                <a:solidFill>
                  <a:srgbClr val="C00000"/>
                </a:solidFill>
                <a:latin typeface="Times New Roman"/>
                <a:ea typeface="Times New Roman"/>
                <a:cs typeface="Times New Roman"/>
                <a:sym typeface="Times New Roman"/>
              </a:rPr>
              <a:t>(b) Fragment and Replicate Join</a:t>
            </a:r>
            <a:endParaRPr/>
          </a:p>
          <a:p>
            <a:pPr indent="0" lvl="0" marL="0" rtl="0" algn="l">
              <a:lnSpc>
                <a:spcPct val="90000"/>
              </a:lnSpc>
              <a:spcBef>
                <a:spcPts val="1000"/>
              </a:spcBef>
              <a:spcAft>
                <a:spcPts val="0"/>
              </a:spcAft>
              <a:buClr>
                <a:schemeClr val="dk1"/>
              </a:buClr>
              <a:buSzPts val="2700"/>
              <a:buNone/>
            </a:pPr>
            <a:r>
              <a:t/>
            </a:r>
            <a:endParaRPr sz="2000">
              <a:solidFill>
                <a:srgbClr val="C00000"/>
              </a:solidFill>
              <a:latin typeface="Times New Roman"/>
              <a:ea typeface="Times New Roman"/>
              <a:cs typeface="Times New Roman"/>
              <a:sym typeface="Times New Roman"/>
            </a:endParaRPr>
          </a:p>
          <a:p>
            <a:pPr indent="-241300" lvl="1" marL="685800" rtl="0" algn="just">
              <a:lnSpc>
                <a:spcPct val="115000"/>
              </a:lnSpc>
              <a:spcBef>
                <a:spcPts val="0"/>
              </a:spcBef>
              <a:spcAft>
                <a:spcPts val="0"/>
              </a:spcAft>
              <a:buSzPts val="2000"/>
              <a:buFont typeface="Arial Rounded"/>
              <a:buChar char="•"/>
            </a:pPr>
            <a:r>
              <a:rPr lang="en-US" sz="2000">
                <a:solidFill>
                  <a:srgbClr val="222222"/>
                </a:solidFill>
                <a:highlight>
                  <a:srgbClr val="FFFFFF"/>
                </a:highlight>
                <a:latin typeface="Arial Rounded"/>
                <a:ea typeface="Arial Rounded"/>
                <a:cs typeface="Arial Rounded"/>
                <a:sym typeface="Arial Rounded"/>
              </a:rPr>
              <a:t>It is the general case of Asymmetric Fragment-and-Replicate join technique. Asymmetric technique is best suited if one of the relations to be joined is small, and if it can fit into memory. If the relations that are to be joined are large, and the joins is non-equal then we need to use Fragment-and-Replicate Join. It works as follows;</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None/>
            </a:pPr>
            <a:r>
              <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None/>
            </a:pPr>
            <a:r>
              <a:rPr lang="en-US" sz="2000">
                <a:solidFill>
                  <a:srgbClr val="222222"/>
                </a:solidFill>
                <a:highlight>
                  <a:srgbClr val="FFFFFF"/>
                </a:highlight>
                <a:latin typeface="Arial Rounded"/>
                <a:ea typeface="Arial Rounded"/>
                <a:cs typeface="Arial Rounded"/>
                <a:sym typeface="Arial Rounded"/>
              </a:rPr>
              <a:t>1. The system fragments table r into m fragments such that r</a:t>
            </a:r>
            <a:r>
              <a:rPr baseline="-25000" lang="en-US" sz="2000">
                <a:solidFill>
                  <a:srgbClr val="222222"/>
                </a:solidFill>
                <a:highlight>
                  <a:srgbClr val="FFFFFF"/>
                </a:highlight>
                <a:latin typeface="Arial Rounded"/>
                <a:ea typeface="Arial Rounded"/>
                <a:cs typeface="Arial Rounded"/>
                <a:sym typeface="Arial Rounded"/>
              </a:rPr>
              <a:t>0</a:t>
            </a:r>
            <a:r>
              <a:rPr lang="en-US" sz="2000">
                <a:solidFill>
                  <a:srgbClr val="222222"/>
                </a:solidFill>
                <a:highlight>
                  <a:srgbClr val="FFFFFF"/>
                </a:highlight>
                <a:latin typeface="Arial Rounded"/>
                <a:ea typeface="Arial Rounded"/>
                <a:cs typeface="Arial Rounded"/>
                <a:sym typeface="Arial Rounded"/>
              </a:rPr>
              <a:t>, r</a:t>
            </a:r>
            <a:r>
              <a:rPr baseline="-25000" lang="en-US" sz="2000">
                <a:solidFill>
                  <a:srgbClr val="222222"/>
                </a:solidFill>
                <a:highlight>
                  <a:srgbClr val="FFFFFF"/>
                </a:highlight>
                <a:latin typeface="Arial Rounded"/>
                <a:ea typeface="Arial Rounded"/>
                <a:cs typeface="Arial Rounded"/>
                <a:sym typeface="Arial Rounded"/>
              </a:rPr>
              <a:t>1</a:t>
            </a:r>
            <a:r>
              <a:rPr lang="en-US" sz="2000">
                <a:solidFill>
                  <a:srgbClr val="222222"/>
                </a:solidFill>
                <a:highlight>
                  <a:srgbClr val="FFFFFF"/>
                </a:highlight>
                <a:latin typeface="Arial Rounded"/>
                <a:ea typeface="Arial Rounded"/>
                <a:cs typeface="Arial Rounded"/>
                <a:sym typeface="Arial Rounded"/>
              </a:rPr>
              <a:t>, r</a:t>
            </a:r>
            <a:r>
              <a:rPr baseline="-25000" lang="en-US" sz="2000">
                <a:solidFill>
                  <a:srgbClr val="222222"/>
                </a:solidFill>
                <a:highlight>
                  <a:srgbClr val="FFFFFF"/>
                </a:highlight>
                <a:latin typeface="Arial Rounded"/>
                <a:ea typeface="Arial Rounded"/>
                <a:cs typeface="Arial Rounded"/>
                <a:sym typeface="Arial Rounded"/>
              </a:rPr>
              <a:t>2</a:t>
            </a:r>
            <a:r>
              <a:rPr lang="en-US" sz="2000">
                <a:solidFill>
                  <a:srgbClr val="222222"/>
                </a:solidFill>
                <a:highlight>
                  <a:srgbClr val="FFFFFF"/>
                </a:highlight>
                <a:latin typeface="Arial Rounded"/>
                <a:ea typeface="Arial Rounded"/>
                <a:cs typeface="Arial Rounded"/>
                <a:sym typeface="Arial Rounded"/>
              </a:rPr>
              <a:t>, .., r</a:t>
            </a:r>
            <a:r>
              <a:rPr baseline="-25000" lang="en-US" sz="2000">
                <a:solidFill>
                  <a:srgbClr val="222222"/>
                </a:solidFill>
                <a:highlight>
                  <a:srgbClr val="FFFFFF"/>
                </a:highlight>
                <a:latin typeface="Arial Rounded"/>
                <a:ea typeface="Arial Rounded"/>
                <a:cs typeface="Arial Rounded"/>
                <a:sym typeface="Arial Rounded"/>
              </a:rPr>
              <a:t>m-1</a:t>
            </a:r>
            <a:r>
              <a:rPr lang="en-US" sz="2000">
                <a:solidFill>
                  <a:srgbClr val="222222"/>
                </a:solidFill>
                <a:highlight>
                  <a:srgbClr val="FFFFFF"/>
                </a:highlight>
                <a:latin typeface="Arial Rounded"/>
                <a:ea typeface="Arial Rounded"/>
                <a:cs typeface="Arial Rounded"/>
                <a:sym typeface="Arial Rounded"/>
              </a:rPr>
              <a:t>, and s into n fragments such that s</a:t>
            </a:r>
            <a:r>
              <a:rPr baseline="-25000" lang="en-US" sz="2000">
                <a:solidFill>
                  <a:srgbClr val="222222"/>
                </a:solidFill>
                <a:highlight>
                  <a:srgbClr val="FFFFFF"/>
                </a:highlight>
                <a:latin typeface="Arial Rounded"/>
                <a:ea typeface="Arial Rounded"/>
                <a:cs typeface="Arial Rounded"/>
                <a:sym typeface="Arial Rounded"/>
              </a:rPr>
              <a:t>0</a:t>
            </a:r>
            <a:r>
              <a:rPr lang="en-US" sz="2000">
                <a:solidFill>
                  <a:srgbClr val="222222"/>
                </a:solidFill>
                <a:highlight>
                  <a:srgbClr val="FFFFFF"/>
                </a:highlight>
                <a:latin typeface="Arial Rounded"/>
                <a:ea typeface="Arial Rounded"/>
                <a:cs typeface="Arial Rounded"/>
                <a:sym typeface="Arial Rounded"/>
              </a:rPr>
              <a:t>, s</a:t>
            </a:r>
            <a:r>
              <a:rPr baseline="-25000" lang="en-US" sz="2000">
                <a:solidFill>
                  <a:srgbClr val="222222"/>
                </a:solidFill>
                <a:highlight>
                  <a:srgbClr val="FFFFFF"/>
                </a:highlight>
                <a:latin typeface="Arial Rounded"/>
                <a:ea typeface="Arial Rounded"/>
                <a:cs typeface="Arial Rounded"/>
                <a:sym typeface="Arial Rounded"/>
              </a:rPr>
              <a:t>1</a:t>
            </a:r>
            <a:r>
              <a:rPr lang="en-US" sz="2000">
                <a:solidFill>
                  <a:srgbClr val="222222"/>
                </a:solidFill>
                <a:highlight>
                  <a:srgbClr val="FFFFFF"/>
                </a:highlight>
                <a:latin typeface="Arial Rounded"/>
                <a:ea typeface="Arial Rounded"/>
                <a:cs typeface="Arial Rounded"/>
                <a:sym typeface="Arial Rounded"/>
              </a:rPr>
              <a:t>, s</a:t>
            </a:r>
            <a:r>
              <a:rPr baseline="-25000" lang="en-US" sz="2000">
                <a:solidFill>
                  <a:srgbClr val="222222"/>
                </a:solidFill>
                <a:highlight>
                  <a:srgbClr val="FFFFFF"/>
                </a:highlight>
                <a:latin typeface="Arial Rounded"/>
                <a:ea typeface="Arial Rounded"/>
                <a:cs typeface="Arial Rounded"/>
                <a:sym typeface="Arial Rounded"/>
              </a:rPr>
              <a:t>2</a:t>
            </a:r>
            <a:r>
              <a:rPr lang="en-US" sz="2000">
                <a:solidFill>
                  <a:srgbClr val="222222"/>
                </a:solidFill>
                <a:highlight>
                  <a:srgbClr val="FFFFFF"/>
                </a:highlight>
                <a:latin typeface="Arial Rounded"/>
                <a:ea typeface="Arial Rounded"/>
                <a:cs typeface="Arial Rounded"/>
                <a:sym typeface="Arial Rounded"/>
              </a:rPr>
              <a:t>, .., s</a:t>
            </a:r>
            <a:r>
              <a:rPr baseline="-25000" lang="en-US" sz="2000">
                <a:solidFill>
                  <a:srgbClr val="222222"/>
                </a:solidFill>
                <a:highlight>
                  <a:srgbClr val="FFFFFF"/>
                </a:highlight>
                <a:latin typeface="Arial Rounded"/>
                <a:ea typeface="Arial Rounded"/>
                <a:cs typeface="Arial Rounded"/>
                <a:sym typeface="Arial Rounded"/>
              </a:rPr>
              <a:t>n-1 . </a:t>
            </a:r>
            <a:r>
              <a:rPr lang="en-US" sz="2000">
                <a:solidFill>
                  <a:srgbClr val="222222"/>
                </a:solidFill>
                <a:highlight>
                  <a:srgbClr val="FFFFFF"/>
                </a:highlight>
                <a:latin typeface="Arial Rounded"/>
                <a:ea typeface="Arial Rounded"/>
                <a:cs typeface="Arial Rounded"/>
                <a:sym typeface="Arial Rounded"/>
              </a:rPr>
              <a:t>Any partitioning technique, round-robin, hash or range partitioning could be used to partition the relations.</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None/>
            </a:pPr>
            <a:r>
              <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None/>
            </a:pPr>
            <a:r>
              <a:rPr lang="en-US" sz="2000">
                <a:solidFill>
                  <a:srgbClr val="222222"/>
                </a:solidFill>
                <a:highlight>
                  <a:srgbClr val="FFFFFF"/>
                </a:highlight>
                <a:latin typeface="Arial Rounded"/>
                <a:ea typeface="Arial Rounded"/>
                <a:cs typeface="Arial Rounded"/>
                <a:sym typeface="Arial Rounded"/>
              </a:rPr>
              <a:t>2. The values for m and n are chosen based on the availability of processor. That is, we need at least m*n processors to perform join.</a:t>
            </a:r>
            <a:endParaRPr sz="2000">
              <a:solidFill>
                <a:srgbClr val="222222"/>
              </a:solidFill>
              <a:highlight>
                <a:srgbClr val="FFFFFF"/>
              </a:highlight>
              <a:latin typeface="Arial Rounded"/>
              <a:ea typeface="Arial Rounded"/>
              <a:cs typeface="Arial Rounded"/>
              <a:sym typeface="Arial Rounded"/>
            </a:endParaRPr>
          </a:p>
          <a:p>
            <a:pPr indent="0" lvl="0" marL="0" rtl="0" algn="l">
              <a:lnSpc>
                <a:spcPct val="90000"/>
              </a:lnSpc>
              <a:spcBef>
                <a:spcPts val="500"/>
              </a:spcBef>
              <a:spcAft>
                <a:spcPts val="0"/>
              </a:spcAft>
              <a:buNone/>
            </a:pPr>
            <a:r>
              <a:t/>
            </a:r>
            <a:endParaRPr b="1" sz="2000">
              <a:latin typeface="Arial Rounded"/>
              <a:ea typeface="Arial Rounded"/>
              <a:cs typeface="Arial Rounded"/>
              <a:sym typeface="Arial Rounde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094c81e6b9_0_24"/>
          <p:cNvSpPr txBox="1"/>
          <p:nvPr>
            <p:ph type="title"/>
          </p:nvPr>
        </p:nvSpPr>
        <p:spPr>
          <a:xfrm>
            <a:off x="433040" y="102666"/>
            <a:ext cx="11325900" cy="13260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a:p>
        </p:txBody>
      </p:sp>
      <p:sp>
        <p:nvSpPr>
          <p:cNvPr id="394" name="Google Shape;394;g3094c81e6b9_0_24"/>
          <p:cNvSpPr txBox="1"/>
          <p:nvPr>
            <p:ph idx="1" type="body"/>
          </p:nvPr>
        </p:nvSpPr>
        <p:spPr>
          <a:xfrm>
            <a:off x="201375" y="1102175"/>
            <a:ext cx="11860200" cy="4351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2700"/>
              <a:buNone/>
            </a:pPr>
            <a:r>
              <a:rPr lang="en-US">
                <a:solidFill>
                  <a:srgbClr val="C00000"/>
                </a:solidFill>
                <a:latin typeface="Times New Roman"/>
                <a:ea typeface="Times New Roman"/>
                <a:cs typeface="Times New Roman"/>
                <a:sym typeface="Times New Roman"/>
              </a:rPr>
              <a:t>(b) Fragment and Replicate Join</a:t>
            </a:r>
            <a:endParaRPr/>
          </a:p>
          <a:p>
            <a:pPr indent="0" lvl="0" marL="0" rtl="0" algn="just">
              <a:lnSpc>
                <a:spcPct val="115000"/>
              </a:lnSpc>
              <a:spcBef>
                <a:spcPts val="0"/>
              </a:spcBef>
              <a:spcAft>
                <a:spcPts val="0"/>
              </a:spcAft>
              <a:buNone/>
            </a:pPr>
            <a:r>
              <a:rPr lang="en-US" sz="2000">
                <a:solidFill>
                  <a:srgbClr val="222222"/>
                </a:solidFill>
                <a:highlight>
                  <a:srgbClr val="FFFFFF"/>
                </a:highlight>
                <a:latin typeface="Arial Rounded"/>
                <a:ea typeface="Arial Rounded"/>
                <a:cs typeface="Arial Rounded"/>
                <a:sym typeface="Arial Rounded"/>
              </a:rPr>
              <a:t>3. Now we have to distribute all the partitions of r and s into available processors. And, </a:t>
            </a:r>
            <a:r>
              <a:rPr b="1" i="1" lang="en-US" sz="2000">
                <a:solidFill>
                  <a:srgbClr val="222222"/>
                </a:solidFill>
                <a:highlight>
                  <a:srgbClr val="FFFFFF"/>
                </a:highlight>
                <a:latin typeface="Times New Roman"/>
                <a:ea typeface="Times New Roman"/>
                <a:cs typeface="Times New Roman"/>
                <a:sym typeface="Times New Roman"/>
              </a:rPr>
              <a:t>remember that we need to compare every tuple of one relation with every tuple of other relation. That is the records of r</a:t>
            </a:r>
            <a:r>
              <a:rPr b="1" baseline="-25000" i="1" lang="en-US" sz="2000">
                <a:solidFill>
                  <a:srgbClr val="222222"/>
                </a:solidFill>
                <a:highlight>
                  <a:srgbClr val="FFFFFF"/>
                </a:highlight>
                <a:latin typeface="Times New Roman"/>
                <a:ea typeface="Times New Roman"/>
                <a:cs typeface="Times New Roman"/>
                <a:sym typeface="Times New Roman"/>
              </a:rPr>
              <a:t>0</a:t>
            </a:r>
            <a:r>
              <a:rPr b="1" i="1" lang="en-US" sz="2000">
                <a:solidFill>
                  <a:srgbClr val="222222"/>
                </a:solidFill>
                <a:highlight>
                  <a:srgbClr val="FFFFFF"/>
                </a:highlight>
                <a:latin typeface="Times New Roman"/>
                <a:ea typeface="Times New Roman"/>
                <a:cs typeface="Times New Roman"/>
                <a:sym typeface="Times New Roman"/>
              </a:rPr>
              <a:t> partition should be compared with all partitions of s, and the records of partition s</a:t>
            </a:r>
            <a:r>
              <a:rPr b="1" baseline="-25000" i="1" lang="en-US" sz="2000">
                <a:solidFill>
                  <a:srgbClr val="222222"/>
                </a:solidFill>
                <a:highlight>
                  <a:srgbClr val="FFFFFF"/>
                </a:highlight>
                <a:latin typeface="Times New Roman"/>
                <a:ea typeface="Times New Roman"/>
                <a:cs typeface="Times New Roman"/>
                <a:sym typeface="Times New Roman"/>
              </a:rPr>
              <a:t>0</a:t>
            </a:r>
            <a:r>
              <a:rPr b="1" i="1" lang="en-US" sz="2000">
                <a:solidFill>
                  <a:srgbClr val="222222"/>
                </a:solidFill>
                <a:highlight>
                  <a:srgbClr val="FFFFFF"/>
                </a:highlight>
                <a:latin typeface="Times New Roman"/>
                <a:ea typeface="Times New Roman"/>
                <a:cs typeface="Times New Roman"/>
                <a:sym typeface="Times New Roman"/>
              </a:rPr>
              <a:t> should be compared with all partitions of r.</a:t>
            </a:r>
            <a:r>
              <a:rPr lang="en-US" sz="2000">
                <a:solidFill>
                  <a:srgbClr val="222222"/>
                </a:solidFill>
                <a:highlight>
                  <a:srgbClr val="FFFFFF"/>
                </a:highlight>
                <a:latin typeface="Times New Roman"/>
                <a:ea typeface="Times New Roman"/>
                <a:cs typeface="Times New Roman"/>
                <a:sym typeface="Times New Roman"/>
              </a:rPr>
              <a:t> </a:t>
            </a:r>
            <a:r>
              <a:rPr lang="en-US" sz="2000">
                <a:solidFill>
                  <a:srgbClr val="222222"/>
                </a:solidFill>
                <a:highlight>
                  <a:srgbClr val="FFFFFF"/>
                </a:highlight>
                <a:latin typeface="Arial Rounded"/>
                <a:ea typeface="Arial Rounded"/>
                <a:cs typeface="Arial Rounded"/>
                <a:sym typeface="Arial Rounded"/>
              </a:rPr>
              <a:t>This must be done with all the partitions of r and s as mentioned above. Hence, the data distribution is done as follows;</a:t>
            </a:r>
            <a:endParaRPr sz="2000">
              <a:solidFill>
                <a:srgbClr val="222222"/>
              </a:solidFill>
              <a:highlight>
                <a:srgbClr val="FFFFFF"/>
              </a:highlight>
              <a:latin typeface="Arial Rounded"/>
              <a:ea typeface="Arial Rounded"/>
              <a:cs typeface="Arial Rounded"/>
              <a:sym typeface="Arial Rounded"/>
            </a:endParaRPr>
          </a:p>
          <a:p>
            <a:pPr indent="0" lvl="0" marL="685800" rtl="0" algn="just">
              <a:lnSpc>
                <a:spcPct val="115000"/>
              </a:lnSpc>
              <a:spcBef>
                <a:spcPts val="300"/>
              </a:spcBef>
              <a:spcAft>
                <a:spcPts val="0"/>
              </a:spcAft>
              <a:buNone/>
            </a:pPr>
            <a:r>
              <a:rPr b="1" lang="en-US" sz="2000">
                <a:solidFill>
                  <a:srgbClr val="222222"/>
                </a:solidFill>
                <a:highlight>
                  <a:srgbClr val="FFFFFF"/>
                </a:highlight>
                <a:latin typeface="Arial Rounded"/>
                <a:ea typeface="Arial Rounded"/>
                <a:cs typeface="Arial Rounded"/>
                <a:sym typeface="Arial Rounded"/>
              </a:rPr>
              <a:t>a. </a:t>
            </a:r>
            <a:r>
              <a:rPr lang="en-US" sz="2000">
                <a:solidFill>
                  <a:srgbClr val="222222"/>
                </a:solidFill>
                <a:highlight>
                  <a:srgbClr val="FFFFFF"/>
                </a:highlight>
                <a:latin typeface="Arial Rounded"/>
                <a:ea typeface="Arial Rounded"/>
                <a:cs typeface="Arial Rounded"/>
                <a:sym typeface="Arial Rounded"/>
              </a:rPr>
              <a:t>As we need m*n processors, let us assume that we have processors P</a:t>
            </a:r>
            <a:r>
              <a:rPr baseline="-25000" lang="en-US" sz="2000">
                <a:solidFill>
                  <a:srgbClr val="222222"/>
                </a:solidFill>
                <a:highlight>
                  <a:srgbClr val="FFFFFF"/>
                </a:highlight>
                <a:latin typeface="Arial Rounded"/>
                <a:ea typeface="Arial Rounded"/>
                <a:cs typeface="Arial Rounded"/>
                <a:sym typeface="Arial Rounded"/>
              </a:rPr>
              <a:t>0,0</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0,1</a:t>
            </a:r>
            <a:r>
              <a:rPr lang="en-US" sz="2000">
                <a:solidFill>
                  <a:srgbClr val="222222"/>
                </a:solidFill>
                <a:highlight>
                  <a:srgbClr val="FFFFFF"/>
                </a:highlight>
                <a:latin typeface="Arial Rounded"/>
                <a:ea typeface="Arial Rounded"/>
                <a:cs typeface="Arial Rounded"/>
                <a:sym typeface="Arial Rounded"/>
              </a:rPr>
              <a:t>, …, P</a:t>
            </a:r>
            <a:r>
              <a:rPr baseline="-25000" lang="en-US" sz="2000">
                <a:solidFill>
                  <a:srgbClr val="222222"/>
                </a:solidFill>
                <a:highlight>
                  <a:srgbClr val="FFFFFF"/>
                </a:highlight>
                <a:latin typeface="Arial Rounded"/>
                <a:ea typeface="Arial Rounded"/>
                <a:cs typeface="Arial Rounded"/>
                <a:sym typeface="Arial Rounded"/>
              </a:rPr>
              <a:t>0,n-1</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1,0</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1,1</a:t>
            </a:r>
            <a:r>
              <a:rPr lang="en-US" sz="2000">
                <a:solidFill>
                  <a:srgbClr val="222222"/>
                </a:solidFill>
                <a:highlight>
                  <a:srgbClr val="FFFFFF"/>
                </a:highlight>
                <a:latin typeface="Arial Rounded"/>
                <a:ea typeface="Arial Rounded"/>
                <a:cs typeface="Arial Rounded"/>
                <a:sym typeface="Arial Rounded"/>
              </a:rPr>
              <a:t>, …, P</a:t>
            </a:r>
            <a:r>
              <a:rPr baseline="-25000" lang="en-US" sz="2000">
                <a:solidFill>
                  <a:srgbClr val="222222"/>
                </a:solidFill>
                <a:highlight>
                  <a:srgbClr val="FFFFFF"/>
                </a:highlight>
                <a:latin typeface="Arial Rounded"/>
                <a:ea typeface="Arial Rounded"/>
                <a:cs typeface="Arial Rounded"/>
                <a:sym typeface="Arial Rounded"/>
              </a:rPr>
              <a:t>m-1,n-1</a:t>
            </a:r>
            <a:r>
              <a:rPr lang="en-US" sz="2000">
                <a:solidFill>
                  <a:srgbClr val="222222"/>
                </a:solidFill>
                <a:highlight>
                  <a:srgbClr val="FFFFFF"/>
                </a:highlight>
                <a:latin typeface="Arial Rounded"/>
                <a:ea typeface="Arial Rounded"/>
                <a:cs typeface="Arial Rounded"/>
                <a:sym typeface="Arial Rounded"/>
              </a:rPr>
              <a:t>. Thus, processor P</a:t>
            </a:r>
            <a:r>
              <a:rPr baseline="-25000" lang="en-US" sz="2000">
                <a:solidFill>
                  <a:srgbClr val="222222"/>
                </a:solidFill>
                <a:highlight>
                  <a:srgbClr val="FFFFFF"/>
                </a:highlight>
                <a:latin typeface="Arial Rounded"/>
                <a:ea typeface="Arial Rounded"/>
                <a:cs typeface="Arial Rounded"/>
                <a:sym typeface="Arial Rounded"/>
              </a:rPr>
              <a:t>i,j</a:t>
            </a:r>
            <a:r>
              <a:rPr lang="en-US" sz="2000">
                <a:solidFill>
                  <a:srgbClr val="222222"/>
                </a:solidFill>
                <a:highlight>
                  <a:srgbClr val="FFFFFF"/>
                </a:highlight>
                <a:latin typeface="Arial Rounded"/>
                <a:ea typeface="Arial Rounded"/>
                <a:cs typeface="Arial Rounded"/>
                <a:sym typeface="Arial Rounded"/>
              </a:rPr>
              <a:t> performs the join of r</a:t>
            </a:r>
            <a:r>
              <a:rPr baseline="-25000" lang="en-US" sz="2000">
                <a:solidFill>
                  <a:srgbClr val="222222"/>
                </a:solidFill>
                <a:highlight>
                  <a:srgbClr val="FFFFFF"/>
                </a:highlight>
                <a:latin typeface="Arial Rounded"/>
                <a:ea typeface="Arial Rounded"/>
                <a:cs typeface="Arial Rounded"/>
                <a:sym typeface="Arial Rounded"/>
              </a:rPr>
              <a:t>i</a:t>
            </a:r>
            <a:r>
              <a:rPr lang="en-US" sz="2000">
                <a:solidFill>
                  <a:srgbClr val="222222"/>
                </a:solidFill>
                <a:highlight>
                  <a:srgbClr val="FFFFFF"/>
                </a:highlight>
                <a:latin typeface="Arial Rounded"/>
                <a:ea typeface="Arial Rounded"/>
                <a:cs typeface="Arial Rounded"/>
                <a:sym typeface="Arial Rounded"/>
              </a:rPr>
              <a:t> with s</a:t>
            </a:r>
            <a:r>
              <a:rPr baseline="-25000" lang="en-US" sz="2000">
                <a:solidFill>
                  <a:srgbClr val="222222"/>
                </a:solidFill>
                <a:highlight>
                  <a:srgbClr val="FFFFFF"/>
                </a:highlight>
                <a:latin typeface="Arial Rounded"/>
                <a:ea typeface="Arial Rounded"/>
                <a:cs typeface="Arial Rounded"/>
                <a:sym typeface="Arial Rounded"/>
              </a:rPr>
              <a:t>j</a:t>
            </a:r>
            <a:r>
              <a:rPr lang="en-US" sz="2000">
                <a:solidFill>
                  <a:srgbClr val="222222"/>
                </a:solidFill>
                <a:highlight>
                  <a:srgbClr val="FFFFFF"/>
                </a:highlight>
                <a:latin typeface="Arial Rounded"/>
                <a:ea typeface="Arial Rounded"/>
                <a:cs typeface="Arial Rounded"/>
                <a:sym typeface="Arial Rounded"/>
              </a:rPr>
              <a:t>.</a:t>
            </a:r>
            <a:endParaRPr sz="2000">
              <a:solidFill>
                <a:srgbClr val="222222"/>
              </a:solidFill>
              <a:highlight>
                <a:srgbClr val="FFFFFF"/>
              </a:highlight>
              <a:latin typeface="Arial Rounded"/>
              <a:ea typeface="Arial Rounded"/>
              <a:cs typeface="Arial Rounded"/>
              <a:sym typeface="Arial Rounded"/>
            </a:endParaRPr>
          </a:p>
          <a:p>
            <a:pPr indent="0" lvl="0" marL="685800" rtl="0" algn="just">
              <a:lnSpc>
                <a:spcPct val="115000"/>
              </a:lnSpc>
              <a:spcBef>
                <a:spcPts val="300"/>
              </a:spcBef>
              <a:spcAft>
                <a:spcPts val="0"/>
              </a:spcAft>
              <a:buNone/>
            </a:pPr>
            <a:r>
              <a:rPr b="1" lang="en-US" sz="2000">
                <a:solidFill>
                  <a:srgbClr val="222222"/>
                </a:solidFill>
                <a:highlight>
                  <a:srgbClr val="FFFFFF"/>
                </a:highlight>
                <a:latin typeface="Arial Rounded"/>
                <a:ea typeface="Arial Rounded"/>
                <a:cs typeface="Arial Rounded"/>
                <a:sym typeface="Arial Rounded"/>
              </a:rPr>
              <a:t>b.</a:t>
            </a:r>
            <a:r>
              <a:rPr lang="en-US" sz="2000">
                <a:solidFill>
                  <a:srgbClr val="222222"/>
                </a:solidFill>
                <a:highlight>
                  <a:srgbClr val="FFFFFF"/>
                </a:highlight>
                <a:latin typeface="Arial Rounded"/>
                <a:ea typeface="Arial Rounded"/>
                <a:cs typeface="Arial Rounded"/>
                <a:sym typeface="Arial Rounded"/>
              </a:rPr>
              <a:t> To ensure the comparison of every partition of r with every other partition of s, we replicate r</a:t>
            </a:r>
            <a:r>
              <a:rPr baseline="-25000" lang="en-US" sz="2000">
                <a:solidFill>
                  <a:srgbClr val="222222"/>
                </a:solidFill>
                <a:highlight>
                  <a:srgbClr val="FFFFFF"/>
                </a:highlight>
                <a:latin typeface="Arial Rounded"/>
                <a:ea typeface="Arial Rounded"/>
                <a:cs typeface="Arial Rounded"/>
                <a:sym typeface="Arial Rounded"/>
              </a:rPr>
              <a:t>i</a:t>
            </a:r>
            <a:r>
              <a:rPr lang="en-US" sz="2000">
                <a:solidFill>
                  <a:srgbClr val="222222"/>
                </a:solidFill>
                <a:highlight>
                  <a:srgbClr val="FFFFFF"/>
                </a:highlight>
                <a:latin typeface="Arial Rounded"/>
                <a:ea typeface="Arial Rounded"/>
                <a:cs typeface="Arial Rounded"/>
                <a:sym typeface="Arial Rounded"/>
              </a:rPr>
              <a:t> with the processors, P</a:t>
            </a:r>
            <a:r>
              <a:rPr baseline="-25000" lang="en-US" sz="2000">
                <a:solidFill>
                  <a:srgbClr val="222222"/>
                </a:solidFill>
                <a:highlight>
                  <a:srgbClr val="FFFFFF"/>
                </a:highlight>
                <a:latin typeface="Arial Rounded"/>
                <a:ea typeface="Arial Rounded"/>
                <a:cs typeface="Arial Rounded"/>
                <a:sym typeface="Arial Rounded"/>
              </a:rPr>
              <a:t>i,0</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i,1</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i,2</a:t>
            </a:r>
            <a:r>
              <a:rPr lang="en-US" sz="2000">
                <a:solidFill>
                  <a:srgbClr val="222222"/>
                </a:solidFill>
                <a:highlight>
                  <a:srgbClr val="FFFFFF"/>
                </a:highlight>
                <a:latin typeface="Arial Rounded"/>
                <a:ea typeface="Arial Rounded"/>
                <a:cs typeface="Arial Rounded"/>
                <a:sym typeface="Arial Rounded"/>
              </a:rPr>
              <a:t>, …, P</a:t>
            </a:r>
            <a:r>
              <a:rPr baseline="-25000" lang="en-US" sz="2000">
                <a:solidFill>
                  <a:srgbClr val="222222"/>
                </a:solidFill>
                <a:highlight>
                  <a:srgbClr val="FFFFFF"/>
                </a:highlight>
                <a:latin typeface="Arial Rounded"/>
                <a:ea typeface="Arial Rounded"/>
                <a:cs typeface="Arial Rounded"/>
                <a:sym typeface="Arial Rounded"/>
              </a:rPr>
              <a:t>i,n-1</a:t>
            </a:r>
            <a:r>
              <a:rPr lang="en-US" sz="2000">
                <a:solidFill>
                  <a:srgbClr val="222222"/>
                </a:solidFill>
                <a:highlight>
                  <a:srgbClr val="FFFFFF"/>
                </a:highlight>
                <a:latin typeface="Arial Rounded"/>
                <a:ea typeface="Arial Rounded"/>
                <a:cs typeface="Arial Rounded"/>
                <a:sym typeface="Arial Rounded"/>
              </a:rPr>
              <a:t>, where 0, 1, 2, …, n-1 are partitions of s. This replication ensures the comparison of every r</a:t>
            </a:r>
            <a:r>
              <a:rPr baseline="-25000" lang="en-US" sz="2000">
                <a:solidFill>
                  <a:srgbClr val="222222"/>
                </a:solidFill>
                <a:highlight>
                  <a:srgbClr val="FFFFFF"/>
                </a:highlight>
                <a:latin typeface="Arial Rounded"/>
                <a:ea typeface="Arial Rounded"/>
                <a:cs typeface="Arial Rounded"/>
                <a:sym typeface="Arial Rounded"/>
              </a:rPr>
              <a:t>i</a:t>
            </a:r>
            <a:r>
              <a:rPr lang="en-US" sz="2000">
                <a:solidFill>
                  <a:srgbClr val="222222"/>
                </a:solidFill>
                <a:highlight>
                  <a:srgbClr val="FFFFFF"/>
                </a:highlight>
                <a:latin typeface="Arial Rounded"/>
                <a:ea typeface="Arial Rounded"/>
                <a:cs typeface="Arial Rounded"/>
                <a:sym typeface="Arial Rounded"/>
              </a:rPr>
              <a:t> with complete s.</a:t>
            </a:r>
            <a:endParaRPr sz="2000">
              <a:solidFill>
                <a:srgbClr val="222222"/>
              </a:solidFill>
              <a:highlight>
                <a:srgbClr val="FFFFFF"/>
              </a:highlight>
              <a:latin typeface="Arial Rounded"/>
              <a:ea typeface="Arial Rounded"/>
              <a:cs typeface="Arial Rounded"/>
              <a:sym typeface="Arial Rounded"/>
            </a:endParaRPr>
          </a:p>
          <a:p>
            <a:pPr indent="0" lvl="0" marL="685800" rtl="0" algn="just">
              <a:lnSpc>
                <a:spcPct val="115000"/>
              </a:lnSpc>
              <a:spcBef>
                <a:spcPts val="300"/>
              </a:spcBef>
              <a:spcAft>
                <a:spcPts val="0"/>
              </a:spcAft>
              <a:buNone/>
            </a:pPr>
            <a:r>
              <a:rPr b="1" lang="en-US" sz="2000">
                <a:solidFill>
                  <a:srgbClr val="222222"/>
                </a:solidFill>
                <a:highlight>
                  <a:srgbClr val="FFFFFF"/>
                </a:highlight>
                <a:latin typeface="Arial Rounded"/>
                <a:ea typeface="Arial Rounded"/>
                <a:cs typeface="Arial Rounded"/>
                <a:sym typeface="Arial Rounded"/>
              </a:rPr>
              <a:t>c.</a:t>
            </a:r>
            <a:r>
              <a:rPr lang="en-US" sz="2000">
                <a:solidFill>
                  <a:srgbClr val="222222"/>
                </a:solidFill>
                <a:highlight>
                  <a:srgbClr val="FFFFFF"/>
                </a:highlight>
                <a:latin typeface="Arial Rounded"/>
                <a:ea typeface="Arial Rounded"/>
                <a:cs typeface="Arial Rounded"/>
                <a:sym typeface="Arial Rounded"/>
              </a:rPr>
              <a:t> To ensure the comparison of every partition of s with every other partition of r, we replicate s</a:t>
            </a:r>
            <a:r>
              <a:rPr baseline="-25000" lang="en-US" sz="2000">
                <a:solidFill>
                  <a:srgbClr val="222222"/>
                </a:solidFill>
                <a:highlight>
                  <a:srgbClr val="FFFFFF"/>
                </a:highlight>
                <a:latin typeface="Arial Rounded"/>
                <a:ea typeface="Arial Rounded"/>
                <a:cs typeface="Arial Rounded"/>
                <a:sym typeface="Arial Rounded"/>
              </a:rPr>
              <a:t>i</a:t>
            </a:r>
            <a:r>
              <a:rPr lang="en-US" sz="2000">
                <a:solidFill>
                  <a:srgbClr val="222222"/>
                </a:solidFill>
                <a:highlight>
                  <a:srgbClr val="FFFFFF"/>
                </a:highlight>
                <a:latin typeface="Arial Rounded"/>
                <a:ea typeface="Arial Rounded"/>
                <a:cs typeface="Arial Rounded"/>
                <a:sym typeface="Arial Rounded"/>
              </a:rPr>
              <a:t> with the processors, P</a:t>
            </a:r>
            <a:r>
              <a:rPr baseline="-25000" lang="en-US" sz="2000">
                <a:solidFill>
                  <a:srgbClr val="222222"/>
                </a:solidFill>
                <a:highlight>
                  <a:srgbClr val="FFFFFF"/>
                </a:highlight>
                <a:latin typeface="Arial Rounded"/>
                <a:ea typeface="Arial Rounded"/>
                <a:cs typeface="Arial Rounded"/>
                <a:sym typeface="Arial Rounded"/>
              </a:rPr>
              <a:t>0,i</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1,i</a:t>
            </a:r>
            <a:r>
              <a:rPr lang="en-US" sz="2000">
                <a:solidFill>
                  <a:srgbClr val="222222"/>
                </a:solidFill>
                <a:highlight>
                  <a:srgbClr val="FFFFFF"/>
                </a:highlight>
                <a:latin typeface="Arial Rounded"/>
                <a:ea typeface="Arial Rounded"/>
                <a:cs typeface="Arial Rounded"/>
                <a:sym typeface="Arial Rounded"/>
              </a:rPr>
              <a:t>, P</a:t>
            </a:r>
            <a:r>
              <a:rPr baseline="-25000" lang="en-US" sz="2000">
                <a:solidFill>
                  <a:srgbClr val="222222"/>
                </a:solidFill>
                <a:highlight>
                  <a:srgbClr val="FFFFFF"/>
                </a:highlight>
                <a:latin typeface="Arial Rounded"/>
                <a:ea typeface="Arial Rounded"/>
                <a:cs typeface="Arial Rounded"/>
                <a:sym typeface="Arial Rounded"/>
              </a:rPr>
              <a:t>2,i</a:t>
            </a:r>
            <a:r>
              <a:rPr lang="en-US" sz="2000">
                <a:solidFill>
                  <a:srgbClr val="222222"/>
                </a:solidFill>
                <a:highlight>
                  <a:srgbClr val="FFFFFF"/>
                </a:highlight>
                <a:latin typeface="Arial Rounded"/>
                <a:ea typeface="Arial Rounded"/>
                <a:cs typeface="Arial Rounded"/>
                <a:sym typeface="Arial Rounded"/>
              </a:rPr>
              <a:t>, …, P</a:t>
            </a:r>
            <a:r>
              <a:rPr baseline="-25000" lang="en-US" sz="2000">
                <a:solidFill>
                  <a:srgbClr val="222222"/>
                </a:solidFill>
                <a:highlight>
                  <a:srgbClr val="FFFFFF"/>
                </a:highlight>
                <a:latin typeface="Arial Rounded"/>
                <a:ea typeface="Arial Rounded"/>
                <a:cs typeface="Arial Rounded"/>
                <a:sym typeface="Arial Rounded"/>
              </a:rPr>
              <a:t>m-1,i</a:t>
            </a:r>
            <a:r>
              <a:rPr lang="en-US" sz="2000">
                <a:solidFill>
                  <a:srgbClr val="222222"/>
                </a:solidFill>
                <a:highlight>
                  <a:srgbClr val="FFFFFF"/>
                </a:highlight>
                <a:latin typeface="Arial Rounded"/>
                <a:ea typeface="Arial Rounded"/>
                <a:cs typeface="Arial Rounded"/>
                <a:sym typeface="Arial Rounded"/>
              </a:rPr>
              <a:t>, where 0, 1, 2, …, m-1 are partitions of r. This replication ensures the comparison of every s</a:t>
            </a:r>
            <a:r>
              <a:rPr baseline="-25000" lang="en-US" sz="2000">
                <a:solidFill>
                  <a:srgbClr val="222222"/>
                </a:solidFill>
                <a:highlight>
                  <a:srgbClr val="FFFFFF"/>
                </a:highlight>
                <a:latin typeface="Arial Rounded"/>
                <a:ea typeface="Arial Rounded"/>
                <a:cs typeface="Arial Rounded"/>
                <a:sym typeface="Arial Rounded"/>
              </a:rPr>
              <a:t>i</a:t>
            </a:r>
            <a:r>
              <a:rPr lang="en-US" sz="2000">
                <a:solidFill>
                  <a:srgbClr val="222222"/>
                </a:solidFill>
                <a:highlight>
                  <a:srgbClr val="FFFFFF"/>
                </a:highlight>
                <a:latin typeface="Arial Rounded"/>
                <a:ea typeface="Arial Rounded"/>
                <a:cs typeface="Arial Rounded"/>
                <a:sym typeface="Arial Rounded"/>
              </a:rPr>
              <a:t> with complete r.</a:t>
            </a:r>
            <a:endParaRPr sz="20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300"/>
              </a:spcAft>
              <a:buNone/>
            </a:pPr>
            <a:r>
              <a:rPr lang="en-US" sz="2000">
                <a:solidFill>
                  <a:srgbClr val="222222"/>
                </a:solidFill>
                <a:highlight>
                  <a:srgbClr val="FFFFFF"/>
                </a:highlight>
                <a:latin typeface="Arial Rounded"/>
                <a:ea typeface="Arial Rounded"/>
                <a:cs typeface="Arial Rounded"/>
                <a:sym typeface="Arial Rounded"/>
              </a:rPr>
              <a:t>4. P</a:t>
            </a:r>
            <a:r>
              <a:rPr baseline="-25000" lang="en-US" sz="2000">
                <a:solidFill>
                  <a:srgbClr val="222222"/>
                </a:solidFill>
                <a:highlight>
                  <a:srgbClr val="FFFFFF"/>
                </a:highlight>
                <a:latin typeface="Arial Rounded"/>
                <a:ea typeface="Arial Rounded"/>
                <a:cs typeface="Arial Rounded"/>
                <a:sym typeface="Arial Rounded"/>
              </a:rPr>
              <a:t>i,j</a:t>
            </a:r>
            <a:r>
              <a:rPr lang="en-US" sz="2000">
                <a:solidFill>
                  <a:srgbClr val="222222"/>
                </a:solidFill>
                <a:highlight>
                  <a:srgbClr val="FFFFFF"/>
                </a:highlight>
                <a:latin typeface="Arial Rounded"/>
                <a:ea typeface="Arial Rounded"/>
                <a:cs typeface="Arial Rounded"/>
                <a:sym typeface="Arial Rounded"/>
              </a:rPr>
              <a:t> computes the join locally to produce the join result.</a:t>
            </a:r>
            <a:endParaRPr b="1" sz="2000">
              <a:latin typeface="Arial Rounded"/>
              <a:ea typeface="Arial Rounded"/>
              <a:cs typeface="Arial Rounded"/>
              <a:sym typeface="Arial Rounde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5"/>
          <p:cNvSpPr txBox="1"/>
          <p:nvPr>
            <p:ph type="title"/>
          </p:nvPr>
        </p:nvSpPr>
        <p:spPr>
          <a:xfrm>
            <a:off x="314860" y="-268300"/>
            <a:ext cx="11189400" cy="13260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a:p>
        </p:txBody>
      </p:sp>
      <p:pic>
        <p:nvPicPr>
          <p:cNvPr id="400" name="Google Shape;400;p45"/>
          <p:cNvPicPr preferRelativeResize="0"/>
          <p:nvPr>
            <p:ph idx="1" type="body"/>
          </p:nvPr>
        </p:nvPicPr>
        <p:blipFill rotWithShape="1">
          <a:blip r:embed="rId3">
            <a:alphaModFix/>
          </a:blip>
          <a:srcRect b="0" l="0" r="0" t="0"/>
          <a:stretch/>
        </p:blipFill>
        <p:spPr>
          <a:xfrm>
            <a:off x="163825" y="664025"/>
            <a:ext cx="11722800" cy="60534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094c81e6b9_0_16"/>
          <p:cNvSpPr txBox="1"/>
          <p:nvPr>
            <p:ph type="title"/>
          </p:nvPr>
        </p:nvSpPr>
        <p:spPr>
          <a:xfrm>
            <a:off x="197485" y="0"/>
            <a:ext cx="11189400" cy="13260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Fragment and Replicate Join</a:t>
            </a:r>
            <a:endParaRPr/>
          </a:p>
        </p:txBody>
      </p:sp>
      <p:sp>
        <p:nvSpPr>
          <p:cNvPr id="406" name="Google Shape;406;g3094c81e6b9_0_16"/>
          <p:cNvSpPr txBox="1"/>
          <p:nvPr/>
        </p:nvSpPr>
        <p:spPr>
          <a:xfrm>
            <a:off x="346375" y="1144800"/>
            <a:ext cx="11598000" cy="378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Rounded"/>
                <a:ea typeface="Arial Rounded"/>
                <a:cs typeface="Arial Rounded"/>
                <a:sym typeface="Arial Rounded"/>
              </a:rPr>
              <a:t>1. Asymmetric Fragment-and-replicate join is the special case of general case Fragment-and-replicate join, where n or m is 1, i.e, if one of the relation does not have partitions.</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b="1" lang="en-US" sz="2000">
                <a:solidFill>
                  <a:schemeClr val="dk1"/>
                </a:solidFill>
                <a:latin typeface="Arial Rounded"/>
                <a:ea typeface="Arial Rounded"/>
                <a:cs typeface="Arial Rounded"/>
                <a:sym typeface="Arial Rounded"/>
              </a:rPr>
              <a:t>2. When compared to asymmetric technique, Fragment-and-replicate join reduces the size of the tables at every processor.</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b="1" lang="en-US" sz="2000">
                <a:solidFill>
                  <a:schemeClr val="dk1"/>
                </a:solidFill>
                <a:latin typeface="Arial Rounded"/>
                <a:ea typeface="Arial Rounded"/>
                <a:cs typeface="Arial Rounded"/>
                <a:sym typeface="Arial Rounded"/>
              </a:rPr>
              <a:t>3. Any partitioning techniques can be used and any joining technique can be used as well.</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b="1" lang="en-US" sz="2000">
                <a:solidFill>
                  <a:schemeClr val="dk1"/>
                </a:solidFill>
                <a:latin typeface="Arial Rounded"/>
                <a:ea typeface="Arial Rounded"/>
                <a:cs typeface="Arial Rounded"/>
                <a:sym typeface="Arial Rounded"/>
              </a:rPr>
              <a:t>4. Fragment-and-replicate technique suits both Equi-join and Non-equi join.</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t/>
            </a:r>
            <a:endParaRPr b="1" sz="2000">
              <a:solidFill>
                <a:schemeClr val="dk1"/>
              </a:solidFill>
              <a:latin typeface="Arial Rounded"/>
              <a:ea typeface="Arial Rounded"/>
              <a:cs typeface="Arial Rounded"/>
              <a:sym typeface="Arial Rounded"/>
            </a:endParaRPr>
          </a:p>
          <a:p>
            <a:pPr indent="0" lvl="0" marL="0" marR="0" rtl="0" algn="l">
              <a:spcBef>
                <a:spcPts val="0"/>
              </a:spcBef>
              <a:spcAft>
                <a:spcPts val="0"/>
              </a:spcAft>
              <a:buNone/>
            </a:pPr>
            <a:r>
              <a:rPr b="1" lang="en-US" sz="2000">
                <a:solidFill>
                  <a:schemeClr val="dk1"/>
                </a:solidFill>
                <a:latin typeface="Arial Rounded"/>
                <a:ea typeface="Arial Rounded"/>
                <a:cs typeface="Arial Rounded"/>
                <a:sym typeface="Arial Rounded"/>
              </a:rPr>
              <a:t>5. It involves higher cost in partitioning.</a:t>
            </a:r>
            <a:endParaRPr sz="20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6"/>
          <p:cNvSpPr txBox="1"/>
          <p:nvPr>
            <p:ph type="title"/>
          </p:nvPr>
        </p:nvSpPr>
        <p:spPr>
          <a:xfrm>
            <a:off x="153670" y="18097"/>
            <a:ext cx="11708765" cy="132588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accent2"/>
              </a:buClr>
              <a:buSzPts val="2700"/>
              <a:buFont typeface="Noto Sans Symbols"/>
              <a:buChar char="❑"/>
            </a:pPr>
            <a:r>
              <a:rPr b="1" lang="en-US" sz="2700">
                <a:solidFill>
                  <a:schemeClr val="accent2"/>
                </a:solidFill>
                <a:latin typeface="Arial Rounded"/>
                <a:ea typeface="Arial Rounded"/>
                <a:cs typeface="Arial Rounded"/>
                <a:sym typeface="Arial Rounded"/>
              </a:rPr>
              <a:t>Parallel Join Technique - </a:t>
            </a:r>
            <a:r>
              <a:rPr b="1" lang="en-US" sz="2700">
                <a:solidFill>
                  <a:srgbClr val="7030A0"/>
                </a:solidFill>
                <a:latin typeface="Arial Rounded"/>
                <a:ea typeface="Arial Rounded"/>
                <a:cs typeface="Arial Rounded"/>
                <a:sym typeface="Arial Rounded"/>
              </a:rPr>
              <a:t>Partitioned Parallel Hash Join</a:t>
            </a:r>
            <a:endParaRPr/>
          </a:p>
        </p:txBody>
      </p:sp>
      <p:sp>
        <p:nvSpPr>
          <p:cNvPr id="412" name="Google Shape;412;p46"/>
          <p:cNvSpPr txBox="1"/>
          <p:nvPr>
            <p:ph idx="1" type="body"/>
          </p:nvPr>
        </p:nvSpPr>
        <p:spPr>
          <a:xfrm>
            <a:off x="329565" y="1160606"/>
            <a:ext cx="11532869" cy="5351029"/>
          </a:xfrm>
          <a:prstGeom prst="rect">
            <a:avLst/>
          </a:prstGeom>
          <a:noFill/>
          <a:ln>
            <a:noFill/>
          </a:ln>
        </p:spPr>
        <p:txBody>
          <a:bodyPr anchorCtr="0" anchor="t" bIns="45700" lIns="91425" spcFirstLastPara="1" rIns="91425" wrap="square" tIns="45700">
            <a:normAutofit fontScale="97500" lnSpcReduction="10000"/>
          </a:bodyPr>
          <a:lstStyle/>
          <a:p>
            <a:pPr indent="0" lvl="0" marL="0" rtl="0" algn="l">
              <a:lnSpc>
                <a:spcPct val="90000"/>
              </a:lnSpc>
              <a:spcBef>
                <a:spcPts val="0"/>
              </a:spcBef>
              <a:spcAft>
                <a:spcPts val="0"/>
              </a:spcAft>
              <a:buClr>
                <a:schemeClr val="dk1"/>
              </a:buClr>
              <a:buSzPct val="100000"/>
              <a:buNone/>
            </a:pPr>
            <a:r>
              <a:rPr b="1" lang="en-US">
                <a:latin typeface="Arial Rounded"/>
                <a:ea typeface="Arial Rounded"/>
                <a:cs typeface="Arial Rounded"/>
                <a:sym typeface="Arial Rounded"/>
              </a:rPr>
              <a:t>Assume that we have,</a:t>
            </a:r>
            <a:endParaRPr/>
          </a:p>
          <a:p>
            <a:pPr indent="-228600" lvl="0" marL="228600" rtl="0" algn="l">
              <a:lnSpc>
                <a:spcPct val="90000"/>
              </a:lnSpc>
              <a:spcBef>
                <a:spcPts val="1000"/>
              </a:spcBef>
              <a:spcAft>
                <a:spcPts val="0"/>
              </a:spcAft>
              <a:buClr>
                <a:schemeClr val="dk1"/>
              </a:buClr>
              <a:buSzPct val="100000"/>
              <a:buChar char="•"/>
            </a:pPr>
            <a:r>
              <a:rPr b="1" lang="en-US">
                <a:latin typeface="Arial Rounded"/>
                <a:ea typeface="Arial Rounded"/>
                <a:cs typeface="Arial Rounded"/>
                <a:sym typeface="Arial Rounded"/>
              </a:rPr>
              <a:t>n processors, P0, P1, …, Pn-1</a:t>
            </a:r>
            <a:endParaRPr/>
          </a:p>
          <a:p>
            <a:pPr indent="-228600" lvl="0" marL="228600" rtl="0" algn="l">
              <a:lnSpc>
                <a:spcPct val="90000"/>
              </a:lnSpc>
              <a:spcBef>
                <a:spcPts val="1000"/>
              </a:spcBef>
              <a:spcAft>
                <a:spcPts val="0"/>
              </a:spcAft>
              <a:buClr>
                <a:schemeClr val="dk1"/>
              </a:buClr>
              <a:buSzPct val="100000"/>
              <a:buChar char="•"/>
            </a:pPr>
            <a:r>
              <a:rPr b="1" lang="en-US">
                <a:latin typeface="Arial Rounded"/>
                <a:ea typeface="Arial Rounded"/>
                <a:cs typeface="Arial Rounded"/>
                <a:sym typeface="Arial Rounded"/>
              </a:rPr>
              <a:t>two tables, r and s (r and s are already partitioned into disks of n processors),</a:t>
            </a:r>
            <a:endParaRPr/>
          </a:p>
          <a:p>
            <a:pPr indent="-228600" lvl="0" marL="228600" rtl="0" algn="l">
              <a:lnSpc>
                <a:spcPct val="90000"/>
              </a:lnSpc>
              <a:spcBef>
                <a:spcPts val="1000"/>
              </a:spcBef>
              <a:spcAft>
                <a:spcPts val="0"/>
              </a:spcAft>
              <a:buClr>
                <a:schemeClr val="dk1"/>
              </a:buClr>
              <a:buSzPct val="100000"/>
              <a:buChar char="•"/>
            </a:pPr>
            <a:r>
              <a:rPr b="1" lang="en-US">
                <a:latin typeface="Arial Rounded"/>
                <a:ea typeface="Arial Rounded"/>
                <a:cs typeface="Arial Rounded"/>
                <a:sym typeface="Arial Rounded"/>
              </a:rPr>
              <a:t>s is the smaller table</a:t>
            </a:r>
            <a:endParaRPr/>
          </a:p>
          <a:p>
            <a:pPr indent="-55245" lvl="0" marL="228600" rtl="0" algn="l">
              <a:lnSpc>
                <a:spcPct val="90000"/>
              </a:lnSpc>
              <a:spcBef>
                <a:spcPts val="1000"/>
              </a:spcBef>
              <a:spcAft>
                <a:spcPts val="0"/>
              </a:spcAft>
              <a:buClr>
                <a:schemeClr val="dk1"/>
              </a:buClr>
              <a:buSzPct val="100000"/>
              <a:buNone/>
            </a:pPr>
            <a:r>
              <a:t/>
            </a:r>
            <a:endParaRPr b="1">
              <a:latin typeface="Arial Rounded"/>
              <a:ea typeface="Arial Rounded"/>
              <a:cs typeface="Arial Rounded"/>
              <a:sym typeface="Arial Rounded"/>
            </a:endParaRPr>
          </a:p>
          <a:p>
            <a:pPr indent="0" lvl="0" marL="0" rtl="0" algn="l">
              <a:lnSpc>
                <a:spcPct val="90000"/>
              </a:lnSpc>
              <a:spcBef>
                <a:spcPts val="1000"/>
              </a:spcBef>
              <a:spcAft>
                <a:spcPts val="0"/>
              </a:spcAft>
              <a:buClr>
                <a:schemeClr val="accent5"/>
              </a:buClr>
              <a:buSzPct val="100000"/>
              <a:buNone/>
            </a:pPr>
            <a:r>
              <a:rPr b="1" lang="en-US" u="sng">
                <a:solidFill>
                  <a:schemeClr val="accent5"/>
                </a:solidFill>
                <a:latin typeface="Arial Rounded"/>
                <a:ea typeface="Arial Rounded"/>
                <a:cs typeface="Arial Rounded"/>
                <a:sym typeface="Arial Rounded"/>
              </a:rPr>
              <a:t>Parallel Hash-Join Algorithm:</a:t>
            </a:r>
            <a:endParaRPr/>
          </a:p>
          <a:p>
            <a:pPr indent="0" lvl="0" marL="0" rtl="0" algn="l">
              <a:lnSpc>
                <a:spcPct val="90000"/>
              </a:lnSpc>
              <a:spcBef>
                <a:spcPts val="1000"/>
              </a:spcBef>
              <a:spcAft>
                <a:spcPts val="0"/>
              </a:spcAft>
              <a:buClr>
                <a:schemeClr val="dk1"/>
              </a:buClr>
              <a:buSzPct val="100000"/>
              <a:buNone/>
            </a:pPr>
            <a:r>
              <a:t/>
            </a:r>
            <a:endParaRPr b="1" sz="1100" u="sng">
              <a:solidFill>
                <a:schemeClr val="accent5"/>
              </a:solidFill>
              <a:latin typeface="Arial Rounded"/>
              <a:ea typeface="Arial Rounded"/>
              <a:cs typeface="Arial Rounded"/>
              <a:sym typeface="Arial Rounded"/>
            </a:endParaRPr>
          </a:p>
          <a:p>
            <a:pPr indent="0" lvl="0" marL="0" rtl="0" algn="l">
              <a:lnSpc>
                <a:spcPct val="90000"/>
              </a:lnSpc>
              <a:spcBef>
                <a:spcPts val="1000"/>
              </a:spcBef>
              <a:spcAft>
                <a:spcPts val="0"/>
              </a:spcAft>
              <a:buClr>
                <a:schemeClr val="accent5"/>
              </a:buClr>
              <a:buSzPct val="100000"/>
              <a:buNone/>
            </a:pPr>
            <a:r>
              <a:rPr b="1" lang="en-US">
                <a:solidFill>
                  <a:schemeClr val="accent5"/>
                </a:solidFill>
                <a:latin typeface="Arial Rounded"/>
                <a:ea typeface="Arial Rounded"/>
                <a:cs typeface="Arial Rounded"/>
                <a:sym typeface="Arial Rounded"/>
              </a:rPr>
              <a:t>Step 1:</a:t>
            </a:r>
            <a:r>
              <a:rPr b="1" lang="en-US">
                <a:latin typeface="Arial Rounded"/>
                <a:ea typeface="Arial Rounded"/>
                <a:cs typeface="Arial Rounded"/>
                <a:sym typeface="Arial Rounded"/>
              </a:rPr>
              <a:t> Choose a hash function h1. h1 should be able to take the join attribute value of each tuple of relations r and s, and maps them to one of the n processors.</a:t>
            </a:r>
            <a:endParaRPr/>
          </a:p>
          <a:p>
            <a:pPr indent="0" lvl="0" marL="0" rtl="0" algn="l">
              <a:lnSpc>
                <a:spcPct val="90000"/>
              </a:lnSpc>
              <a:spcBef>
                <a:spcPts val="1000"/>
              </a:spcBef>
              <a:spcAft>
                <a:spcPts val="0"/>
              </a:spcAft>
              <a:buClr>
                <a:schemeClr val="dk1"/>
              </a:buClr>
              <a:buSzPct val="100000"/>
              <a:buNone/>
            </a:pPr>
            <a:r>
              <a:t/>
            </a:r>
            <a:endParaRPr b="1" sz="1700">
              <a:latin typeface="Arial Rounded"/>
              <a:ea typeface="Arial Rounded"/>
              <a:cs typeface="Arial Rounded"/>
              <a:sym typeface="Arial Rounded"/>
            </a:endParaRPr>
          </a:p>
          <a:p>
            <a:pPr indent="0" lvl="0" marL="0" rtl="0" algn="l">
              <a:lnSpc>
                <a:spcPct val="90000"/>
              </a:lnSpc>
              <a:spcBef>
                <a:spcPts val="1000"/>
              </a:spcBef>
              <a:spcAft>
                <a:spcPts val="0"/>
              </a:spcAft>
              <a:buClr>
                <a:schemeClr val="accent5"/>
              </a:buClr>
              <a:buSzPct val="100000"/>
              <a:buNone/>
            </a:pPr>
            <a:r>
              <a:rPr b="1" lang="en-US">
                <a:solidFill>
                  <a:schemeClr val="accent5"/>
                </a:solidFill>
                <a:latin typeface="Arial Rounded"/>
                <a:ea typeface="Arial Rounded"/>
                <a:cs typeface="Arial Rounded"/>
                <a:sym typeface="Arial Rounded"/>
              </a:rPr>
              <a:t>Step 2: </a:t>
            </a:r>
            <a:r>
              <a:rPr b="1" lang="en-US">
                <a:latin typeface="Arial Rounded"/>
                <a:ea typeface="Arial Rounded"/>
                <a:cs typeface="Arial Rounded"/>
                <a:sym typeface="Arial Rounded"/>
              </a:rPr>
              <a:t>Smaller relations s is taken as the Build relation.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7"/>
          <p:cNvSpPr txBox="1"/>
          <p:nvPr>
            <p:ph idx="1" type="body"/>
          </p:nvPr>
        </p:nvSpPr>
        <p:spPr>
          <a:xfrm>
            <a:off x="496453" y="198986"/>
            <a:ext cx="11409219" cy="64050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5"/>
              </a:buClr>
              <a:buSzPts val="2000"/>
              <a:buNone/>
            </a:pPr>
            <a:r>
              <a:rPr b="1" lang="en-US" sz="2000">
                <a:solidFill>
                  <a:schemeClr val="accent5"/>
                </a:solidFill>
                <a:latin typeface="Arial Rounded"/>
                <a:ea typeface="Arial Rounded"/>
                <a:cs typeface="Arial Rounded"/>
                <a:sym typeface="Arial Rounded"/>
              </a:rPr>
              <a:t>Step 3:</a:t>
            </a:r>
            <a:r>
              <a:rPr b="1" lang="en-US" sz="2000">
                <a:latin typeface="Arial Rounded"/>
                <a:ea typeface="Arial Rounded"/>
                <a:cs typeface="Arial Rounded"/>
                <a:sym typeface="Arial Rounded"/>
              </a:rPr>
              <a:t> Each processor Pi reads the tuples of smaller relation s in it’s disk Di, and sends them to different processors based on the hash function h1.</a:t>
            </a:r>
            <a:endParaRPr/>
          </a:p>
          <a:p>
            <a:pPr indent="0" lvl="0" marL="0" rtl="0" algn="l">
              <a:lnSpc>
                <a:spcPct val="100000"/>
              </a:lnSpc>
              <a:spcBef>
                <a:spcPts val="1000"/>
              </a:spcBef>
              <a:spcAft>
                <a:spcPts val="0"/>
              </a:spcAft>
              <a:buClr>
                <a:schemeClr val="accent5"/>
              </a:buClr>
              <a:buSzPts val="2000"/>
              <a:buNone/>
            </a:pPr>
            <a:r>
              <a:rPr b="1" lang="en-US" sz="2000">
                <a:solidFill>
                  <a:schemeClr val="accent5"/>
                </a:solidFill>
                <a:latin typeface="Arial Rounded"/>
                <a:ea typeface="Arial Rounded"/>
                <a:cs typeface="Arial Rounded"/>
                <a:sym typeface="Arial Rounded"/>
              </a:rPr>
              <a:t>Step 4: </a:t>
            </a:r>
            <a:r>
              <a:rPr b="1" lang="en-US" sz="2000">
                <a:latin typeface="Arial Rounded"/>
                <a:ea typeface="Arial Rounded"/>
                <a:cs typeface="Arial Rounded"/>
                <a:sym typeface="Arial Rounded"/>
              </a:rPr>
              <a:t>On receiving the records of si at every destination processor Pi, the Pi further partitions the tuples using another hash function h2. This hash function is used for joining the tuples locally at every processor. This step is independent for any processor.</a:t>
            </a:r>
            <a:endParaRPr/>
          </a:p>
          <a:p>
            <a:pPr indent="0" lvl="0" marL="0" rtl="0" algn="l">
              <a:lnSpc>
                <a:spcPct val="100000"/>
              </a:lnSpc>
              <a:spcBef>
                <a:spcPts val="1000"/>
              </a:spcBef>
              <a:spcAft>
                <a:spcPts val="0"/>
              </a:spcAft>
              <a:buClr>
                <a:schemeClr val="accent5"/>
              </a:buClr>
              <a:buSzPts val="2000"/>
              <a:buNone/>
            </a:pPr>
            <a:r>
              <a:rPr b="1" lang="en-US" sz="2000">
                <a:solidFill>
                  <a:schemeClr val="accent5"/>
                </a:solidFill>
                <a:latin typeface="Arial Rounded"/>
                <a:ea typeface="Arial Rounded"/>
                <a:cs typeface="Arial Rounded"/>
                <a:sym typeface="Arial Rounded"/>
              </a:rPr>
              <a:t>Step 5:</a:t>
            </a:r>
            <a:r>
              <a:rPr b="1" lang="en-US" sz="2000">
                <a:latin typeface="Arial Rounded"/>
                <a:ea typeface="Arial Rounded"/>
                <a:cs typeface="Arial Rounded"/>
                <a:sym typeface="Arial Rounded"/>
              </a:rPr>
              <a:t> On completion of the distribution of all the records of smaller relation s, it is now the turn for the larger relation r. Step 3 is done for all the records of relation r.</a:t>
            </a:r>
            <a:endParaRPr/>
          </a:p>
          <a:p>
            <a:pPr indent="0" lvl="0" marL="0" rtl="0" algn="l">
              <a:lnSpc>
                <a:spcPct val="100000"/>
              </a:lnSpc>
              <a:spcBef>
                <a:spcPts val="1000"/>
              </a:spcBef>
              <a:spcAft>
                <a:spcPts val="0"/>
              </a:spcAft>
              <a:buClr>
                <a:schemeClr val="accent5"/>
              </a:buClr>
              <a:buSzPts val="2000"/>
              <a:buNone/>
            </a:pPr>
            <a:r>
              <a:rPr b="1" lang="en-US" sz="2000">
                <a:solidFill>
                  <a:schemeClr val="accent5"/>
                </a:solidFill>
                <a:latin typeface="Arial Rounded"/>
                <a:ea typeface="Arial Rounded"/>
                <a:cs typeface="Arial Rounded"/>
                <a:sym typeface="Arial Rounded"/>
              </a:rPr>
              <a:t>Step 6:</a:t>
            </a:r>
            <a:r>
              <a:rPr b="1" lang="en-US" sz="2000">
                <a:latin typeface="Arial Rounded"/>
                <a:ea typeface="Arial Rounded"/>
                <a:cs typeface="Arial Rounded"/>
                <a:sym typeface="Arial Rounded"/>
              </a:rPr>
              <a:t> On receiving the records of ri at every destination processor Pi, the Pi further partitions the tuples using another hash function h2. This phase is called the Probe Phase.</a:t>
            </a:r>
            <a:endParaRPr/>
          </a:p>
          <a:p>
            <a:pPr indent="0" lvl="0" marL="0" rtl="0" algn="l">
              <a:lnSpc>
                <a:spcPct val="100000"/>
              </a:lnSpc>
              <a:spcBef>
                <a:spcPts val="1000"/>
              </a:spcBef>
              <a:spcAft>
                <a:spcPts val="0"/>
              </a:spcAft>
              <a:buClr>
                <a:schemeClr val="accent5"/>
              </a:buClr>
              <a:buSzPts val="2000"/>
              <a:buNone/>
            </a:pPr>
            <a:r>
              <a:rPr b="1" lang="en-US" sz="2000">
                <a:solidFill>
                  <a:schemeClr val="accent5"/>
                </a:solidFill>
                <a:latin typeface="Arial Rounded"/>
                <a:ea typeface="Arial Rounded"/>
                <a:cs typeface="Arial Rounded"/>
                <a:sym typeface="Arial Rounded"/>
              </a:rPr>
              <a:t>Step 7:</a:t>
            </a:r>
            <a:r>
              <a:rPr b="1" lang="en-US" sz="2000">
                <a:latin typeface="Arial Rounded"/>
                <a:ea typeface="Arial Rounded"/>
                <a:cs typeface="Arial Rounded"/>
                <a:sym typeface="Arial Rounded"/>
              </a:rPr>
              <a:t> At last, all the records which can be joined will be in same processors’ same partitions. Each processor Pi executes the build and probe phases of the hash–join algorithm on the local partitions ri and si of r and s to produce a partition of the final result of the hash–join.</a:t>
            </a:r>
            <a:endParaRPr/>
          </a:p>
          <a:p>
            <a:pPr indent="0" lvl="0" marL="0" rtl="0" algn="l">
              <a:lnSpc>
                <a:spcPct val="10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ts val="2000"/>
              <a:buNone/>
            </a:pPr>
            <a:r>
              <a:t/>
            </a:r>
            <a:endParaRPr b="1" sz="2000">
              <a:latin typeface="Arial Rounded"/>
              <a:ea typeface="Arial Rounded"/>
              <a:cs typeface="Arial Rounded"/>
              <a:sym typeface="Arial Rounded"/>
            </a:endParaRPr>
          </a:p>
          <a:p>
            <a:pPr indent="-228600" lvl="0" marL="228600" rtl="0" algn="l">
              <a:lnSpc>
                <a:spcPct val="100000"/>
              </a:lnSpc>
              <a:spcBef>
                <a:spcPts val="1000"/>
              </a:spcBef>
              <a:spcAft>
                <a:spcPts val="0"/>
              </a:spcAft>
              <a:buClr>
                <a:schemeClr val="dk1"/>
              </a:buClr>
              <a:buSzPts val="2000"/>
              <a:buFont typeface="Noto Sans Symbols"/>
              <a:buChar char="✔"/>
            </a:pPr>
            <a:r>
              <a:rPr b="1" lang="en-US" sz="2000">
                <a:latin typeface="Arial Rounded"/>
                <a:ea typeface="Arial Rounded"/>
                <a:cs typeface="Arial Rounded"/>
                <a:sym typeface="Arial Rounded"/>
              </a:rPr>
              <a:t>Hash Join at each processor is independent of the other.</a:t>
            </a:r>
            <a:endParaRPr/>
          </a:p>
          <a:p>
            <a:pPr indent="-228600" lvl="0" marL="228600" rtl="0" algn="l">
              <a:lnSpc>
                <a:spcPct val="100000"/>
              </a:lnSpc>
              <a:spcBef>
                <a:spcPts val="1000"/>
              </a:spcBef>
              <a:spcAft>
                <a:spcPts val="0"/>
              </a:spcAft>
              <a:buClr>
                <a:schemeClr val="dk1"/>
              </a:buClr>
              <a:buSzPts val="2000"/>
              <a:buFont typeface="Noto Sans Symbols"/>
              <a:buChar char="✔"/>
            </a:pPr>
            <a:r>
              <a:rPr b="1" lang="en-US" sz="2000">
                <a:latin typeface="Arial Rounded"/>
                <a:ea typeface="Arial Rounded"/>
                <a:cs typeface="Arial Rounded"/>
                <a:sym typeface="Arial Rounded"/>
              </a:rPr>
              <a:t>It works for equi-join and natural join conditions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8"/>
          <p:cNvSpPr txBox="1"/>
          <p:nvPr>
            <p:ph type="title"/>
          </p:nvPr>
        </p:nvSpPr>
        <p:spPr>
          <a:xfrm>
            <a:off x="838200" y="-151483"/>
            <a:ext cx="10515600" cy="1325700"/>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rgbClr val="002060"/>
              </a:buClr>
              <a:buSzPts val="2700"/>
              <a:buFont typeface="Noto Sans Symbols"/>
              <a:buChar char="❑"/>
            </a:pPr>
            <a:r>
              <a:rPr b="1" lang="en-US" sz="2700">
                <a:solidFill>
                  <a:srgbClr val="002060"/>
                </a:solidFill>
                <a:latin typeface="Arial Rounded"/>
                <a:ea typeface="Arial Rounded"/>
                <a:cs typeface="Arial Rounded"/>
                <a:sym typeface="Arial Rounded"/>
              </a:rPr>
              <a:t>SELECTION operation</a:t>
            </a:r>
            <a:endParaRPr/>
          </a:p>
        </p:txBody>
      </p:sp>
      <p:sp>
        <p:nvSpPr>
          <p:cNvPr id="423" name="Google Shape;423;p48"/>
          <p:cNvSpPr txBox="1"/>
          <p:nvPr>
            <p:ph idx="1" type="body"/>
          </p:nvPr>
        </p:nvSpPr>
        <p:spPr>
          <a:xfrm>
            <a:off x="483754" y="787340"/>
            <a:ext cx="11224500" cy="4947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0070C0"/>
              </a:buClr>
              <a:buSzPts val="2000"/>
              <a:buNone/>
            </a:pPr>
            <a:r>
              <a:rPr b="1" lang="en-US" sz="2000">
                <a:solidFill>
                  <a:srgbClr val="0070C0"/>
                </a:solidFill>
                <a:latin typeface="Arial Rounded"/>
                <a:ea typeface="Arial Rounded"/>
                <a:cs typeface="Arial Rounded"/>
                <a:sym typeface="Arial Rounded"/>
              </a:rPr>
              <a:t>	</a:t>
            </a:r>
            <a:r>
              <a:rPr b="1" lang="en-US" sz="2400">
                <a:solidFill>
                  <a:srgbClr val="0070C0"/>
                </a:solidFill>
                <a:latin typeface="Arial Rounded"/>
                <a:ea typeface="Arial Rounded"/>
                <a:cs typeface="Arial Rounded"/>
                <a:sym typeface="Arial Rounded"/>
              </a:rPr>
              <a:t>SELECT list_of_attributes FROM table_name WHERE condition;</a:t>
            </a:r>
            <a:endParaRPr/>
          </a:p>
          <a:p>
            <a:pPr indent="0" lvl="0" marL="0" rtl="0" algn="l">
              <a:lnSpc>
                <a:spcPct val="120000"/>
              </a:lnSpc>
              <a:spcBef>
                <a:spcPts val="1000"/>
              </a:spcBef>
              <a:spcAft>
                <a:spcPts val="0"/>
              </a:spcAft>
              <a:buClr>
                <a:schemeClr val="dk1"/>
              </a:buClr>
              <a:buSzPts val="1000"/>
              <a:buNone/>
            </a:pPr>
            <a:r>
              <a:t/>
            </a:r>
            <a:endParaRPr b="1" sz="1000">
              <a:solidFill>
                <a:srgbClr val="0070C0"/>
              </a:solidFill>
              <a:latin typeface="Arial Rounded"/>
              <a:ea typeface="Arial Rounded"/>
              <a:cs typeface="Arial Rounded"/>
              <a:sym typeface="Arial Rounded"/>
            </a:endParaRPr>
          </a:p>
          <a:p>
            <a:pPr indent="0" lvl="0" marL="0" rtl="0" algn="l">
              <a:lnSpc>
                <a:spcPct val="120000"/>
              </a:lnSpc>
              <a:spcBef>
                <a:spcPts val="1000"/>
              </a:spcBef>
              <a:spcAft>
                <a:spcPts val="0"/>
              </a:spcAft>
              <a:buClr>
                <a:schemeClr val="dk1"/>
              </a:buClr>
              <a:buSzPts val="2000"/>
              <a:buNone/>
            </a:pPr>
            <a:r>
              <a:rPr b="1" lang="en-US" sz="2000">
                <a:solidFill>
                  <a:schemeClr val="dk1"/>
                </a:solidFill>
                <a:latin typeface="Arial Rounded"/>
                <a:ea typeface="Arial Rounded"/>
                <a:cs typeface="Arial Rounded"/>
                <a:sym typeface="Arial Rounded"/>
              </a:rPr>
              <a:t>This query can be parallelized based on the condition given in the WHERE clause.</a:t>
            </a:r>
            <a:endParaRPr/>
          </a:p>
          <a:p>
            <a:pPr indent="0" lvl="0" marL="0" rtl="0" algn="l">
              <a:lnSpc>
                <a:spcPct val="120000"/>
              </a:lnSpc>
              <a:spcBef>
                <a:spcPts val="1000"/>
              </a:spcBef>
              <a:spcAft>
                <a:spcPts val="0"/>
              </a:spcAft>
              <a:buClr>
                <a:srgbClr val="FF0000"/>
              </a:buClr>
              <a:buSzPts val="2000"/>
              <a:buNone/>
            </a:pPr>
            <a:r>
              <a:rPr b="1" lang="en-US" sz="2000">
                <a:solidFill>
                  <a:srgbClr val="FF0000"/>
                </a:solidFill>
                <a:latin typeface="Arial Rounded"/>
                <a:ea typeface="Arial Rounded"/>
                <a:cs typeface="Arial Rounded"/>
                <a:sym typeface="Arial Rounded"/>
              </a:rPr>
              <a:t>CASE 1: </a:t>
            </a:r>
            <a:r>
              <a:rPr b="1" lang="en-US" sz="2000">
                <a:solidFill>
                  <a:schemeClr val="dk1"/>
                </a:solidFill>
                <a:latin typeface="Arial Rounded"/>
                <a:ea typeface="Arial Rounded"/>
                <a:cs typeface="Arial Rounded"/>
                <a:sym typeface="Arial Rounded"/>
              </a:rPr>
              <a:t>If the condition is of the form </a:t>
            </a:r>
            <a:r>
              <a:rPr b="1" lang="en-US" sz="2000">
                <a:solidFill>
                  <a:srgbClr val="7030A0"/>
                </a:solidFill>
                <a:latin typeface="Arial Rounded"/>
                <a:ea typeface="Arial Rounded"/>
                <a:cs typeface="Arial Rounded"/>
                <a:sym typeface="Arial Rounded"/>
              </a:rPr>
              <a:t>“a = value”, </a:t>
            </a:r>
            <a:r>
              <a:rPr b="1" lang="en-US" sz="2000">
                <a:solidFill>
                  <a:schemeClr val="dk1"/>
                </a:solidFill>
                <a:latin typeface="Arial Rounded"/>
                <a:ea typeface="Arial Rounded"/>
                <a:cs typeface="Arial Rounded"/>
                <a:sym typeface="Arial Rounded"/>
              </a:rPr>
              <a:t>then;</a:t>
            </a:r>
            <a:endParaRPr/>
          </a:p>
          <a:p>
            <a:pPr indent="0" lvl="0" marL="0" rtl="0" algn="l">
              <a:lnSpc>
                <a:spcPct val="120000"/>
              </a:lnSpc>
              <a:spcBef>
                <a:spcPts val="1000"/>
              </a:spcBef>
              <a:spcAft>
                <a:spcPts val="0"/>
              </a:spcAft>
              <a:buClr>
                <a:schemeClr val="dk1"/>
              </a:buClr>
              <a:buSzPts val="2000"/>
              <a:buNone/>
            </a:pPr>
            <a:r>
              <a:rPr b="1" lang="en-US" sz="2000">
                <a:solidFill>
                  <a:schemeClr val="dk1"/>
                </a:solidFill>
                <a:latin typeface="Arial Rounded"/>
                <a:ea typeface="Arial Rounded"/>
                <a:cs typeface="Arial Rounded"/>
                <a:sym typeface="Arial Rounded"/>
              </a:rPr>
              <a:t>                If the given table is partitioned on a, then we need to execute the selection operation in only single processor where in the given attribute is partitioned.</a:t>
            </a:r>
            <a:endParaRPr/>
          </a:p>
          <a:p>
            <a:pPr indent="0" lvl="0" marL="0" rtl="0" algn="l">
              <a:lnSpc>
                <a:spcPct val="120000"/>
              </a:lnSpc>
              <a:spcBef>
                <a:spcPts val="1000"/>
              </a:spcBef>
              <a:spcAft>
                <a:spcPts val="0"/>
              </a:spcAft>
              <a:buClr>
                <a:srgbClr val="FF0000"/>
              </a:buClr>
              <a:buSzPts val="2000"/>
              <a:buNone/>
            </a:pPr>
            <a:r>
              <a:rPr b="1" lang="en-US" sz="2000">
                <a:solidFill>
                  <a:srgbClr val="FF0000"/>
                </a:solidFill>
                <a:latin typeface="Arial Rounded"/>
                <a:ea typeface="Arial Rounded"/>
                <a:cs typeface="Arial Rounded"/>
                <a:sym typeface="Arial Rounded"/>
              </a:rPr>
              <a:t>CASE 2: </a:t>
            </a:r>
            <a:r>
              <a:rPr b="1" lang="en-US" sz="2000">
                <a:solidFill>
                  <a:schemeClr val="dk1"/>
                </a:solidFill>
                <a:latin typeface="Arial Rounded"/>
                <a:ea typeface="Arial Rounded"/>
                <a:cs typeface="Arial Rounded"/>
                <a:sym typeface="Arial Rounded"/>
              </a:rPr>
              <a:t>If the condition is of the form </a:t>
            </a:r>
            <a:r>
              <a:rPr b="1" lang="en-US" sz="2000">
                <a:solidFill>
                  <a:srgbClr val="7030A0"/>
                </a:solidFill>
                <a:latin typeface="Arial Rounded"/>
                <a:ea typeface="Arial Rounded"/>
                <a:cs typeface="Arial Rounded"/>
                <a:sym typeface="Arial Rounded"/>
              </a:rPr>
              <a:t>“value1 &lt;= a &lt;= value2” </a:t>
            </a:r>
            <a:r>
              <a:rPr b="1" lang="en-US" sz="2000">
                <a:solidFill>
                  <a:schemeClr val="dk1"/>
                </a:solidFill>
                <a:latin typeface="Arial Rounded"/>
                <a:ea typeface="Arial Rounded"/>
                <a:cs typeface="Arial Rounded"/>
                <a:sym typeface="Arial Rounded"/>
              </a:rPr>
              <a:t>(i.e, a falls in a range), then;</a:t>
            </a:r>
            <a:endParaRPr/>
          </a:p>
          <a:p>
            <a:pPr indent="0" lvl="0" marL="0" rtl="0" algn="l">
              <a:lnSpc>
                <a:spcPct val="120000"/>
              </a:lnSpc>
              <a:spcBef>
                <a:spcPts val="1000"/>
              </a:spcBef>
              <a:spcAft>
                <a:spcPts val="0"/>
              </a:spcAft>
              <a:buClr>
                <a:schemeClr val="dk1"/>
              </a:buClr>
              <a:buSzPts val="2000"/>
              <a:buNone/>
            </a:pPr>
            <a:r>
              <a:rPr b="1" lang="en-US" sz="2000">
                <a:solidFill>
                  <a:schemeClr val="dk1"/>
                </a:solidFill>
                <a:latin typeface="Arial Rounded"/>
                <a:ea typeface="Arial Rounded"/>
                <a:cs typeface="Arial Rounded"/>
                <a:sym typeface="Arial Rounded"/>
              </a:rPr>
              <a:t>                If the given relation is range partitioned on a, then we need to perform selection at all the processors wherever the range overlaps with the given range value1 to value2.</a:t>
            </a:r>
            <a:endParaRPr/>
          </a:p>
          <a:p>
            <a:pPr indent="0" lvl="0" marL="0" rtl="0" algn="l">
              <a:lnSpc>
                <a:spcPct val="120000"/>
              </a:lnSpc>
              <a:spcBef>
                <a:spcPts val="1000"/>
              </a:spcBef>
              <a:spcAft>
                <a:spcPts val="0"/>
              </a:spcAft>
              <a:buClr>
                <a:srgbClr val="FF0000"/>
              </a:buClr>
              <a:buSzPts val="2000"/>
              <a:buNone/>
            </a:pPr>
            <a:r>
              <a:rPr b="1" lang="en-US" sz="2000">
                <a:solidFill>
                  <a:srgbClr val="FF0000"/>
                </a:solidFill>
                <a:latin typeface="Arial Rounded"/>
                <a:ea typeface="Arial Rounded"/>
                <a:cs typeface="Arial Rounded"/>
                <a:sym typeface="Arial Rounded"/>
              </a:rPr>
              <a:t>CASE 3: </a:t>
            </a:r>
            <a:r>
              <a:rPr b="1" lang="en-US" sz="2000">
                <a:solidFill>
                  <a:schemeClr val="dk1"/>
                </a:solidFill>
                <a:latin typeface="Arial Rounded"/>
                <a:ea typeface="Arial Rounded"/>
                <a:cs typeface="Arial Rounded"/>
                <a:sym typeface="Arial Rounded"/>
              </a:rPr>
              <a:t>In all the other cases, the selection performed in parallel in all the processors. That is, for all the other type of queries, the selection can be done in parallel in all the processors, because, the data are partitioned over several processors.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9"/>
          <p:cNvSpPr txBox="1"/>
          <p:nvPr>
            <p:ph type="title"/>
          </p:nvPr>
        </p:nvSpPr>
        <p:spPr>
          <a:xfrm>
            <a:off x="838200" y="106680"/>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rgbClr val="002060"/>
              </a:buClr>
              <a:buSzPts val="2700"/>
              <a:buFont typeface="Noto Sans Symbols"/>
              <a:buChar char="❑"/>
            </a:pPr>
            <a:r>
              <a:rPr b="1" lang="en-US" sz="2700">
                <a:solidFill>
                  <a:srgbClr val="002060"/>
                </a:solidFill>
                <a:latin typeface="Arial Rounded"/>
                <a:ea typeface="Arial Rounded"/>
                <a:cs typeface="Arial Rounded"/>
                <a:sym typeface="Arial Rounded"/>
              </a:rPr>
              <a:t>Duplicate elimination</a:t>
            </a:r>
            <a:endParaRPr/>
          </a:p>
        </p:txBody>
      </p:sp>
      <p:sp>
        <p:nvSpPr>
          <p:cNvPr id="429" name="Google Shape;429;p49"/>
          <p:cNvSpPr txBox="1"/>
          <p:nvPr>
            <p:ph idx="1" type="body"/>
          </p:nvPr>
        </p:nvSpPr>
        <p:spPr>
          <a:xfrm>
            <a:off x="838200" y="1268729"/>
            <a:ext cx="11170285" cy="5353743"/>
          </a:xfrm>
          <a:prstGeom prst="rect">
            <a:avLst/>
          </a:prstGeom>
          <a:noFill/>
          <a:ln>
            <a:noFill/>
          </a:ln>
        </p:spPr>
        <p:txBody>
          <a:bodyPr anchorCtr="0" anchor="t" bIns="45700" lIns="91425" spcFirstLastPara="1" rIns="91425" wrap="square" tIns="45700">
            <a:normAutofit fontScale="90000" lnSpcReduction="20000"/>
          </a:bodyPr>
          <a:lstStyle/>
          <a:p>
            <a:pPr indent="-228600" lvl="0" marL="228600" rtl="0" algn="l">
              <a:lnSpc>
                <a:spcPct val="100000"/>
              </a:lnSpc>
              <a:spcBef>
                <a:spcPts val="0"/>
              </a:spcBef>
              <a:spcAft>
                <a:spcPts val="0"/>
              </a:spcAft>
              <a:buClr>
                <a:schemeClr val="dk1"/>
              </a:buClr>
              <a:buSzPct val="100000"/>
              <a:buChar char="•"/>
            </a:pPr>
            <a:r>
              <a:rPr b="1" lang="en-US">
                <a:latin typeface="Arial Rounded"/>
                <a:ea typeface="Arial Rounded"/>
                <a:cs typeface="Arial Rounded"/>
                <a:sym typeface="Arial Rounded"/>
              </a:rPr>
              <a:t>Duplicate elimination is about removing duplicate values or neglecting repeated values that are stored in an attribute for various reasons.</a:t>
            </a:r>
            <a:endParaRPr/>
          </a:p>
          <a:p>
            <a:pPr indent="-68579" lvl="0" marL="228600" rtl="0" algn="l">
              <a:lnSpc>
                <a:spcPct val="100000"/>
              </a:lnSpc>
              <a:spcBef>
                <a:spcPts val="1000"/>
              </a:spcBef>
              <a:spcAft>
                <a:spcPts val="0"/>
              </a:spcAft>
              <a:buClr>
                <a:schemeClr val="dk1"/>
              </a:buClr>
              <a:buSzPct val="100000"/>
              <a:buNone/>
            </a:pPr>
            <a:r>
              <a:t/>
            </a:r>
            <a:endParaRPr b="1">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ct val="100000"/>
              <a:buNone/>
            </a:pPr>
            <a:r>
              <a:rPr b="1" lang="en-US">
                <a:latin typeface="Arial Rounded"/>
                <a:ea typeface="Arial Rounded"/>
                <a:cs typeface="Arial Rounded"/>
                <a:sym typeface="Arial Rounded"/>
              </a:rPr>
              <a:t>For example, in one or all of the following situations we need duplicate elimination:</a:t>
            </a:r>
            <a:endParaRPr/>
          </a:p>
          <a:p>
            <a:pPr indent="-228600" lvl="0" marL="228600" rtl="0" algn="l">
              <a:lnSpc>
                <a:spcPct val="100000"/>
              </a:lnSpc>
              <a:spcBef>
                <a:spcPts val="1000"/>
              </a:spcBef>
              <a:spcAft>
                <a:spcPts val="0"/>
              </a:spcAft>
              <a:buClr>
                <a:schemeClr val="dk1"/>
              </a:buClr>
              <a:buSzPct val="100000"/>
              <a:buFont typeface="Noto Sans Symbols"/>
              <a:buChar char="⮚"/>
            </a:pPr>
            <a:r>
              <a:rPr b="1" lang="en-US">
                <a:latin typeface="Arial Rounded"/>
                <a:ea typeface="Arial Rounded"/>
                <a:cs typeface="Arial Rounded"/>
                <a:sym typeface="Arial Rounded"/>
              </a:rPr>
              <a:t>When we would like to count the number of unique values present in a table under a particular attribute.</a:t>
            </a:r>
            <a:endParaRPr/>
          </a:p>
          <a:p>
            <a:pPr indent="-228600" lvl="0" marL="228600" rtl="0" algn="l">
              <a:lnSpc>
                <a:spcPct val="100000"/>
              </a:lnSpc>
              <a:spcBef>
                <a:spcPts val="1000"/>
              </a:spcBef>
              <a:spcAft>
                <a:spcPts val="0"/>
              </a:spcAft>
              <a:buClr>
                <a:schemeClr val="dk1"/>
              </a:buClr>
              <a:buSzPct val="100000"/>
              <a:buFont typeface="Noto Sans Symbols"/>
              <a:buChar char="⮚"/>
            </a:pPr>
            <a:r>
              <a:rPr b="1" lang="en-US">
                <a:latin typeface="Arial Rounded"/>
                <a:ea typeface="Arial Rounded"/>
                <a:cs typeface="Arial Rounded"/>
                <a:sym typeface="Arial Rounded"/>
              </a:rPr>
              <a:t>When we need to retrieve the values and present only the unique values of an attribute.</a:t>
            </a:r>
            <a:endParaRPr/>
          </a:p>
          <a:p>
            <a:pPr indent="-228600" lvl="0" marL="228600" rtl="0" algn="l">
              <a:lnSpc>
                <a:spcPct val="100000"/>
              </a:lnSpc>
              <a:spcBef>
                <a:spcPts val="1000"/>
              </a:spcBef>
              <a:spcAft>
                <a:spcPts val="0"/>
              </a:spcAft>
              <a:buClr>
                <a:schemeClr val="dk1"/>
              </a:buClr>
              <a:buSzPct val="100000"/>
              <a:buFont typeface="Noto Sans Symbols"/>
              <a:buChar char="⮚"/>
            </a:pPr>
            <a:r>
              <a:rPr b="1" lang="en-US">
                <a:latin typeface="Arial Rounded"/>
                <a:ea typeface="Arial Rounded"/>
                <a:cs typeface="Arial Rounded"/>
                <a:sym typeface="Arial Rounded"/>
              </a:rPr>
              <a:t>When we need to join two tables, etc.</a:t>
            </a:r>
            <a:endParaRPr/>
          </a:p>
          <a:p>
            <a:pPr indent="0" lvl="0" marL="0" rtl="0" algn="l">
              <a:lnSpc>
                <a:spcPct val="100000"/>
              </a:lnSpc>
              <a:spcBef>
                <a:spcPts val="1000"/>
              </a:spcBef>
              <a:spcAft>
                <a:spcPts val="0"/>
              </a:spcAft>
              <a:buClr>
                <a:schemeClr val="dk1"/>
              </a:buClr>
              <a:buSzPct val="100000"/>
              <a:buNone/>
            </a:pPr>
            <a:r>
              <a:t/>
            </a:r>
            <a:endParaRPr b="1">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ct val="100000"/>
              <a:buNone/>
            </a:pPr>
            <a:r>
              <a:rPr b="1" lang="en-US">
                <a:latin typeface="Arial Rounded"/>
                <a:ea typeface="Arial Rounded"/>
                <a:cs typeface="Arial Rounded"/>
                <a:sym typeface="Arial Rounded"/>
              </a:rPr>
              <a:t>The main approach used for duplicate elimination is by </a:t>
            </a:r>
            <a:r>
              <a:rPr b="1" lang="en-US">
                <a:solidFill>
                  <a:srgbClr val="7030A0"/>
                </a:solidFill>
                <a:latin typeface="Arial Rounded"/>
                <a:ea typeface="Arial Rounded"/>
                <a:cs typeface="Arial Rounded"/>
                <a:sym typeface="Arial Rounded"/>
              </a:rPr>
              <a:t>sorting the data on the attribute where in the duplicate values to be removed.</a:t>
            </a:r>
            <a:endParaRPr/>
          </a:p>
          <a:p>
            <a:pPr indent="-68579" lvl="0" marL="228600" rtl="0" algn="l">
              <a:lnSpc>
                <a:spcPct val="100000"/>
              </a:lnSpc>
              <a:spcBef>
                <a:spcPts val="1000"/>
              </a:spcBef>
              <a:spcAft>
                <a:spcPts val="0"/>
              </a:spcAft>
              <a:buClr>
                <a:schemeClr val="dk1"/>
              </a:buClr>
              <a:buSzPct val="100000"/>
              <a:buNone/>
            </a:pPr>
            <a:r>
              <a:t/>
            </a:r>
            <a:endParaRPr b="1">
              <a:latin typeface="Arial Rounded"/>
              <a:ea typeface="Arial Rounded"/>
              <a:cs typeface="Arial Rounded"/>
              <a:sym typeface="Arial Rounde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0"/>
          <p:cNvSpPr txBox="1"/>
          <p:nvPr>
            <p:ph idx="1" type="body"/>
          </p:nvPr>
        </p:nvSpPr>
        <p:spPr>
          <a:xfrm>
            <a:off x="323330" y="449407"/>
            <a:ext cx="11359515" cy="5914448"/>
          </a:xfrm>
          <a:prstGeom prst="rect">
            <a:avLst/>
          </a:prstGeom>
          <a:noFill/>
          <a:ln>
            <a:noFill/>
          </a:ln>
        </p:spPr>
        <p:txBody>
          <a:bodyPr anchorCtr="0" anchor="t" bIns="45700" lIns="91425" spcFirstLastPara="1" rIns="91425" wrap="square" tIns="45700">
            <a:normAutofit fontScale="97500" lnSpcReduction="10000"/>
          </a:bodyPr>
          <a:lstStyle/>
          <a:p>
            <a:pPr indent="-228600" lvl="0" marL="228600" rtl="0" algn="l">
              <a:lnSpc>
                <a:spcPct val="100000"/>
              </a:lnSpc>
              <a:spcBef>
                <a:spcPts val="0"/>
              </a:spcBef>
              <a:spcAft>
                <a:spcPts val="0"/>
              </a:spcAft>
              <a:buClr>
                <a:schemeClr val="dk1"/>
              </a:buClr>
              <a:buSzPct val="100000"/>
              <a:buChar char="•"/>
            </a:pPr>
            <a:r>
              <a:rPr b="1" lang="en-US" sz="2400">
                <a:latin typeface="Arial Rounded"/>
                <a:ea typeface="Arial Rounded"/>
                <a:cs typeface="Arial Rounded"/>
                <a:sym typeface="Arial Rounded"/>
              </a:rPr>
              <a:t>Duplicate elimination can be achieved in the following two ways in parallel database</a:t>
            </a:r>
            <a:endParaRPr/>
          </a:p>
          <a:p>
            <a:pPr indent="-80010" lvl="0" marL="228600" rtl="0" algn="l">
              <a:lnSpc>
                <a:spcPct val="100000"/>
              </a:lnSpc>
              <a:spcBef>
                <a:spcPts val="1000"/>
              </a:spcBef>
              <a:spcAft>
                <a:spcPts val="0"/>
              </a:spcAft>
              <a:buClr>
                <a:schemeClr val="dk1"/>
              </a:buClr>
              <a:buSzPct val="100000"/>
              <a:buNone/>
            </a:pPr>
            <a:r>
              <a:t/>
            </a:r>
            <a:endParaRPr b="1" sz="2400">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ct val="100000"/>
              <a:buNone/>
            </a:pPr>
            <a:r>
              <a:rPr b="1" lang="en-US" sz="2400">
                <a:latin typeface="Arial Rounded"/>
                <a:ea typeface="Arial Rounded"/>
                <a:cs typeface="Arial Rounded"/>
                <a:sym typeface="Arial Rounded"/>
              </a:rPr>
              <a:t>1. During parallel sort, if we find any repeated values while partitioning, those can be discarded immediately. </a:t>
            </a:r>
            <a:endParaRPr/>
          </a:p>
          <a:p>
            <a:pPr indent="0" lvl="0" marL="0" rtl="0" algn="l">
              <a:lnSpc>
                <a:spcPct val="100000"/>
              </a:lnSpc>
              <a:spcBef>
                <a:spcPts val="1000"/>
              </a:spcBef>
              <a:spcAft>
                <a:spcPts val="0"/>
              </a:spcAft>
              <a:buClr>
                <a:schemeClr val="dk1"/>
              </a:buClr>
              <a:buSzPct val="100000"/>
              <a:buNone/>
            </a:pPr>
            <a:r>
              <a:rPr b="1" lang="en-US" sz="2400">
                <a:latin typeface="Arial Rounded"/>
                <a:ea typeface="Arial Rounded"/>
                <a:cs typeface="Arial Rounded"/>
                <a:sym typeface="Arial Rounded"/>
              </a:rPr>
              <a:t>In a table while you partition the data, you send tuples to different partitions based on the partition attribute and conditions. Suppose that we are partitioning on Salary attribute. During the process, if you find any of the repeated values which are already send into a partition, you can discard those values if they repeat.</a:t>
            </a:r>
            <a:endParaRPr/>
          </a:p>
          <a:p>
            <a:pPr indent="0" lvl="0" marL="0" rtl="0" algn="l">
              <a:lnSpc>
                <a:spcPct val="100000"/>
              </a:lnSpc>
              <a:spcBef>
                <a:spcPts val="1000"/>
              </a:spcBef>
              <a:spcAft>
                <a:spcPts val="0"/>
              </a:spcAft>
              <a:buClr>
                <a:schemeClr val="dk1"/>
              </a:buClr>
              <a:buSzPct val="100000"/>
              <a:buNone/>
            </a:pPr>
            <a:r>
              <a:t/>
            </a:r>
            <a:endParaRPr b="1" sz="2400">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ct val="100000"/>
              <a:buNone/>
            </a:pPr>
            <a:r>
              <a:rPr b="1" lang="en-US" sz="2400">
                <a:latin typeface="Arial Rounded"/>
                <a:ea typeface="Arial Rounded"/>
                <a:cs typeface="Arial Rounded"/>
                <a:sym typeface="Arial Rounded"/>
              </a:rPr>
              <a:t>2. We can partition the table into many partitions(using range or hash partitioning) , and instruct all the processors to sort the data locally and remove the duplicates(This works only for the data that are hash or range partitioned on the duplicate elimination attribute).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rgbClr val="002060"/>
              </a:buClr>
              <a:buSzPts val="2700"/>
              <a:buFont typeface="Noto Sans Symbols"/>
              <a:buChar char="❑"/>
            </a:pPr>
            <a:r>
              <a:rPr b="1" lang="en-US" sz="2700">
                <a:solidFill>
                  <a:srgbClr val="002060"/>
                </a:solidFill>
                <a:latin typeface="Arial Rounded"/>
                <a:ea typeface="Arial Rounded"/>
                <a:cs typeface="Arial Rounded"/>
                <a:sym typeface="Arial Rounded"/>
              </a:rPr>
              <a:t>Projection</a:t>
            </a:r>
            <a:endParaRPr/>
          </a:p>
        </p:txBody>
      </p:sp>
      <p:sp>
        <p:nvSpPr>
          <p:cNvPr id="440" name="Google Shape;440;p51"/>
          <p:cNvSpPr txBox="1"/>
          <p:nvPr>
            <p:ph idx="1" type="body"/>
          </p:nvPr>
        </p:nvSpPr>
        <p:spPr>
          <a:xfrm>
            <a:off x="375350" y="1590975"/>
            <a:ext cx="11613600" cy="4351800"/>
          </a:xfrm>
          <a:prstGeom prst="rect">
            <a:avLst/>
          </a:prstGeom>
          <a:noFill/>
          <a:ln>
            <a:noFill/>
          </a:ln>
        </p:spPr>
        <p:txBody>
          <a:bodyPr anchorCtr="0" anchor="t" bIns="45700" lIns="91425" spcFirstLastPara="1" rIns="91425" wrap="square" tIns="45700">
            <a:noAutofit/>
          </a:bodyPr>
          <a:lstStyle/>
          <a:p>
            <a:pPr indent="-381000" lvl="0" marL="457200" rtl="0" algn="just">
              <a:lnSpc>
                <a:spcPct val="115000"/>
              </a:lnSpc>
              <a:spcBef>
                <a:spcPts val="0"/>
              </a:spcBef>
              <a:spcAft>
                <a:spcPts val="0"/>
              </a:spcAft>
              <a:buClr>
                <a:srgbClr val="222222"/>
              </a:buClr>
              <a:buSzPts val="2400"/>
              <a:buFont typeface="Arial Rounded"/>
              <a:buChar char="•"/>
            </a:pPr>
            <a:r>
              <a:rPr lang="en-US" sz="2400">
                <a:solidFill>
                  <a:srgbClr val="222222"/>
                </a:solidFill>
                <a:highlight>
                  <a:srgbClr val="FFFFFF"/>
                </a:highlight>
                <a:latin typeface="Arial Rounded"/>
                <a:ea typeface="Arial Rounded"/>
                <a:cs typeface="Arial Rounded"/>
                <a:sym typeface="Arial Rounded"/>
              </a:rPr>
              <a:t>Projection means selection of one or more attributes from a table with the records stored in them. </a:t>
            </a:r>
            <a:endParaRPr sz="2400">
              <a:solidFill>
                <a:srgbClr val="222222"/>
              </a:solidFill>
              <a:highlight>
                <a:srgbClr val="FFFFFF"/>
              </a:highlight>
              <a:latin typeface="Arial Rounded"/>
              <a:ea typeface="Arial Rounded"/>
              <a:cs typeface="Arial Rounded"/>
              <a:sym typeface="Arial Rounded"/>
            </a:endParaRPr>
          </a:p>
          <a:p>
            <a:pPr indent="0" lvl="0" marL="457200" rtl="0" algn="just">
              <a:lnSpc>
                <a:spcPct val="115000"/>
              </a:lnSpc>
              <a:spcBef>
                <a:spcPts val="300"/>
              </a:spcBef>
              <a:spcAft>
                <a:spcPts val="0"/>
              </a:spcAft>
              <a:buNone/>
            </a:pPr>
            <a:r>
              <a:t/>
            </a:r>
            <a:endParaRPr sz="24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None/>
            </a:pPr>
            <a:r>
              <a:rPr lang="en-US" sz="2400">
                <a:solidFill>
                  <a:srgbClr val="222222"/>
                </a:solidFill>
                <a:highlight>
                  <a:srgbClr val="FFFFFF"/>
                </a:highlight>
                <a:latin typeface="Arial Rounded"/>
                <a:ea typeface="Arial Rounded"/>
                <a:cs typeface="Arial Rounded"/>
                <a:sym typeface="Arial Rounded"/>
              </a:rPr>
              <a:t>This operation can be parallelized as follows;</a:t>
            </a:r>
            <a:endParaRPr sz="24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Clr>
                <a:schemeClr val="dk1"/>
              </a:buClr>
              <a:buSzPts val="1100"/>
              <a:buFont typeface="Arial"/>
              <a:buNone/>
            </a:pPr>
            <a:r>
              <a:rPr lang="en-US" sz="2400">
                <a:solidFill>
                  <a:srgbClr val="38761D"/>
                </a:solidFill>
                <a:highlight>
                  <a:srgbClr val="FFFFFF"/>
                </a:highlight>
                <a:latin typeface="Arial Rounded"/>
                <a:ea typeface="Arial Rounded"/>
                <a:cs typeface="Arial Rounded"/>
                <a:sym typeface="Arial Rounded"/>
              </a:rPr>
              <a:t>1. Projection without duplicate elimination: </a:t>
            </a:r>
            <a:r>
              <a:rPr lang="en-US" sz="2400">
                <a:solidFill>
                  <a:srgbClr val="222222"/>
                </a:solidFill>
                <a:highlight>
                  <a:srgbClr val="FFFFFF"/>
                </a:highlight>
                <a:latin typeface="Arial Rounded"/>
                <a:ea typeface="Arial Rounded"/>
                <a:cs typeface="Arial Rounded"/>
                <a:sym typeface="Arial Rounded"/>
              </a:rPr>
              <a:t>while you read data into various disks during partitioning, you can project the required columns.</a:t>
            </a:r>
            <a:endParaRPr sz="2400">
              <a:solidFill>
                <a:srgbClr val="222222"/>
              </a:solidFill>
              <a:highlight>
                <a:srgbClr val="FFFFFF"/>
              </a:highlight>
              <a:latin typeface="Arial Rounded"/>
              <a:ea typeface="Arial Rounded"/>
              <a:cs typeface="Arial Rounded"/>
              <a:sym typeface="Arial Rounded"/>
            </a:endParaRPr>
          </a:p>
          <a:p>
            <a:pPr indent="0" lvl="0" marL="0" rtl="0" algn="just">
              <a:lnSpc>
                <a:spcPct val="115000"/>
              </a:lnSpc>
              <a:spcBef>
                <a:spcPts val="300"/>
              </a:spcBef>
              <a:spcAft>
                <a:spcPts val="0"/>
              </a:spcAft>
              <a:buClr>
                <a:schemeClr val="dk1"/>
              </a:buClr>
              <a:buSzPts val="1100"/>
              <a:buFont typeface="Arial"/>
              <a:buNone/>
            </a:pPr>
            <a:r>
              <a:rPr lang="en-US" sz="2400">
                <a:solidFill>
                  <a:srgbClr val="38761D"/>
                </a:solidFill>
                <a:highlight>
                  <a:srgbClr val="FFFFFF"/>
                </a:highlight>
                <a:latin typeface="Arial Rounded"/>
                <a:ea typeface="Arial Rounded"/>
                <a:cs typeface="Arial Rounded"/>
                <a:sym typeface="Arial Rounded"/>
              </a:rPr>
              <a:t>2. Projection with duplicate elimination:</a:t>
            </a:r>
            <a:r>
              <a:rPr lang="en-US" sz="2400">
                <a:solidFill>
                  <a:srgbClr val="222222"/>
                </a:solidFill>
                <a:highlight>
                  <a:srgbClr val="FFFFFF"/>
                </a:highlight>
                <a:latin typeface="Arial Rounded"/>
                <a:ea typeface="Arial Rounded"/>
                <a:cs typeface="Arial Rounded"/>
                <a:sym typeface="Arial Rounded"/>
              </a:rPr>
              <a:t> any of the techniques suggested in Duplicate elimination section above can be used.</a:t>
            </a:r>
            <a:endParaRPr sz="2400">
              <a:solidFill>
                <a:srgbClr val="222222"/>
              </a:solidFill>
              <a:highlight>
                <a:srgbClr val="FFFFFF"/>
              </a:highlight>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ts val="2400"/>
              <a:buNone/>
            </a:pPr>
            <a:r>
              <a:t/>
            </a:r>
            <a:endParaRPr b="1" sz="2400">
              <a:latin typeface="Arial Rounded"/>
              <a:ea typeface="Arial Rounded"/>
              <a:cs typeface="Arial Rounded"/>
              <a:sym typeface="Arial Rounded"/>
            </a:endParaRPr>
          </a:p>
          <a:p>
            <a:pPr indent="0" lvl="0" marL="0" rtl="0" algn="l">
              <a:lnSpc>
                <a:spcPct val="100000"/>
              </a:lnSpc>
              <a:spcBef>
                <a:spcPts val="1000"/>
              </a:spcBef>
              <a:spcAft>
                <a:spcPts val="0"/>
              </a:spcAft>
              <a:buClr>
                <a:schemeClr val="dk1"/>
              </a:buClr>
              <a:buSzPts val="2400"/>
              <a:buNone/>
            </a:pPr>
            <a:r>
              <a:t/>
            </a:r>
            <a:endParaRPr b="1" sz="2400">
              <a:latin typeface="Arial Rounded"/>
              <a:ea typeface="Arial Rounded"/>
              <a:cs typeface="Arial Rounded"/>
              <a:sym typeface="Arial Rounde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rgbClr val="002060"/>
              </a:buClr>
              <a:buSzPts val="2700"/>
              <a:buFont typeface="Noto Sans Symbols"/>
              <a:buChar char="❑"/>
            </a:pPr>
            <a:r>
              <a:rPr b="1" lang="en-US" sz="2700">
                <a:solidFill>
                  <a:srgbClr val="002060"/>
                </a:solidFill>
                <a:latin typeface="Arial Rounded"/>
                <a:ea typeface="Arial Rounded"/>
                <a:cs typeface="Arial Rounded"/>
                <a:sym typeface="Arial Rounded"/>
              </a:rPr>
              <a:t>Aggregation</a:t>
            </a:r>
            <a:endParaRPr b="1" sz="2700">
              <a:solidFill>
                <a:srgbClr val="002060"/>
              </a:solidFill>
              <a:latin typeface="Arial Rounded"/>
              <a:ea typeface="Arial Rounded"/>
              <a:cs typeface="Arial Rounded"/>
              <a:sym typeface="Arial Rounded"/>
            </a:endParaRPr>
          </a:p>
        </p:txBody>
      </p:sp>
      <p:sp>
        <p:nvSpPr>
          <p:cNvPr id="446" name="Google Shape;446;p52"/>
          <p:cNvSpPr txBox="1"/>
          <p:nvPr>
            <p:ph idx="1" type="body"/>
          </p:nvPr>
        </p:nvSpPr>
        <p:spPr>
          <a:xfrm>
            <a:off x="838200" y="1825625"/>
            <a:ext cx="11101705" cy="43516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US" sz="2400">
                <a:latin typeface="Arial Rounded"/>
                <a:ea typeface="Arial Rounded"/>
                <a:cs typeface="Arial Rounded"/>
                <a:sym typeface="Arial Rounded"/>
              </a:rPr>
              <a:t>Aggregation operation involves finding the count of records, sum of values stored in an attribute, minimum or maximum value of all the values stored in an attribute, and average value of all the attribute values. This operation basically needs grouping. </a:t>
            </a:r>
            <a:endParaRPr/>
          </a:p>
          <a:p>
            <a:pPr indent="-76200" lvl="0" marL="228600" rtl="0" algn="l">
              <a:lnSpc>
                <a:spcPct val="90000"/>
              </a:lnSpc>
              <a:spcBef>
                <a:spcPts val="1000"/>
              </a:spcBef>
              <a:spcAft>
                <a:spcPts val="0"/>
              </a:spcAft>
              <a:buClr>
                <a:schemeClr val="dk1"/>
              </a:buClr>
              <a:buSzPts val="2400"/>
              <a:buNone/>
            </a:pPr>
            <a:r>
              <a:t/>
            </a:r>
            <a:endParaRPr b="1" sz="2400">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ts val="2400"/>
              <a:buChar char="•"/>
            </a:pPr>
            <a:r>
              <a:rPr b="1" lang="en-US" sz="2400">
                <a:latin typeface="Arial Rounded"/>
                <a:ea typeface="Arial Rounded"/>
                <a:cs typeface="Arial Rounded"/>
                <a:sym typeface="Arial Rounded"/>
              </a:rPr>
              <a:t>For example, we can find the sum of salary for all the records of Employee table, or we can find sum of salary with some filter conditions. In the first case, all the records of Employee table come under one group. In the later case, we choose the group based on the conditions included.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030A0"/>
              </a:buClr>
              <a:buSzPts val="3400"/>
              <a:buFont typeface="Arial Rounded"/>
              <a:buNone/>
            </a:pPr>
            <a:r>
              <a:rPr b="1" lang="en-US" sz="3400">
                <a:solidFill>
                  <a:srgbClr val="7030A0"/>
                </a:solidFill>
                <a:latin typeface="Arial Rounded"/>
                <a:ea typeface="Arial Rounded"/>
                <a:cs typeface="Arial Rounded"/>
                <a:sym typeface="Arial Rounded"/>
              </a:rPr>
              <a:t>Issues of Parallel Systems</a:t>
            </a:r>
            <a:endParaRPr/>
          </a:p>
        </p:txBody>
      </p:sp>
      <p:sp>
        <p:nvSpPr>
          <p:cNvPr id="452" name="Google Shape;452;p53"/>
          <p:cNvSpPr txBox="1"/>
          <p:nvPr>
            <p:ph idx="1" type="body"/>
          </p:nvPr>
        </p:nvSpPr>
        <p:spPr>
          <a:xfrm>
            <a:off x="626110" y="1649846"/>
            <a:ext cx="10939780" cy="4843029"/>
          </a:xfrm>
          <a:prstGeom prst="rect">
            <a:avLst/>
          </a:prstGeom>
          <a:noFill/>
          <a:ln>
            <a:noFill/>
          </a:ln>
        </p:spPr>
        <p:txBody>
          <a:bodyPr anchorCtr="0" anchor="t" bIns="45700" lIns="91425" spcFirstLastPara="1" rIns="91425" wrap="square" tIns="45700">
            <a:normAutofit fontScale="97500"/>
          </a:bodyPr>
          <a:lstStyle/>
          <a:p>
            <a:pPr indent="0" lvl="0" marL="0" rtl="0" algn="l">
              <a:lnSpc>
                <a:spcPct val="90000"/>
              </a:lnSpc>
              <a:spcBef>
                <a:spcPts val="0"/>
              </a:spcBef>
              <a:spcAft>
                <a:spcPts val="0"/>
              </a:spcAft>
              <a:buClr>
                <a:schemeClr val="dk1"/>
              </a:buClr>
              <a:buSzPct val="100000"/>
              <a:buNone/>
            </a:pPr>
            <a:r>
              <a:rPr b="1" lang="en-US" sz="2400">
                <a:latin typeface="Arial Rounded"/>
                <a:ea typeface="Arial Rounded"/>
                <a:cs typeface="Arial Rounded"/>
                <a:sym typeface="Arial Rounded"/>
              </a:rPr>
              <a:t>Since large-scale parallel database systems are used primarily for storing large volumes of data, and for processing decision-support queries on those data, these topics are the most important in a parallel database system.</a:t>
            </a:r>
            <a:endParaRPr/>
          </a:p>
          <a:p>
            <a:pPr indent="0" lvl="0" marL="0" rtl="0" algn="l">
              <a:lnSpc>
                <a:spcPct val="90000"/>
              </a:lnSpc>
              <a:spcBef>
                <a:spcPts val="1000"/>
              </a:spcBef>
              <a:spcAft>
                <a:spcPts val="0"/>
              </a:spcAft>
              <a:buClr>
                <a:schemeClr val="dk1"/>
              </a:buClr>
              <a:buSzPct val="100000"/>
              <a:buNone/>
            </a:pPr>
            <a:r>
              <a:rPr b="1" lang="en-US" sz="2400">
                <a:latin typeface="Arial Rounded"/>
                <a:ea typeface="Arial Rounded"/>
                <a:cs typeface="Arial Rounded"/>
                <a:sym typeface="Arial Rounded"/>
              </a:rPr>
              <a:t>Parallel loading of data from external sources is an important requirement, if we are to handle large volumes of incoming data.</a:t>
            </a:r>
            <a:endParaRPr/>
          </a:p>
          <a:p>
            <a:pPr indent="0" lvl="0" marL="0" rtl="0" algn="l">
              <a:lnSpc>
                <a:spcPct val="90000"/>
              </a:lnSpc>
              <a:spcBef>
                <a:spcPts val="1000"/>
              </a:spcBef>
              <a:spcAft>
                <a:spcPts val="0"/>
              </a:spcAft>
              <a:buClr>
                <a:schemeClr val="dk1"/>
              </a:buClr>
              <a:buSzPct val="100000"/>
              <a:buNone/>
            </a:pPr>
            <a:r>
              <a:t/>
            </a:r>
            <a:endParaRPr b="1" sz="2400">
              <a:latin typeface="Arial Rounded"/>
              <a:ea typeface="Arial Rounded"/>
              <a:cs typeface="Arial Rounded"/>
              <a:sym typeface="Arial Rounded"/>
            </a:endParaRPr>
          </a:p>
          <a:p>
            <a:pPr indent="0" lvl="0" marL="0" rtl="0" algn="l">
              <a:lnSpc>
                <a:spcPct val="90000"/>
              </a:lnSpc>
              <a:spcBef>
                <a:spcPts val="1000"/>
              </a:spcBef>
              <a:spcAft>
                <a:spcPts val="0"/>
              </a:spcAft>
              <a:buClr>
                <a:schemeClr val="dk1"/>
              </a:buClr>
              <a:buSzPct val="100000"/>
              <a:buNone/>
            </a:pPr>
            <a:r>
              <a:rPr b="1" lang="en-US" sz="2400">
                <a:latin typeface="Arial Rounded"/>
                <a:ea typeface="Arial Rounded"/>
                <a:cs typeface="Arial Rounded"/>
                <a:sym typeface="Arial Rounded"/>
              </a:rPr>
              <a:t>A large parallel database system must also address these availability issues:</a:t>
            </a:r>
            <a:endParaRPr/>
          </a:p>
          <a:p>
            <a:pPr indent="0" lvl="0" marL="0" rtl="0" algn="l">
              <a:lnSpc>
                <a:spcPct val="90000"/>
              </a:lnSpc>
              <a:spcBef>
                <a:spcPts val="1000"/>
              </a:spcBef>
              <a:spcAft>
                <a:spcPts val="0"/>
              </a:spcAft>
              <a:buClr>
                <a:srgbClr val="00B0F0"/>
              </a:buClr>
              <a:buSzPct val="100000"/>
              <a:buNone/>
            </a:pPr>
            <a:r>
              <a:rPr b="1" lang="en-US" sz="2400">
                <a:solidFill>
                  <a:srgbClr val="00B0F0"/>
                </a:solidFill>
                <a:latin typeface="Arial Rounded"/>
                <a:ea typeface="Arial Rounded"/>
                <a:cs typeface="Arial Rounded"/>
                <a:sym typeface="Arial Rounded"/>
              </a:rPr>
              <a:t>1. Resilience to failure of some processors or disks.</a:t>
            </a:r>
            <a:endParaRPr/>
          </a:p>
          <a:p>
            <a:pPr indent="0" lvl="0" marL="0" rtl="0" algn="l">
              <a:lnSpc>
                <a:spcPct val="90000"/>
              </a:lnSpc>
              <a:spcBef>
                <a:spcPts val="1000"/>
              </a:spcBef>
              <a:spcAft>
                <a:spcPts val="0"/>
              </a:spcAft>
              <a:buClr>
                <a:srgbClr val="00B0F0"/>
              </a:buClr>
              <a:buSzPct val="100000"/>
              <a:buNone/>
            </a:pPr>
            <a:r>
              <a:rPr b="1" lang="en-US" sz="2400">
                <a:solidFill>
                  <a:srgbClr val="00B0F0"/>
                </a:solidFill>
                <a:latin typeface="Arial Rounded"/>
                <a:ea typeface="Arial Rounded"/>
                <a:cs typeface="Arial Rounded"/>
                <a:sym typeface="Arial Rounded"/>
              </a:rPr>
              <a:t>2. Online reorganization of data and schema changes.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4"/>
          <p:cNvSpPr txBox="1"/>
          <p:nvPr>
            <p:ph idx="1" type="body"/>
          </p:nvPr>
        </p:nvSpPr>
        <p:spPr>
          <a:xfrm>
            <a:off x="456875" y="181550"/>
            <a:ext cx="11227500" cy="65424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00B0F0"/>
              </a:buClr>
              <a:buSzPct val="100000"/>
              <a:buNone/>
            </a:pPr>
            <a:r>
              <a:rPr b="1" lang="en-US" sz="2700">
                <a:solidFill>
                  <a:srgbClr val="00B0F0"/>
                </a:solidFill>
                <a:latin typeface="Arial Rounded"/>
                <a:ea typeface="Arial Rounded"/>
                <a:cs typeface="Arial Rounded"/>
                <a:sym typeface="Arial Rounded"/>
              </a:rPr>
              <a:t>1.Resilience to failure of some processors or disks.</a:t>
            </a:r>
            <a:endParaRPr/>
          </a:p>
          <a:p>
            <a:pPr indent="0" lvl="0" marL="0" rtl="0" algn="l">
              <a:lnSpc>
                <a:spcPct val="90000"/>
              </a:lnSpc>
              <a:spcBef>
                <a:spcPts val="1000"/>
              </a:spcBef>
              <a:spcAft>
                <a:spcPts val="0"/>
              </a:spcAft>
              <a:buClr>
                <a:schemeClr val="dk1"/>
              </a:buClr>
              <a:buSzPct val="100000"/>
              <a:buNone/>
            </a:pPr>
            <a:r>
              <a:t/>
            </a:r>
            <a:endParaRPr b="1" sz="1400">
              <a:solidFill>
                <a:srgbClr val="00B0F0"/>
              </a:solidFill>
              <a:latin typeface="Arial Rounded"/>
              <a:ea typeface="Arial Rounded"/>
              <a:cs typeface="Arial Rounded"/>
              <a:sym typeface="Arial Rounded"/>
            </a:endParaRPr>
          </a:p>
          <a:p>
            <a:pPr indent="-228600" lvl="0" marL="228600" rtl="0" algn="l">
              <a:lnSpc>
                <a:spcPct val="90000"/>
              </a:lnSpc>
              <a:spcBef>
                <a:spcPts val="1000"/>
              </a:spcBef>
              <a:spcAft>
                <a:spcPts val="0"/>
              </a:spcAft>
              <a:buClr>
                <a:schemeClr val="dk1"/>
              </a:buClr>
              <a:buSzPct val="100000"/>
              <a:buChar char="•"/>
            </a:pPr>
            <a:r>
              <a:rPr b="1" lang="en-US" sz="2400">
                <a:latin typeface="Arial Rounded"/>
                <a:ea typeface="Arial Rounded"/>
                <a:cs typeface="Arial Rounded"/>
                <a:sym typeface="Arial Rounded"/>
              </a:rPr>
              <a:t>With a large number of processors and disks, the probability that at least one processor or disk will malfunction is significantly greater than in a single processor system with one disk. A poorly designed parallel system will stop functioning if any component (processor or disk) fails. </a:t>
            </a:r>
            <a:endParaRPr/>
          </a:p>
          <a:p>
            <a:pPr indent="-228600" lvl="0" marL="228600" rtl="0" algn="l">
              <a:lnSpc>
                <a:spcPct val="90000"/>
              </a:lnSpc>
              <a:spcBef>
                <a:spcPts val="1000"/>
              </a:spcBef>
              <a:spcAft>
                <a:spcPts val="0"/>
              </a:spcAft>
              <a:buClr>
                <a:schemeClr val="dk1"/>
              </a:buClr>
              <a:buSzPct val="100000"/>
              <a:buChar char="•"/>
            </a:pPr>
            <a:r>
              <a:rPr b="1" lang="en-US" sz="2400">
                <a:latin typeface="Arial Rounded"/>
                <a:ea typeface="Arial Rounded"/>
                <a:cs typeface="Arial Rounded"/>
                <a:sym typeface="Arial Rounded"/>
              </a:rPr>
              <a:t>Assuming that the probability of failure of a single processor or disk is small, the probability of failure of the system goes up linearly with the number of processors and disks. </a:t>
            </a:r>
            <a:endParaRPr/>
          </a:p>
          <a:p>
            <a:pPr indent="-228600" lvl="0" marL="228600" rtl="0" algn="l">
              <a:lnSpc>
                <a:spcPct val="90000"/>
              </a:lnSpc>
              <a:spcBef>
                <a:spcPts val="1000"/>
              </a:spcBef>
              <a:spcAft>
                <a:spcPts val="0"/>
              </a:spcAft>
              <a:buClr>
                <a:schemeClr val="dk1"/>
              </a:buClr>
              <a:buSzPct val="100000"/>
              <a:buChar char="•"/>
            </a:pPr>
            <a:r>
              <a:rPr b="1" lang="en-US" sz="2400">
                <a:latin typeface="Arial Rounded"/>
                <a:ea typeface="Arial Rounded"/>
                <a:cs typeface="Arial Rounded"/>
                <a:sym typeface="Arial Rounded"/>
              </a:rPr>
              <a:t>If a single processor or disk would fail once every 5 years, a system with 100 processors would have a failure every 18 days.</a:t>
            </a:r>
            <a:endParaRPr/>
          </a:p>
          <a:p>
            <a:pPr indent="-228600" lvl="0" marL="228600" rtl="0" algn="l">
              <a:lnSpc>
                <a:spcPct val="90000"/>
              </a:lnSpc>
              <a:spcBef>
                <a:spcPts val="1000"/>
              </a:spcBef>
              <a:spcAft>
                <a:spcPts val="0"/>
              </a:spcAft>
              <a:buClr>
                <a:schemeClr val="dk1"/>
              </a:buClr>
              <a:buSzPct val="100000"/>
              <a:buChar char="•"/>
            </a:pPr>
            <a:r>
              <a:rPr b="1" lang="en-US" sz="2400">
                <a:latin typeface="Arial Rounded"/>
                <a:ea typeface="Arial Rounded"/>
                <a:cs typeface="Arial Rounded"/>
                <a:sym typeface="Arial Rounded"/>
              </a:rPr>
              <a:t>Therefore, large-scale parallel database systems, such as</a:t>
            </a:r>
            <a:r>
              <a:rPr b="1" lang="en-US" sz="2400">
                <a:solidFill>
                  <a:srgbClr val="FF0000"/>
                </a:solidFill>
                <a:latin typeface="Arial Rounded"/>
                <a:ea typeface="Arial Rounded"/>
                <a:cs typeface="Arial Rounded"/>
                <a:sym typeface="Arial Rounded"/>
              </a:rPr>
              <a:t> Teradata</a:t>
            </a:r>
            <a:r>
              <a:rPr b="1" lang="en-US" sz="2400">
                <a:latin typeface="Arial Rounded"/>
                <a:ea typeface="Arial Rounded"/>
                <a:cs typeface="Arial Rounded"/>
                <a:sym typeface="Arial Rounded"/>
              </a:rPr>
              <a:t>, and</a:t>
            </a:r>
            <a:r>
              <a:rPr b="1" lang="en-US" sz="2400">
                <a:solidFill>
                  <a:srgbClr val="FF0000"/>
                </a:solidFill>
                <a:latin typeface="Arial Rounded"/>
                <a:ea typeface="Arial Rounded"/>
                <a:cs typeface="Arial Rounded"/>
                <a:sym typeface="Arial Rounded"/>
              </a:rPr>
              <a:t> IBM Informix XPS</a:t>
            </a:r>
            <a:r>
              <a:rPr b="1" lang="en-US" sz="2400">
                <a:latin typeface="Arial Rounded"/>
                <a:ea typeface="Arial Rounded"/>
                <a:cs typeface="Arial Rounded"/>
                <a:sym typeface="Arial Rounded"/>
              </a:rPr>
              <a:t>, are designed to operate even if a processor or disk fails. Data are replicated across at least two processors. If a processor fails, the data that it stored can still be accessed from the other processors. </a:t>
            </a:r>
            <a:endParaRPr/>
          </a:p>
          <a:p>
            <a:pPr indent="-228600" lvl="0" marL="228600" rtl="0" algn="l">
              <a:lnSpc>
                <a:spcPct val="90000"/>
              </a:lnSpc>
              <a:spcBef>
                <a:spcPts val="1000"/>
              </a:spcBef>
              <a:spcAft>
                <a:spcPts val="0"/>
              </a:spcAft>
              <a:buClr>
                <a:schemeClr val="dk1"/>
              </a:buClr>
              <a:buSzPct val="100000"/>
              <a:buChar char="•"/>
            </a:pPr>
            <a:r>
              <a:rPr b="1" lang="en-US" sz="2400">
                <a:latin typeface="Arial Rounded"/>
                <a:ea typeface="Arial Rounded"/>
                <a:cs typeface="Arial Rounded"/>
                <a:sym typeface="Arial Rounded"/>
              </a:rPr>
              <a:t>The system keeps track of failed processors and distributes the work among functioning processors. Requests for data stored at the failed site are automatically routed to the backup sites that store a replica of the data.</a:t>
            </a:r>
            <a:endParaRPr/>
          </a:p>
          <a:p>
            <a:pPr indent="-87629" lvl="0" marL="228600" rtl="0" algn="l">
              <a:lnSpc>
                <a:spcPct val="90000"/>
              </a:lnSpc>
              <a:spcBef>
                <a:spcPts val="1000"/>
              </a:spcBef>
              <a:spcAft>
                <a:spcPts val="0"/>
              </a:spcAft>
              <a:buClr>
                <a:schemeClr val="dk1"/>
              </a:buClr>
              <a:buSzPct val="100000"/>
              <a:buNone/>
            </a:pPr>
            <a:r>
              <a:t/>
            </a:r>
            <a:endParaRPr b="1" sz="2400">
              <a:latin typeface="Arial Rounded"/>
              <a:ea typeface="Arial Rounded"/>
              <a:cs typeface="Arial Rounded"/>
              <a:sym typeface="Arial Rounde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5"/>
          <p:cNvSpPr txBox="1"/>
          <p:nvPr>
            <p:ph idx="1" type="body"/>
          </p:nvPr>
        </p:nvSpPr>
        <p:spPr>
          <a:xfrm>
            <a:off x="616527" y="209261"/>
            <a:ext cx="10655935" cy="625619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0000"/>
              </a:lnSpc>
              <a:spcBef>
                <a:spcPts val="0"/>
              </a:spcBef>
              <a:spcAft>
                <a:spcPts val="0"/>
              </a:spcAft>
              <a:buClr>
                <a:srgbClr val="00B0F0"/>
              </a:buClr>
              <a:buSzPct val="100000"/>
              <a:buNone/>
            </a:pPr>
            <a:r>
              <a:rPr b="1" lang="en-US" sz="2500">
                <a:solidFill>
                  <a:srgbClr val="00B0F0"/>
                </a:solidFill>
                <a:latin typeface="Arial Rounded"/>
                <a:ea typeface="Arial Rounded"/>
                <a:cs typeface="Arial Rounded"/>
                <a:sym typeface="Arial Rounded"/>
              </a:rPr>
              <a:t>2. Online reorganization of data and schema changes.</a:t>
            </a:r>
            <a:endParaRPr/>
          </a:p>
          <a:p>
            <a:pPr indent="0" lvl="0" marL="0" rtl="0" algn="l">
              <a:lnSpc>
                <a:spcPct val="110000"/>
              </a:lnSpc>
              <a:spcBef>
                <a:spcPts val="1000"/>
              </a:spcBef>
              <a:spcAft>
                <a:spcPts val="0"/>
              </a:spcAft>
              <a:buClr>
                <a:schemeClr val="dk1"/>
              </a:buClr>
              <a:buSzPct val="100000"/>
              <a:buNone/>
            </a:pPr>
            <a:r>
              <a:t/>
            </a:r>
            <a:endParaRPr b="1" sz="2500">
              <a:solidFill>
                <a:srgbClr val="00B0F0"/>
              </a:solidFill>
              <a:latin typeface="Arial Rounded"/>
              <a:ea typeface="Arial Rounded"/>
              <a:cs typeface="Arial Rounded"/>
              <a:sym typeface="Arial Rounded"/>
            </a:endParaRPr>
          </a:p>
          <a:p>
            <a:pPr indent="-228631" lvl="0" marL="228600" rtl="0" algn="l">
              <a:lnSpc>
                <a:spcPct val="110000"/>
              </a:lnSpc>
              <a:spcBef>
                <a:spcPts val="1000"/>
              </a:spcBef>
              <a:spcAft>
                <a:spcPts val="0"/>
              </a:spcAft>
              <a:buClr>
                <a:schemeClr val="dk1"/>
              </a:buClr>
              <a:buSzPct val="100000"/>
              <a:buChar char="•"/>
            </a:pPr>
            <a:r>
              <a:rPr b="1" lang="en-US" sz="2300">
                <a:solidFill>
                  <a:schemeClr val="dk1"/>
                </a:solidFill>
                <a:latin typeface="Arial Rounded"/>
                <a:ea typeface="Arial Rounded"/>
                <a:cs typeface="Arial Rounded"/>
                <a:sym typeface="Arial Rounded"/>
              </a:rPr>
              <a:t>When we are dealing with large volumes of data (ranging in the terabytes), simple operations, such as creating indices, and changes to schema, such as adding a column to a relation, can take a long time—perhaps hours or even days.</a:t>
            </a:r>
            <a:endParaRPr/>
          </a:p>
          <a:p>
            <a:pPr indent="-228631" lvl="0" marL="228600" rtl="0" algn="l">
              <a:lnSpc>
                <a:spcPct val="110000"/>
              </a:lnSpc>
              <a:spcBef>
                <a:spcPts val="1000"/>
              </a:spcBef>
              <a:spcAft>
                <a:spcPts val="0"/>
              </a:spcAft>
              <a:buClr>
                <a:schemeClr val="dk1"/>
              </a:buClr>
              <a:buSzPct val="100000"/>
              <a:buChar char="•"/>
            </a:pPr>
            <a:r>
              <a:rPr b="1" lang="en-US" sz="2300">
                <a:solidFill>
                  <a:schemeClr val="dk1"/>
                </a:solidFill>
                <a:latin typeface="Arial Rounded"/>
                <a:ea typeface="Arial Rounded"/>
                <a:cs typeface="Arial Rounded"/>
                <a:sym typeface="Arial Rounded"/>
              </a:rPr>
              <a:t>Therefore, it is unacceptable for the database system to be unavailable while such operations are in progress. Most database systems allow such operations to be performed </a:t>
            </a:r>
            <a:r>
              <a:rPr b="1" lang="en-US" sz="2300">
                <a:solidFill>
                  <a:srgbClr val="FF0000"/>
                </a:solidFill>
                <a:latin typeface="Arial Rounded"/>
                <a:ea typeface="Arial Rounded"/>
                <a:cs typeface="Arial Rounded"/>
                <a:sym typeface="Arial Rounded"/>
              </a:rPr>
              <a:t>online</a:t>
            </a:r>
            <a:r>
              <a:rPr b="1" lang="en-US" sz="2300">
                <a:solidFill>
                  <a:schemeClr val="dk1"/>
                </a:solidFill>
                <a:latin typeface="Arial Rounded"/>
                <a:ea typeface="Arial Rounded"/>
                <a:cs typeface="Arial Rounded"/>
                <a:sym typeface="Arial Rounded"/>
              </a:rPr>
              <a:t>, that is, while the system is executing other transactions.</a:t>
            </a:r>
            <a:endParaRPr/>
          </a:p>
          <a:p>
            <a:pPr indent="-228631" lvl="0" marL="228600" rtl="0" algn="l">
              <a:lnSpc>
                <a:spcPct val="110000"/>
              </a:lnSpc>
              <a:spcBef>
                <a:spcPts val="1000"/>
              </a:spcBef>
              <a:spcAft>
                <a:spcPts val="0"/>
              </a:spcAft>
              <a:buClr>
                <a:schemeClr val="dk1"/>
              </a:buClr>
              <a:buSzPct val="100000"/>
              <a:buChar char="•"/>
            </a:pPr>
            <a:r>
              <a:rPr b="1" lang="en-US" sz="2300">
                <a:solidFill>
                  <a:schemeClr val="dk1"/>
                </a:solidFill>
                <a:latin typeface="Arial Rounded"/>
                <a:ea typeface="Arial Rounded"/>
                <a:cs typeface="Arial Rounded"/>
                <a:sym typeface="Arial Rounded"/>
              </a:rPr>
              <a:t>Example:- online index construction. </a:t>
            </a:r>
            <a:endParaRPr/>
          </a:p>
          <a:p>
            <a:pPr indent="-228631" lvl="0" marL="228600" rtl="0" algn="l">
              <a:lnSpc>
                <a:spcPct val="110000"/>
              </a:lnSpc>
              <a:spcBef>
                <a:spcPts val="1000"/>
              </a:spcBef>
              <a:spcAft>
                <a:spcPts val="0"/>
              </a:spcAft>
              <a:buClr>
                <a:schemeClr val="dk1"/>
              </a:buClr>
              <a:buSzPct val="100000"/>
              <a:buChar char="•"/>
            </a:pPr>
            <a:r>
              <a:rPr b="1" lang="en-US" sz="2300">
                <a:solidFill>
                  <a:schemeClr val="dk1"/>
                </a:solidFill>
                <a:latin typeface="Arial Rounded"/>
                <a:ea typeface="Arial Rounded"/>
                <a:cs typeface="Arial Rounded"/>
                <a:sym typeface="Arial Rounded"/>
              </a:rPr>
              <a:t>A system that supports this feature allows insertions, deletions, and updates on a relation even as an index is being built on the relation. The index-building operation therefore cannot lock the entire relation in shared mode, as it would have done otherwise. </a:t>
            </a:r>
            <a:endParaRPr/>
          </a:p>
          <a:p>
            <a:pPr indent="-228631" lvl="0" marL="228600" rtl="0" algn="l">
              <a:lnSpc>
                <a:spcPct val="110000"/>
              </a:lnSpc>
              <a:spcBef>
                <a:spcPts val="1000"/>
              </a:spcBef>
              <a:spcAft>
                <a:spcPts val="0"/>
              </a:spcAft>
              <a:buClr>
                <a:schemeClr val="dk1"/>
              </a:buClr>
              <a:buSzPct val="100000"/>
              <a:buChar char="•"/>
            </a:pPr>
            <a:r>
              <a:rPr b="1" lang="en-US" sz="2300">
                <a:solidFill>
                  <a:schemeClr val="dk1"/>
                </a:solidFill>
                <a:latin typeface="Arial Rounded"/>
                <a:ea typeface="Arial Rounded"/>
                <a:cs typeface="Arial Rounded"/>
                <a:sym typeface="Arial Rounded"/>
              </a:rPr>
              <a:t>Instead, the process keeps track of updates that occur while it is active and incorporates the changes into the index being constructed.</a:t>
            </a:r>
            <a:endParaRPr/>
          </a:p>
          <a:p>
            <a:pPr indent="-81787" lvl="0" marL="228600" rtl="0" algn="l">
              <a:lnSpc>
                <a:spcPct val="110000"/>
              </a:lnSpc>
              <a:spcBef>
                <a:spcPts val="1000"/>
              </a:spcBef>
              <a:spcAft>
                <a:spcPts val="0"/>
              </a:spcAft>
              <a:buClr>
                <a:schemeClr val="dk1"/>
              </a:buClr>
              <a:buSzPct val="100000"/>
              <a:buNone/>
            </a:pPr>
            <a:r>
              <a:t/>
            </a:r>
            <a:endParaRPr b="1" sz="2500">
              <a:solidFill>
                <a:schemeClr val="dk1"/>
              </a:solidFill>
              <a:latin typeface="Arial Rounded"/>
              <a:ea typeface="Arial Rounded"/>
              <a:cs typeface="Arial Rounded"/>
              <a:sym typeface="Arial Rounded"/>
            </a:endParaRPr>
          </a:p>
          <a:p>
            <a:pPr indent="-81787" lvl="0" marL="228600" rtl="0" algn="l">
              <a:lnSpc>
                <a:spcPct val="110000"/>
              </a:lnSpc>
              <a:spcBef>
                <a:spcPts val="1000"/>
              </a:spcBef>
              <a:spcAft>
                <a:spcPts val="0"/>
              </a:spcAft>
              <a:buClr>
                <a:schemeClr val="dk1"/>
              </a:buClr>
              <a:buSzPct val="100000"/>
              <a:buNone/>
            </a:pPr>
            <a:r>
              <a:t/>
            </a:r>
            <a:endParaRPr b="1" sz="2500">
              <a:solidFill>
                <a:schemeClr val="dk1"/>
              </a:solidFill>
              <a:latin typeface="Arial Rounded"/>
              <a:ea typeface="Arial Rounded"/>
              <a:cs typeface="Arial Rounded"/>
              <a:sym typeface="Arial Rounded"/>
            </a:endParaRPr>
          </a:p>
        </p:txBody>
      </p:sp>
    </p:spTree>
  </p:cSld>
  <p:clrMapOvr>
    <a:masterClrMapping/>
  </p:clrMapOvr>
</p:sld>
</file>

<file path=ppt/theme/theme1.xml><?xml version="1.0" encoding="utf-8"?>
<a:theme xmlns:a="http://schemas.openxmlformats.org/drawingml/2006/main" xmlns:r="http://schemas.openxmlformats.org/officeDocument/2006/relationships" name="Savon">
  <a:themeElements>
    <a:clrScheme name="Savon">
      <a:dk1>
        <a:srgbClr val="000000"/>
      </a:dk1>
      <a:lt1>
        <a:srgbClr val="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2022-11-03T05:53:00Z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AFA87B5F984649D7A0C9E119E00F1A3F</vt:lpwstr>
  </property>
  <property fmtid="{D5CDD505-2E9C-101B-9397-08002B2CF9AE}" pid="3" name="KSOProductBuildVer">
    <vt:lpwstr>1033-11.2.0.11380</vt:lpwstr>
  </property>
</Properties>
</file>